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 id="2580" r:id="rId21"/>
    <p:sldId id="2581" r:id="rId22"/>
    <p:sldId id="2582" r:id="rId23"/>
    <p:sldId id="2583" r:id="rId24"/>
    <p:sldId id="2584" r:id="rId25"/>
    <p:sldId id="2585" r:id="rId26"/>
    <p:sldId id="2586" r:id="rId27"/>
    <p:sldId id="2587" r:id="rId28"/>
    <p:sldId id="2588" r:id="rId29"/>
    <p:sldId id="2589" r:id="rId30"/>
    <p:sldId id="2590" r:id="rId3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ésentation sur le Traitement Distribué : Concepts, Principes et Frameworks" id="{E20CC4E4-1C6C-4737-97D2-3A2D07DAAC14}">
          <p14:sldIdLst>
            <p14:sldId id="2561"/>
            <p14:sldId id="2562"/>
          </p14:sldIdLst>
        </p14:section>
        <p14:section name="Concepts fondamentaux du traitement distribué" id="{083B809A-A66C-4973-806F-D0F3929FE0DB}">
          <p14:sldIdLst>
            <p14:sldId id="2563"/>
            <p14:sldId id="2564"/>
            <p14:sldId id="2565"/>
          </p14:sldIdLst>
        </p14:section>
        <p14:section name="Parallélisme et synchronisation dans les systèmes distribués" id="{BDB55657-06AC-4189-80CF-1B7B44CC86B8}">
          <p14:sldIdLst>
            <p14:sldId id="2566"/>
            <p14:sldId id="2567"/>
          </p14:sldIdLst>
        </p14:section>
        <p14:section name="Scalabilité dans les systèmes distribués" id="{E7ED5AEC-C385-4E96-95BE-68C06606F027}">
          <p14:sldIdLst>
            <p14:sldId id="2568"/>
            <p14:sldId id="2569"/>
            <p14:sldId id="2570"/>
          </p14:sldIdLst>
        </p14:section>
        <p14:section name="Tolérance aux pannes et gestion des défaillances" id="{E1FB0479-E9AA-4C52-972E-8B639162D31E}">
          <p14:sldIdLst>
            <p14:sldId id="2571"/>
            <p14:sldId id="2572"/>
            <p14:sldId id="2573"/>
            <p14:sldId id="2574"/>
          </p14:sldIdLst>
        </p14:section>
        <p14:section name="Principes et enjeux de la programmation distribuée" id="{EF10B732-7184-4876-B550-CC316E35AA8C}">
          <p14:sldIdLst>
            <p14:sldId id="2575"/>
            <p14:sldId id="2576"/>
            <p14:sldId id="2577"/>
          </p14:sldIdLst>
        </p14:section>
        <p14:section name="Traitement des données : batch vs streaming et frameworks associés" id="{710CC178-3061-4BA5-8587-810E2DDB2DDF}">
          <p14:sldIdLst>
            <p14:sldId id="2578"/>
            <p14:sldId id="2579"/>
            <p14:sldId id="2580"/>
          </p14:sldIdLst>
        </p14:section>
        <p14:section name="Présentation des principaux frameworks de traitement distribué" id="{405F8E8C-3F1E-45BD-AD3E-98454D1B9292}">
          <p14:sldIdLst>
            <p14:sldId id="2581"/>
            <p14:sldId id="2582"/>
            <p14:sldId id="2583"/>
            <p14:sldId id="2584"/>
          </p14:sldIdLst>
        </p14:section>
        <p14:section name="Architecture et fonctionnement de Spark" id="{5D05DE4E-7814-4956-90DC-1ACA352FE0EF}">
          <p14:sldIdLst>
            <p14:sldId id="2585"/>
            <p14:sldId id="2586"/>
            <p14:sldId id="2587"/>
            <p14:sldId id="2588"/>
            <p14:sldId id="2589"/>
          </p14:sldIdLst>
        </p14:section>
        <p14:section name="Conclusion" id="{20B489D9-53A1-4BA7-996B-6D57E90BAF42}">
          <p14:sldIdLst>
            <p14:sldId id="259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7" d="100"/>
          <a:sy n="97" d="100"/>
        </p:scale>
        <p:origin x="1110" y="30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image" Target="../media/image23.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image" Target="../media/image23.jpe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2069B4-4732-4DF4-A1C8-AA8BA8502BF7}"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fr-FR"/>
        </a:p>
      </dgm:t>
    </dgm:pt>
    <dgm:pt modelId="{A800ECE5-516E-4ED5-B5D1-A5936ED0861C}">
      <dgm:prSet/>
      <dgm:spPr/>
      <dgm:t>
        <a:bodyPr/>
        <a:lstStyle/>
        <a:p>
          <a:pPr>
            <a:lnSpc>
              <a:spcPct val="100000"/>
            </a:lnSpc>
            <a:defRPr b="1"/>
          </a:pPr>
          <a:r>
            <a:rPr lang="fr-FR"/>
            <a:t>Architecture modulaire flexible</a:t>
          </a:r>
        </a:p>
      </dgm:t>
    </dgm:pt>
    <dgm:pt modelId="{A58A4FBE-90E2-4262-8D3B-34E473FE0135}" type="parTrans" cxnId="{782A8AE2-94B7-4D83-9C88-D0F3B324DE25}">
      <dgm:prSet/>
      <dgm:spPr/>
      <dgm:t>
        <a:bodyPr/>
        <a:lstStyle/>
        <a:p>
          <a:endParaRPr lang="fr-FR"/>
        </a:p>
      </dgm:t>
    </dgm:pt>
    <dgm:pt modelId="{341E50A7-8CC1-45E5-8352-4C4621ADDC10}" type="sibTrans" cxnId="{782A8AE2-94B7-4D83-9C88-D0F3B324DE25}">
      <dgm:prSet/>
      <dgm:spPr/>
      <dgm:t>
        <a:bodyPr/>
        <a:lstStyle/>
        <a:p>
          <a:pPr>
            <a:lnSpc>
              <a:spcPct val="100000"/>
            </a:lnSpc>
            <a:defRPr b="1"/>
          </a:pPr>
          <a:endParaRPr lang="fr-FR"/>
        </a:p>
      </dgm:t>
    </dgm:pt>
    <dgm:pt modelId="{5CB29097-8D84-40A2-A5BF-675BF602F322}">
      <dgm:prSet/>
      <dgm:spPr/>
      <dgm:t>
        <a:bodyPr/>
        <a:lstStyle/>
        <a:p>
          <a:pPr>
            <a:lnSpc>
              <a:spcPct val="100000"/>
            </a:lnSpc>
          </a:pPr>
          <a:r>
            <a:rPr lang="fr-FR"/>
            <a:t>Les systèmes utilisent des composants faiblement couplés pour permettre une scalabilité sans impact sur l’ensemble du système.</a:t>
          </a:r>
        </a:p>
      </dgm:t>
    </dgm:pt>
    <dgm:pt modelId="{0C6A7148-E5CF-494A-B55C-27E1C992E619}" type="parTrans" cxnId="{9E98251E-AC6C-47B1-87BE-2D84A7285A23}">
      <dgm:prSet/>
      <dgm:spPr/>
      <dgm:t>
        <a:bodyPr/>
        <a:lstStyle/>
        <a:p>
          <a:endParaRPr lang="fr-FR"/>
        </a:p>
      </dgm:t>
    </dgm:pt>
    <dgm:pt modelId="{C7AC2A49-D84F-46B7-AF4C-1B9718E305EA}" type="sibTrans" cxnId="{9E98251E-AC6C-47B1-87BE-2D84A7285A23}">
      <dgm:prSet/>
      <dgm:spPr/>
      <dgm:t>
        <a:bodyPr/>
        <a:lstStyle/>
        <a:p>
          <a:endParaRPr lang="fr-FR"/>
        </a:p>
      </dgm:t>
    </dgm:pt>
    <dgm:pt modelId="{ABD60678-F724-4802-A42E-1CE60784A87D}">
      <dgm:prSet/>
      <dgm:spPr/>
      <dgm:t>
        <a:bodyPr/>
        <a:lstStyle/>
        <a:p>
          <a:pPr>
            <a:lnSpc>
              <a:spcPct val="100000"/>
            </a:lnSpc>
            <a:defRPr b="1"/>
          </a:pPr>
          <a:r>
            <a:rPr lang="fr-FR"/>
            <a:t>Scalabilité automatique</a:t>
          </a:r>
        </a:p>
      </dgm:t>
    </dgm:pt>
    <dgm:pt modelId="{F83A234D-30D2-4DC6-A11B-93EAF19E7672}" type="parTrans" cxnId="{77AF85F7-5A5B-4048-AC97-8E41F365A857}">
      <dgm:prSet/>
      <dgm:spPr/>
      <dgm:t>
        <a:bodyPr/>
        <a:lstStyle/>
        <a:p>
          <a:endParaRPr lang="fr-FR"/>
        </a:p>
      </dgm:t>
    </dgm:pt>
    <dgm:pt modelId="{77C906FE-29A6-4607-ADAE-4262F34D3683}" type="sibTrans" cxnId="{77AF85F7-5A5B-4048-AC97-8E41F365A857}">
      <dgm:prSet/>
      <dgm:spPr/>
      <dgm:t>
        <a:bodyPr/>
        <a:lstStyle/>
        <a:p>
          <a:pPr>
            <a:lnSpc>
              <a:spcPct val="100000"/>
            </a:lnSpc>
            <a:defRPr b="1"/>
          </a:pPr>
          <a:endParaRPr lang="fr-FR"/>
        </a:p>
      </dgm:t>
    </dgm:pt>
    <dgm:pt modelId="{C96CD573-DBFC-4AFE-AFA6-15E7D86A650E}">
      <dgm:prSet/>
      <dgm:spPr/>
      <dgm:t>
        <a:bodyPr/>
        <a:lstStyle/>
        <a:p>
          <a:pPr>
            <a:lnSpc>
              <a:spcPct val="100000"/>
            </a:lnSpc>
          </a:pPr>
          <a:r>
            <a:rPr lang="fr-FR"/>
            <a:t>Les mécanismes d’auto-scaling ajustent automatiquement les ressources en fonction des besoins en surveillant les performances.</a:t>
          </a:r>
        </a:p>
      </dgm:t>
    </dgm:pt>
    <dgm:pt modelId="{0A498884-B665-42D8-9101-38B6D09B8B05}" type="parTrans" cxnId="{97EC23D7-658F-4B47-8556-95B83DFB1673}">
      <dgm:prSet/>
      <dgm:spPr/>
      <dgm:t>
        <a:bodyPr/>
        <a:lstStyle/>
        <a:p>
          <a:endParaRPr lang="fr-FR"/>
        </a:p>
      </dgm:t>
    </dgm:pt>
    <dgm:pt modelId="{6DC3DF88-2410-44AB-A31E-E8FADB68B8CC}" type="sibTrans" cxnId="{97EC23D7-658F-4B47-8556-95B83DFB1673}">
      <dgm:prSet/>
      <dgm:spPr/>
      <dgm:t>
        <a:bodyPr/>
        <a:lstStyle/>
        <a:p>
          <a:endParaRPr lang="fr-FR"/>
        </a:p>
      </dgm:t>
    </dgm:pt>
    <dgm:pt modelId="{0D749B07-F088-40AB-848A-2F5480B9252D}">
      <dgm:prSet/>
      <dgm:spPr/>
      <dgm:t>
        <a:bodyPr/>
        <a:lstStyle/>
        <a:p>
          <a:pPr>
            <a:lnSpc>
              <a:spcPct val="100000"/>
            </a:lnSpc>
            <a:defRPr b="1"/>
          </a:pPr>
          <a:r>
            <a:rPr lang="fr-FR"/>
            <a:t>Optimisation des ressources</a:t>
          </a:r>
        </a:p>
      </dgm:t>
    </dgm:pt>
    <dgm:pt modelId="{408BEB73-5769-4FBB-982B-64F3B40DBAAE}" type="parTrans" cxnId="{25B35EC5-4C3D-4514-A759-6B7C4310508D}">
      <dgm:prSet/>
      <dgm:spPr/>
      <dgm:t>
        <a:bodyPr/>
        <a:lstStyle/>
        <a:p>
          <a:endParaRPr lang="fr-FR"/>
        </a:p>
      </dgm:t>
    </dgm:pt>
    <dgm:pt modelId="{FF386F90-8022-4622-A247-47EDAC5461B8}" type="sibTrans" cxnId="{25B35EC5-4C3D-4514-A759-6B7C4310508D}">
      <dgm:prSet/>
      <dgm:spPr/>
      <dgm:t>
        <a:bodyPr/>
        <a:lstStyle/>
        <a:p>
          <a:endParaRPr lang="fr-FR"/>
        </a:p>
      </dgm:t>
    </dgm:pt>
    <dgm:pt modelId="{55313210-EA31-4108-AF89-16AE876E065A}">
      <dgm:prSet/>
      <dgm:spPr/>
      <dgm:t>
        <a:bodyPr/>
        <a:lstStyle/>
        <a:p>
          <a:pPr>
            <a:lnSpc>
              <a:spcPct val="100000"/>
            </a:lnSpc>
          </a:pPr>
          <a:r>
            <a:rPr lang="fr-FR"/>
            <a:t>L’auto-scaling optimise l’utilisation des ressources et réduit les coûts opérationnels dans les environnements cloud.</a:t>
          </a:r>
        </a:p>
      </dgm:t>
    </dgm:pt>
    <dgm:pt modelId="{FB2C5902-C0BA-4389-BC1C-8242715DC071}" type="parTrans" cxnId="{584C9FD9-70E7-4FE3-A7AE-CB2D5A91A966}">
      <dgm:prSet/>
      <dgm:spPr/>
      <dgm:t>
        <a:bodyPr/>
        <a:lstStyle/>
        <a:p>
          <a:endParaRPr lang="fr-FR"/>
        </a:p>
      </dgm:t>
    </dgm:pt>
    <dgm:pt modelId="{BCEB5700-2D11-40B7-917A-474C4614C12B}" type="sibTrans" cxnId="{584C9FD9-70E7-4FE3-A7AE-CB2D5A91A966}">
      <dgm:prSet/>
      <dgm:spPr/>
      <dgm:t>
        <a:bodyPr/>
        <a:lstStyle/>
        <a:p>
          <a:endParaRPr lang="fr-FR"/>
        </a:p>
      </dgm:t>
    </dgm:pt>
    <dgm:pt modelId="{E29A5D4D-EF9F-4216-8194-90FA2DE6939C}" type="pres">
      <dgm:prSet presAssocID="{882069B4-4732-4DF4-A1C8-AA8BA8502BF7}" presName="Root" presStyleCnt="0">
        <dgm:presLayoutVars>
          <dgm:dir/>
          <dgm:resizeHandles val="exact"/>
        </dgm:presLayoutVars>
      </dgm:prSet>
      <dgm:spPr/>
    </dgm:pt>
    <dgm:pt modelId="{E126BB40-2F28-4B28-A0C7-B3D48752FD2E}" type="pres">
      <dgm:prSet presAssocID="{A800ECE5-516E-4ED5-B5D1-A5936ED0861C}" presName="Composite" presStyleCnt="0"/>
      <dgm:spPr/>
    </dgm:pt>
    <dgm:pt modelId="{5F69C402-81FD-4C05-99B5-4449476B8C0F}" type="pres">
      <dgm:prSet presAssocID="{A800ECE5-516E-4ED5-B5D1-A5936ED0861C}"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5568" r="18936" b="5"/>
          <a:stretch/>
        </a:blipFill>
      </dgm:spPr>
      <dgm:extLst>
        <a:ext uri="{E40237B7-FDA0-4F09-8148-C483321AD2D9}">
          <dgm14:cNvPr xmlns:dgm14="http://schemas.microsoft.com/office/drawing/2010/diagram" id="0" name="" descr="Organigramme de dessin femelle"/>
        </a:ext>
      </dgm:extLst>
    </dgm:pt>
    <dgm:pt modelId="{AD3474E1-C3CD-47AE-A5D0-2EB091A88D6D}" type="pres">
      <dgm:prSet presAssocID="{A800ECE5-516E-4ED5-B5D1-A5936ED0861C}" presName="Subtitle" presStyleLbl="revTx" presStyleIdx="0" presStyleCnt="6">
        <dgm:presLayoutVars>
          <dgm:chMax val="0"/>
          <dgm:bulletEnabled/>
        </dgm:presLayoutVars>
      </dgm:prSet>
      <dgm:spPr/>
    </dgm:pt>
    <dgm:pt modelId="{B70A2E67-93C9-4E93-AF72-124709C784A4}" type="pres">
      <dgm:prSet presAssocID="{A800ECE5-516E-4ED5-B5D1-A5936ED0861C}" presName="Description" presStyleLbl="revTx" presStyleIdx="1" presStyleCnt="6">
        <dgm:presLayoutVars>
          <dgm:bulletEnabled/>
        </dgm:presLayoutVars>
      </dgm:prSet>
      <dgm:spPr/>
    </dgm:pt>
    <dgm:pt modelId="{B78AF145-8CCE-43D6-82D7-B2A14E8F5263}" type="pres">
      <dgm:prSet presAssocID="{341E50A7-8CC1-45E5-8352-4C4621ADDC10}" presName="sibTrans" presStyleLbl="sibTrans2D1" presStyleIdx="0" presStyleCnt="0"/>
      <dgm:spPr/>
    </dgm:pt>
    <dgm:pt modelId="{6E43CC19-D2C4-4179-ABDE-DC6526ED42A1}" type="pres">
      <dgm:prSet presAssocID="{ABD60678-F724-4802-A42E-1CE60784A87D}" presName="Composite" presStyleCnt="0"/>
      <dgm:spPr/>
    </dgm:pt>
    <dgm:pt modelId="{D02C6C5B-29B7-45D5-95BA-DBD383574123}" type="pres">
      <dgm:prSet presAssocID="{ABD60678-F724-4802-A42E-1CE60784A87D}"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5467" r="17785" b="4"/>
          <a:stretch/>
        </a:blipFill>
      </dgm:spPr>
      <dgm:extLst>
        <a:ext uri="{E40237B7-FDA0-4F09-8148-C483321AD2D9}">
          <dgm14:cNvPr xmlns:dgm14="http://schemas.microsoft.com/office/drawing/2010/diagram" id="0" name="" descr="Concept de cloud computing et de réseau informatique"/>
        </a:ext>
      </dgm:extLst>
    </dgm:pt>
    <dgm:pt modelId="{B71CD367-9E26-41F9-A9B8-9962AA40B1FD}" type="pres">
      <dgm:prSet presAssocID="{ABD60678-F724-4802-A42E-1CE60784A87D}" presName="Subtitle" presStyleLbl="revTx" presStyleIdx="2" presStyleCnt="6">
        <dgm:presLayoutVars>
          <dgm:chMax val="0"/>
          <dgm:bulletEnabled/>
        </dgm:presLayoutVars>
      </dgm:prSet>
      <dgm:spPr/>
    </dgm:pt>
    <dgm:pt modelId="{2F6B0925-958E-43D3-80F0-A24A9793DEE9}" type="pres">
      <dgm:prSet presAssocID="{ABD60678-F724-4802-A42E-1CE60784A87D}" presName="Description" presStyleLbl="revTx" presStyleIdx="3" presStyleCnt="6">
        <dgm:presLayoutVars>
          <dgm:bulletEnabled/>
        </dgm:presLayoutVars>
      </dgm:prSet>
      <dgm:spPr/>
    </dgm:pt>
    <dgm:pt modelId="{9ED957E1-E6CC-46EA-85B2-268D6247341C}" type="pres">
      <dgm:prSet presAssocID="{77C906FE-29A6-4607-ADAE-4262F34D3683}" presName="sibTrans" presStyleLbl="sibTrans2D1" presStyleIdx="0" presStyleCnt="0"/>
      <dgm:spPr/>
    </dgm:pt>
    <dgm:pt modelId="{401A2882-59C4-4289-885A-8D0801D3B8F1}" type="pres">
      <dgm:prSet presAssocID="{0D749B07-F088-40AB-848A-2F5480B9252D}" presName="Composite" presStyleCnt="0"/>
      <dgm:spPr/>
    </dgm:pt>
    <dgm:pt modelId="{0DB0655C-50CD-4DFD-B850-3731AA3F4FB6}" type="pres">
      <dgm:prSet presAssocID="{0D749B07-F088-40AB-848A-2F5480B9252D}"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6695" r="15555" b="1"/>
          <a:stretch/>
        </a:blipFill>
      </dgm:spPr>
      <dgm:extLst>
        <a:ext uri="{E40237B7-FDA0-4F09-8148-C483321AD2D9}">
          <dgm14:cNvPr xmlns:dgm14="http://schemas.microsoft.com/office/drawing/2010/diagram" id="0" name="" descr="Cloud computing sur affichage numérique"/>
        </a:ext>
      </dgm:extLst>
    </dgm:pt>
    <dgm:pt modelId="{8AF1ED99-4ECC-4470-A11C-3C04700049F6}" type="pres">
      <dgm:prSet presAssocID="{0D749B07-F088-40AB-848A-2F5480B9252D}" presName="Subtitle" presStyleLbl="revTx" presStyleIdx="4" presStyleCnt="6">
        <dgm:presLayoutVars>
          <dgm:chMax val="0"/>
          <dgm:bulletEnabled/>
        </dgm:presLayoutVars>
      </dgm:prSet>
      <dgm:spPr/>
    </dgm:pt>
    <dgm:pt modelId="{DD7B65E5-F167-4D68-9000-E0A07B7743C6}" type="pres">
      <dgm:prSet presAssocID="{0D749B07-F088-40AB-848A-2F5480B9252D}" presName="Description" presStyleLbl="revTx" presStyleIdx="5" presStyleCnt="6">
        <dgm:presLayoutVars>
          <dgm:bulletEnabled/>
        </dgm:presLayoutVars>
      </dgm:prSet>
      <dgm:spPr/>
    </dgm:pt>
  </dgm:ptLst>
  <dgm:cxnLst>
    <dgm:cxn modelId="{9EA22F18-C286-41FA-B217-D9DE1394108E}" type="presOf" srcId="{55313210-EA31-4108-AF89-16AE876E065A}" destId="{DD7B65E5-F167-4D68-9000-E0A07B7743C6}" srcOrd="0" destOrd="0" presId="urn:microsoft.com/office/officeart/2024/3/layout/verticalVisualTextBlock1"/>
    <dgm:cxn modelId="{9E98251E-AC6C-47B1-87BE-2D84A7285A23}" srcId="{A800ECE5-516E-4ED5-B5D1-A5936ED0861C}" destId="{5CB29097-8D84-40A2-A5BF-675BF602F322}" srcOrd="0" destOrd="0" parTransId="{0C6A7148-E5CF-494A-B55C-27E1C992E619}" sibTransId="{C7AC2A49-D84F-46B7-AF4C-1B9718E305EA}"/>
    <dgm:cxn modelId="{7531F13D-E791-43B3-A795-7846E1838019}" type="presOf" srcId="{77C906FE-29A6-4607-ADAE-4262F34D3683}" destId="{9ED957E1-E6CC-46EA-85B2-268D6247341C}" srcOrd="0" destOrd="0" presId="urn:microsoft.com/office/officeart/2024/3/layout/verticalVisualTextBlock1"/>
    <dgm:cxn modelId="{9CEFFD4C-F21D-4E27-B64E-221C13DDFEC6}" type="presOf" srcId="{C96CD573-DBFC-4AFE-AFA6-15E7D86A650E}" destId="{2F6B0925-958E-43D3-80F0-A24A9793DEE9}" srcOrd="0" destOrd="0" presId="urn:microsoft.com/office/officeart/2024/3/layout/verticalVisualTextBlock1"/>
    <dgm:cxn modelId="{E6290F79-E1BE-40FA-83AD-8AF828BB57E8}" type="presOf" srcId="{A800ECE5-516E-4ED5-B5D1-A5936ED0861C}" destId="{AD3474E1-C3CD-47AE-A5D0-2EB091A88D6D}" srcOrd="0" destOrd="0" presId="urn:microsoft.com/office/officeart/2024/3/layout/verticalVisualTextBlock1"/>
    <dgm:cxn modelId="{FCECB77F-8E0C-4B4E-AF9C-E1F96EBF1671}" type="presOf" srcId="{5CB29097-8D84-40A2-A5BF-675BF602F322}" destId="{B70A2E67-93C9-4E93-AF72-124709C784A4}" srcOrd="0" destOrd="0" presId="urn:microsoft.com/office/officeart/2024/3/layout/verticalVisualTextBlock1"/>
    <dgm:cxn modelId="{25B35EC5-4C3D-4514-A759-6B7C4310508D}" srcId="{882069B4-4732-4DF4-A1C8-AA8BA8502BF7}" destId="{0D749B07-F088-40AB-848A-2F5480B9252D}" srcOrd="2" destOrd="0" parTransId="{408BEB73-5769-4FBB-982B-64F3B40DBAAE}" sibTransId="{FF386F90-8022-4622-A247-47EDAC5461B8}"/>
    <dgm:cxn modelId="{D04E45C8-40C7-4B49-8E55-EB81ADDA1263}" type="presOf" srcId="{ABD60678-F724-4802-A42E-1CE60784A87D}" destId="{B71CD367-9E26-41F9-A9B8-9962AA40B1FD}" srcOrd="0" destOrd="0" presId="urn:microsoft.com/office/officeart/2024/3/layout/verticalVisualTextBlock1"/>
    <dgm:cxn modelId="{97EC23D7-658F-4B47-8556-95B83DFB1673}" srcId="{ABD60678-F724-4802-A42E-1CE60784A87D}" destId="{C96CD573-DBFC-4AFE-AFA6-15E7D86A650E}" srcOrd="0" destOrd="0" parTransId="{0A498884-B665-42D8-9101-38B6D09B8B05}" sibTransId="{6DC3DF88-2410-44AB-A31E-E8FADB68B8CC}"/>
    <dgm:cxn modelId="{584C9FD9-70E7-4FE3-A7AE-CB2D5A91A966}" srcId="{0D749B07-F088-40AB-848A-2F5480B9252D}" destId="{55313210-EA31-4108-AF89-16AE876E065A}" srcOrd="0" destOrd="0" parTransId="{FB2C5902-C0BA-4389-BC1C-8242715DC071}" sibTransId="{BCEB5700-2D11-40B7-917A-474C4614C12B}"/>
    <dgm:cxn modelId="{782A8AE2-94B7-4D83-9C88-D0F3B324DE25}" srcId="{882069B4-4732-4DF4-A1C8-AA8BA8502BF7}" destId="{A800ECE5-516E-4ED5-B5D1-A5936ED0861C}" srcOrd="0" destOrd="0" parTransId="{A58A4FBE-90E2-4262-8D3B-34E473FE0135}" sibTransId="{341E50A7-8CC1-45E5-8352-4C4621ADDC10}"/>
    <dgm:cxn modelId="{B4BAA3E5-5142-44DD-BFC8-334E11995CCB}" type="presOf" srcId="{341E50A7-8CC1-45E5-8352-4C4621ADDC10}" destId="{B78AF145-8CCE-43D6-82D7-B2A14E8F5263}" srcOrd="0" destOrd="0" presId="urn:microsoft.com/office/officeart/2024/3/layout/verticalVisualTextBlock1"/>
    <dgm:cxn modelId="{6A264EE9-1733-4D88-AD2E-945009A6A4C9}" type="presOf" srcId="{0D749B07-F088-40AB-848A-2F5480B9252D}" destId="{8AF1ED99-4ECC-4470-A11C-3C04700049F6}" srcOrd="0" destOrd="0" presId="urn:microsoft.com/office/officeart/2024/3/layout/verticalVisualTextBlock1"/>
    <dgm:cxn modelId="{F3AC2FF3-301E-4DCF-8D04-B2626E8EEB69}" type="presOf" srcId="{882069B4-4732-4DF4-A1C8-AA8BA8502BF7}" destId="{E29A5D4D-EF9F-4216-8194-90FA2DE6939C}" srcOrd="0" destOrd="0" presId="urn:microsoft.com/office/officeart/2024/3/layout/verticalVisualTextBlock1"/>
    <dgm:cxn modelId="{77AF85F7-5A5B-4048-AC97-8E41F365A857}" srcId="{882069B4-4732-4DF4-A1C8-AA8BA8502BF7}" destId="{ABD60678-F724-4802-A42E-1CE60784A87D}" srcOrd="1" destOrd="0" parTransId="{F83A234D-30D2-4DC6-A11B-93EAF19E7672}" sibTransId="{77C906FE-29A6-4607-ADAE-4262F34D3683}"/>
    <dgm:cxn modelId="{102953EA-D6D8-4E65-A3DF-AA1D324FF72D}" type="presParOf" srcId="{E29A5D4D-EF9F-4216-8194-90FA2DE6939C}" destId="{E126BB40-2F28-4B28-A0C7-B3D48752FD2E}" srcOrd="0" destOrd="0" presId="urn:microsoft.com/office/officeart/2024/3/layout/verticalVisualTextBlock1"/>
    <dgm:cxn modelId="{DA7939D2-BB24-4CD8-85A7-9683CBA9BEB5}" type="presParOf" srcId="{E126BB40-2F28-4B28-A0C7-B3D48752FD2E}" destId="{5F69C402-81FD-4C05-99B5-4449476B8C0F}" srcOrd="0" destOrd="0" presId="urn:microsoft.com/office/officeart/2024/3/layout/verticalVisualTextBlock1"/>
    <dgm:cxn modelId="{86E90921-00A6-48E6-89BD-D992CC60A346}" type="presParOf" srcId="{E126BB40-2F28-4B28-A0C7-B3D48752FD2E}" destId="{AD3474E1-C3CD-47AE-A5D0-2EB091A88D6D}" srcOrd="1" destOrd="0" presId="urn:microsoft.com/office/officeart/2024/3/layout/verticalVisualTextBlock1"/>
    <dgm:cxn modelId="{60E809A4-530E-41F8-A58C-A7F4AD8C009E}" type="presParOf" srcId="{E126BB40-2F28-4B28-A0C7-B3D48752FD2E}" destId="{B70A2E67-93C9-4E93-AF72-124709C784A4}" srcOrd="2" destOrd="0" presId="urn:microsoft.com/office/officeart/2024/3/layout/verticalVisualTextBlock1"/>
    <dgm:cxn modelId="{B0669A25-FBDC-445C-864E-1828293F230D}" type="presParOf" srcId="{E29A5D4D-EF9F-4216-8194-90FA2DE6939C}" destId="{B78AF145-8CCE-43D6-82D7-B2A14E8F5263}" srcOrd="1" destOrd="0" presId="urn:microsoft.com/office/officeart/2024/3/layout/verticalVisualTextBlock1"/>
    <dgm:cxn modelId="{A669B8E5-30B8-4FFC-9D37-215DA8C00B4A}" type="presParOf" srcId="{E29A5D4D-EF9F-4216-8194-90FA2DE6939C}" destId="{6E43CC19-D2C4-4179-ABDE-DC6526ED42A1}" srcOrd="2" destOrd="0" presId="urn:microsoft.com/office/officeart/2024/3/layout/verticalVisualTextBlock1"/>
    <dgm:cxn modelId="{8D08ACB6-4098-4B3C-9476-A08B721CE8C5}" type="presParOf" srcId="{6E43CC19-D2C4-4179-ABDE-DC6526ED42A1}" destId="{D02C6C5B-29B7-45D5-95BA-DBD383574123}" srcOrd="0" destOrd="0" presId="urn:microsoft.com/office/officeart/2024/3/layout/verticalVisualTextBlock1"/>
    <dgm:cxn modelId="{FB692E77-6681-4871-8271-9673551D4BA6}" type="presParOf" srcId="{6E43CC19-D2C4-4179-ABDE-DC6526ED42A1}" destId="{B71CD367-9E26-41F9-A9B8-9962AA40B1FD}" srcOrd="1" destOrd="0" presId="urn:microsoft.com/office/officeart/2024/3/layout/verticalVisualTextBlock1"/>
    <dgm:cxn modelId="{041121C2-AC2A-45E1-8F7F-DABB0EF4AE18}" type="presParOf" srcId="{6E43CC19-D2C4-4179-ABDE-DC6526ED42A1}" destId="{2F6B0925-958E-43D3-80F0-A24A9793DEE9}" srcOrd="2" destOrd="0" presId="urn:microsoft.com/office/officeart/2024/3/layout/verticalVisualTextBlock1"/>
    <dgm:cxn modelId="{4C79B16A-4906-46FD-A1A8-639D85C087A5}" type="presParOf" srcId="{E29A5D4D-EF9F-4216-8194-90FA2DE6939C}" destId="{9ED957E1-E6CC-46EA-85B2-268D6247341C}" srcOrd="3" destOrd="0" presId="urn:microsoft.com/office/officeart/2024/3/layout/verticalVisualTextBlock1"/>
    <dgm:cxn modelId="{BC17157E-0856-4808-9506-13658F3A8138}" type="presParOf" srcId="{E29A5D4D-EF9F-4216-8194-90FA2DE6939C}" destId="{401A2882-59C4-4289-885A-8D0801D3B8F1}" srcOrd="4" destOrd="0" presId="urn:microsoft.com/office/officeart/2024/3/layout/verticalVisualTextBlock1"/>
    <dgm:cxn modelId="{8A130408-6C37-4110-A866-5842C200F64D}" type="presParOf" srcId="{401A2882-59C4-4289-885A-8D0801D3B8F1}" destId="{0DB0655C-50CD-4DFD-B850-3731AA3F4FB6}" srcOrd="0" destOrd="0" presId="urn:microsoft.com/office/officeart/2024/3/layout/verticalVisualTextBlock1"/>
    <dgm:cxn modelId="{2A751D87-A97E-4694-B982-B5890A2B7E83}" type="presParOf" srcId="{401A2882-59C4-4289-885A-8D0801D3B8F1}" destId="{8AF1ED99-4ECC-4470-A11C-3C04700049F6}" srcOrd="1" destOrd="0" presId="urn:microsoft.com/office/officeart/2024/3/layout/verticalVisualTextBlock1"/>
    <dgm:cxn modelId="{315941F6-4CA8-4D0C-AA60-630E08F07673}" type="presParOf" srcId="{401A2882-59C4-4289-885A-8D0801D3B8F1}" destId="{DD7B65E5-F167-4D68-9000-E0A07B7743C6}"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CAE7D66-75D8-47CD-AB83-AF86CB7A384F}"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10FFCAE7-53F6-4E6A-8970-FF94E5EC621D}">
      <dgm:prSet/>
      <dgm:spPr/>
      <dgm:t>
        <a:bodyPr/>
        <a:lstStyle/>
        <a:p>
          <a:pPr>
            <a:lnSpc>
              <a:spcPct val="100000"/>
            </a:lnSpc>
            <a:defRPr b="1"/>
          </a:pPr>
          <a:r>
            <a:rPr lang="en-US"/>
            <a:t>Importance du traitement distribué</a:t>
          </a:r>
        </a:p>
      </dgm:t>
    </dgm:pt>
    <dgm:pt modelId="{52492268-9B63-4C71-8E0A-D3B56A19DE06}" type="parTrans" cxnId="{65DA24BA-F662-43A5-9869-3EE1B77A3E55}">
      <dgm:prSet/>
      <dgm:spPr/>
      <dgm:t>
        <a:bodyPr/>
        <a:lstStyle/>
        <a:p>
          <a:endParaRPr lang="en-US"/>
        </a:p>
      </dgm:t>
    </dgm:pt>
    <dgm:pt modelId="{4FEE586C-6301-45B5-A785-2627D13CC287}" type="sibTrans" cxnId="{65DA24BA-F662-43A5-9869-3EE1B77A3E55}">
      <dgm:prSet/>
      <dgm:spPr/>
      <dgm:t>
        <a:bodyPr/>
        <a:lstStyle/>
        <a:p>
          <a:pPr>
            <a:lnSpc>
              <a:spcPct val="100000"/>
            </a:lnSpc>
            <a:defRPr b="1"/>
          </a:pPr>
          <a:endParaRPr lang="en-US"/>
        </a:p>
      </dgm:t>
    </dgm:pt>
    <dgm:pt modelId="{0DDCA209-2056-4B34-ADF3-B2ACBB041E9D}">
      <dgm:prSet/>
      <dgm:spPr/>
      <dgm:t>
        <a:bodyPr/>
        <a:lstStyle/>
        <a:p>
          <a:pPr>
            <a:lnSpc>
              <a:spcPct val="100000"/>
            </a:lnSpc>
          </a:pPr>
          <a:r>
            <a:rPr lang="en-US"/>
            <a:t>Le traitement distribué permet une grande scalabilité et robustesse dans la gestion des données volumineuses.</a:t>
          </a:r>
        </a:p>
      </dgm:t>
    </dgm:pt>
    <dgm:pt modelId="{F8FA548A-C5A2-4741-B59A-28BE1F9AFEE0}" type="parTrans" cxnId="{3C5B0A25-B42C-461C-A770-E69241E8342D}">
      <dgm:prSet/>
      <dgm:spPr/>
      <dgm:t>
        <a:bodyPr/>
        <a:lstStyle/>
        <a:p>
          <a:endParaRPr lang="en-US"/>
        </a:p>
      </dgm:t>
    </dgm:pt>
    <dgm:pt modelId="{B9F611F4-554F-4FA3-AFF1-02AC08E17ED8}" type="sibTrans" cxnId="{3C5B0A25-B42C-461C-A770-E69241E8342D}">
      <dgm:prSet/>
      <dgm:spPr/>
      <dgm:t>
        <a:bodyPr/>
        <a:lstStyle/>
        <a:p>
          <a:endParaRPr lang="en-US"/>
        </a:p>
      </dgm:t>
    </dgm:pt>
    <dgm:pt modelId="{30279C37-FADF-4521-8C4F-83831B348471}">
      <dgm:prSet/>
      <dgm:spPr/>
      <dgm:t>
        <a:bodyPr/>
        <a:lstStyle/>
        <a:p>
          <a:pPr>
            <a:lnSpc>
              <a:spcPct val="100000"/>
            </a:lnSpc>
            <a:defRPr b="1"/>
          </a:pPr>
          <a:r>
            <a:rPr lang="en-US"/>
            <a:t>Maîtrise des frameworks clés</a:t>
          </a:r>
        </a:p>
      </dgm:t>
    </dgm:pt>
    <dgm:pt modelId="{3D9E29E3-2C62-4C14-9F6E-471FB40BFF42}" type="parTrans" cxnId="{44B9DB04-C4C1-449B-8D2C-8563AC80AA75}">
      <dgm:prSet/>
      <dgm:spPr/>
      <dgm:t>
        <a:bodyPr/>
        <a:lstStyle/>
        <a:p>
          <a:endParaRPr lang="en-US"/>
        </a:p>
      </dgm:t>
    </dgm:pt>
    <dgm:pt modelId="{440D6145-AF0B-4DA3-A6D2-9A359CE5F6C9}" type="sibTrans" cxnId="{44B9DB04-C4C1-449B-8D2C-8563AC80AA75}">
      <dgm:prSet/>
      <dgm:spPr/>
      <dgm:t>
        <a:bodyPr/>
        <a:lstStyle/>
        <a:p>
          <a:endParaRPr lang="en-US"/>
        </a:p>
      </dgm:t>
    </dgm:pt>
    <dgm:pt modelId="{4AA5121B-AA40-4808-8ECB-02FE3EA66121}">
      <dgm:prSet/>
      <dgm:spPr/>
      <dgm:t>
        <a:bodyPr/>
        <a:lstStyle/>
        <a:p>
          <a:pPr>
            <a:lnSpc>
              <a:spcPct val="100000"/>
            </a:lnSpc>
          </a:pPr>
          <a:r>
            <a:rPr lang="en-US"/>
            <a:t>Connaître les principes et outils comme Spark est crucial pour exploiter pleinement ces technologies avancées.</a:t>
          </a:r>
        </a:p>
      </dgm:t>
    </dgm:pt>
    <dgm:pt modelId="{DB0D49FC-A228-4F91-B95B-7B6E518C96D5}" type="parTrans" cxnId="{35A866B0-8EB9-4A17-B247-87F179BB28C9}">
      <dgm:prSet/>
      <dgm:spPr/>
      <dgm:t>
        <a:bodyPr/>
        <a:lstStyle/>
        <a:p>
          <a:endParaRPr lang="en-US"/>
        </a:p>
      </dgm:t>
    </dgm:pt>
    <dgm:pt modelId="{5838A046-9ECE-4713-BACF-50CBCFB3E7CB}" type="sibTrans" cxnId="{35A866B0-8EB9-4A17-B247-87F179BB28C9}">
      <dgm:prSet/>
      <dgm:spPr/>
      <dgm:t>
        <a:bodyPr/>
        <a:lstStyle/>
        <a:p>
          <a:endParaRPr lang="en-US"/>
        </a:p>
      </dgm:t>
    </dgm:pt>
    <dgm:pt modelId="{900E4560-3860-40D0-A2B1-3C76FDDB2821}" type="pres">
      <dgm:prSet presAssocID="{ECAE7D66-75D8-47CD-AB83-AF86CB7A384F}" presName="Name0" presStyleCnt="0">
        <dgm:presLayoutVars>
          <dgm:dir/>
          <dgm:resizeHandles val="exact"/>
        </dgm:presLayoutVars>
      </dgm:prSet>
      <dgm:spPr/>
    </dgm:pt>
    <dgm:pt modelId="{B5333165-FAC5-4E04-8879-81A9701213B5}" type="pres">
      <dgm:prSet presAssocID="{10FFCAE7-53F6-4E6A-8970-FF94E5EC621D}" presName="compNode" presStyleCnt="0"/>
      <dgm:spPr/>
    </dgm:pt>
    <dgm:pt modelId="{73C78BD6-2BB7-4AD9-95E4-C97CA4B62EB7}" type="pres">
      <dgm:prSet presAssocID="{10FFCAE7-53F6-4E6A-8970-FF94E5EC621D}" presName="pictRect" presStyleLbl="revTx" presStyleIdx="0" presStyleCnt="4">
        <dgm:presLayoutVars>
          <dgm:chMax val="0"/>
          <dgm:bulletEnabled/>
        </dgm:presLayoutVars>
      </dgm:prSet>
      <dgm:spPr/>
    </dgm:pt>
    <dgm:pt modelId="{B263E204-9A98-405E-B659-2E0E6C98A711}" type="pres">
      <dgm:prSet presAssocID="{10FFCAE7-53F6-4E6A-8970-FF94E5EC621D}" presName="textRect" presStyleLbl="revTx" presStyleIdx="1" presStyleCnt="4">
        <dgm:presLayoutVars>
          <dgm:bulletEnabled/>
        </dgm:presLayoutVars>
      </dgm:prSet>
      <dgm:spPr/>
    </dgm:pt>
    <dgm:pt modelId="{5760D495-91E5-4BFE-8FBA-A7F77F3684FC}" type="pres">
      <dgm:prSet presAssocID="{4FEE586C-6301-45B5-A785-2627D13CC287}" presName="sibTrans" presStyleLbl="sibTrans2D1" presStyleIdx="0" presStyleCnt="0"/>
      <dgm:spPr/>
    </dgm:pt>
    <dgm:pt modelId="{5126B0A9-5F63-4732-892C-B0458A9E4A13}" type="pres">
      <dgm:prSet presAssocID="{30279C37-FADF-4521-8C4F-83831B348471}" presName="compNode" presStyleCnt="0"/>
      <dgm:spPr/>
    </dgm:pt>
    <dgm:pt modelId="{533143F4-B43C-47F3-A66F-F630467EC33A}" type="pres">
      <dgm:prSet presAssocID="{30279C37-FADF-4521-8C4F-83831B348471}" presName="pictRect" presStyleLbl="revTx" presStyleIdx="2" presStyleCnt="4">
        <dgm:presLayoutVars>
          <dgm:chMax val="0"/>
          <dgm:bulletEnabled/>
        </dgm:presLayoutVars>
      </dgm:prSet>
      <dgm:spPr/>
    </dgm:pt>
    <dgm:pt modelId="{ED356835-21BC-43F4-AAEA-C5EBD4F47855}" type="pres">
      <dgm:prSet presAssocID="{30279C37-FADF-4521-8C4F-83831B348471}" presName="textRect" presStyleLbl="revTx" presStyleIdx="3" presStyleCnt="4">
        <dgm:presLayoutVars>
          <dgm:bulletEnabled/>
        </dgm:presLayoutVars>
      </dgm:prSet>
      <dgm:spPr/>
    </dgm:pt>
  </dgm:ptLst>
  <dgm:cxnLst>
    <dgm:cxn modelId="{44B9DB04-C4C1-449B-8D2C-8563AC80AA75}" srcId="{ECAE7D66-75D8-47CD-AB83-AF86CB7A384F}" destId="{30279C37-FADF-4521-8C4F-83831B348471}" srcOrd="1" destOrd="0" parTransId="{3D9E29E3-2C62-4C14-9F6E-471FB40BFF42}" sibTransId="{440D6145-AF0B-4DA3-A6D2-9A359CE5F6C9}"/>
    <dgm:cxn modelId="{3C5B0A25-B42C-461C-A770-E69241E8342D}" srcId="{10FFCAE7-53F6-4E6A-8970-FF94E5EC621D}" destId="{0DDCA209-2056-4B34-ADF3-B2ACBB041E9D}" srcOrd="0" destOrd="0" parTransId="{F8FA548A-C5A2-4741-B59A-28BE1F9AFEE0}" sibTransId="{B9F611F4-554F-4FA3-AFF1-02AC08E17ED8}"/>
    <dgm:cxn modelId="{5B0B5E31-AFD8-4337-850C-86BCB550CFBB}" type="presOf" srcId="{4FEE586C-6301-45B5-A785-2627D13CC287}" destId="{5760D495-91E5-4BFE-8FBA-A7F77F3684FC}" srcOrd="0" destOrd="0" presId="urn:microsoft.com/office/officeart/2024/3/layout/hArchList1"/>
    <dgm:cxn modelId="{09899B43-964A-4436-BBD7-CC898FA67F48}" type="presOf" srcId="{10FFCAE7-53F6-4E6A-8970-FF94E5EC621D}" destId="{73C78BD6-2BB7-4AD9-95E4-C97CA4B62EB7}" srcOrd="0" destOrd="0" presId="urn:microsoft.com/office/officeart/2024/3/layout/hArchList1"/>
    <dgm:cxn modelId="{FFDC746F-1468-4AF6-8EE4-324824A35A79}" type="presOf" srcId="{0DDCA209-2056-4B34-ADF3-B2ACBB041E9D}" destId="{B263E204-9A98-405E-B659-2E0E6C98A711}" srcOrd="0" destOrd="0" presId="urn:microsoft.com/office/officeart/2024/3/layout/hArchList1"/>
    <dgm:cxn modelId="{EFC64E7A-E7D8-4A85-AFC4-8A144964FCE6}" type="presOf" srcId="{4AA5121B-AA40-4808-8ECB-02FE3EA66121}" destId="{ED356835-21BC-43F4-AAEA-C5EBD4F47855}" srcOrd="0" destOrd="0" presId="urn:microsoft.com/office/officeart/2024/3/layout/hArchList1"/>
    <dgm:cxn modelId="{35A866B0-8EB9-4A17-B247-87F179BB28C9}" srcId="{30279C37-FADF-4521-8C4F-83831B348471}" destId="{4AA5121B-AA40-4808-8ECB-02FE3EA66121}" srcOrd="0" destOrd="0" parTransId="{DB0D49FC-A228-4F91-B95B-7B6E518C96D5}" sibTransId="{5838A046-9ECE-4713-BACF-50CBCFB3E7CB}"/>
    <dgm:cxn modelId="{65DA24BA-F662-43A5-9869-3EE1B77A3E55}" srcId="{ECAE7D66-75D8-47CD-AB83-AF86CB7A384F}" destId="{10FFCAE7-53F6-4E6A-8970-FF94E5EC621D}" srcOrd="0" destOrd="0" parTransId="{52492268-9B63-4C71-8E0A-D3B56A19DE06}" sibTransId="{4FEE586C-6301-45B5-A785-2627D13CC287}"/>
    <dgm:cxn modelId="{DD5BBBEF-1505-413B-A2AB-2600ECAF8649}" type="presOf" srcId="{ECAE7D66-75D8-47CD-AB83-AF86CB7A384F}" destId="{900E4560-3860-40D0-A2B1-3C76FDDB2821}" srcOrd="0" destOrd="0" presId="urn:microsoft.com/office/officeart/2024/3/layout/hArchList1"/>
    <dgm:cxn modelId="{4B392CFD-9BDF-400D-A6B3-9005B31133BD}" type="presOf" srcId="{30279C37-FADF-4521-8C4F-83831B348471}" destId="{533143F4-B43C-47F3-A66F-F630467EC33A}" srcOrd="0" destOrd="0" presId="urn:microsoft.com/office/officeart/2024/3/layout/hArchList1"/>
    <dgm:cxn modelId="{2543D053-2AAE-4C9C-B0AB-F48CD3A7B49C}" type="presParOf" srcId="{900E4560-3860-40D0-A2B1-3C76FDDB2821}" destId="{B5333165-FAC5-4E04-8879-81A9701213B5}" srcOrd="0" destOrd="0" presId="urn:microsoft.com/office/officeart/2024/3/layout/hArchList1"/>
    <dgm:cxn modelId="{FA118731-510A-4987-9E65-3CE2F08190CE}" type="presParOf" srcId="{B5333165-FAC5-4E04-8879-81A9701213B5}" destId="{73C78BD6-2BB7-4AD9-95E4-C97CA4B62EB7}" srcOrd="0" destOrd="0" presId="urn:microsoft.com/office/officeart/2024/3/layout/hArchList1"/>
    <dgm:cxn modelId="{47D42357-6E4C-4B37-9E66-A86A0C353290}" type="presParOf" srcId="{B5333165-FAC5-4E04-8879-81A9701213B5}" destId="{B263E204-9A98-405E-B659-2E0E6C98A711}" srcOrd="1" destOrd="0" presId="urn:microsoft.com/office/officeart/2024/3/layout/hArchList1"/>
    <dgm:cxn modelId="{1AE90ED8-9D5A-4D2A-9A9F-17BCE223E428}" type="presParOf" srcId="{900E4560-3860-40D0-A2B1-3C76FDDB2821}" destId="{5760D495-91E5-4BFE-8FBA-A7F77F3684FC}" srcOrd="1" destOrd="0" presId="urn:microsoft.com/office/officeart/2024/3/layout/hArchList1"/>
    <dgm:cxn modelId="{4793F33D-BC80-438F-B359-C66FB3B6DB28}" type="presParOf" srcId="{900E4560-3860-40D0-A2B1-3C76FDDB2821}" destId="{5126B0A9-5F63-4732-892C-B0458A9E4A13}" srcOrd="2" destOrd="0" presId="urn:microsoft.com/office/officeart/2024/3/layout/hArchList1"/>
    <dgm:cxn modelId="{68BE1DBB-B38D-4A40-B156-BE4EE121B070}" type="presParOf" srcId="{5126B0A9-5F63-4732-892C-B0458A9E4A13}" destId="{533143F4-B43C-47F3-A66F-F630467EC33A}" srcOrd="0" destOrd="0" presId="urn:microsoft.com/office/officeart/2024/3/layout/hArchList1"/>
    <dgm:cxn modelId="{FA01E441-421C-4A6A-A9AE-AAB64BF4C730}" type="presParOf" srcId="{5126B0A9-5F63-4732-892C-B0458A9E4A13}" destId="{ED356835-21BC-43F4-AAEA-C5EBD4F47855}"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9C402-81FD-4C05-99B5-4449476B8C0F}">
      <dsp:nvSpPr>
        <dsp:cNvPr id="0" name=""/>
        <dsp:cNvSpPr/>
      </dsp:nvSpPr>
      <dsp:spPr>
        <a:xfrm>
          <a:off x="0" y="0"/>
          <a:ext cx="1552009" cy="155200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5568" r="18936" b="5"/>
          <a:stretch/>
        </a:blipFill>
        <a:ln>
          <a:noFill/>
        </a:ln>
        <a:effectLst/>
      </dsp:spPr>
      <dsp:style>
        <a:lnRef idx="0">
          <a:scrgbClr r="0" g="0" b="0"/>
        </a:lnRef>
        <a:fillRef idx="3">
          <a:scrgbClr r="0" g="0" b="0"/>
        </a:fillRef>
        <a:effectRef idx="2">
          <a:scrgbClr r="0" g="0" b="0"/>
        </a:effectRef>
        <a:fontRef idx="minor">
          <a:schemeClr val="lt1"/>
        </a:fontRef>
      </dsp:style>
    </dsp:sp>
    <dsp:sp modelId="{AD3474E1-C3CD-47AE-A5D0-2EB091A88D6D}">
      <dsp:nvSpPr>
        <dsp:cNvPr id="0" name=""/>
        <dsp:cNvSpPr/>
      </dsp:nvSpPr>
      <dsp:spPr>
        <a:xfrm>
          <a:off x="1732009" y="0"/>
          <a:ext cx="9393022" cy="380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fr-FR" sz="1800" kern="1200"/>
            <a:t>Architecture modulaire flexible</a:t>
          </a:r>
        </a:p>
      </dsp:txBody>
      <dsp:txXfrm>
        <a:off x="1732009" y="0"/>
        <a:ext cx="9393022" cy="380326"/>
      </dsp:txXfrm>
    </dsp:sp>
    <dsp:sp modelId="{B70A2E67-93C9-4E93-AF72-124709C784A4}">
      <dsp:nvSpPr>
        <dsp:cNvPr id="0" name=""/>
        <dsp:cNvSpPr/>
      </dsp:nvSpPr>
      <dsp:spPr>
        <a:xfrm>
          <a:off x="1732009" y="380326"/>
          <a:ext cx="9393022" cy="11716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fr-FR" sz="1400" kern="1200"/>
            <a:t>Les systèmes utilisent des composants faiblement couplés pour permettre une scalabilité sans impact sur l’ensemble du système.</a:t>
          </a:r>
        </a:p>
      </dsp:txBody>
      <dsp:txXfrm>
        <a:off x="1732009" y="380326"/>
        <a:ext cx="9393022" cy="1171682"/>
      </dsp:txXfrm>
    </dsp:sp>
    <dsp:sp modelId="{D02C6C5B-29B7-45D5-95BA-DBD383574123}">
      <dsp:nvSpPr>
        <dsp:cNvPr id="0" name=""/>
        <dsp:cNvSpPr/>
      </dsp:nvSpPr>
      <dsp:spPr>
        <a:xfrm>
          <a:off x="0" y="1676170"/>
          <a:ext cx="1552009" cy="155200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5467" r="17785" b="4"/>
          <a:stretch/>
        </a:blipFill>
        <a:ln>
          <a:noFill/>
        </a:ln>
        <a:effectLst/>
      </dsp:spPr>
      <dsp:style>
        <a:lnRef idx="0">
          <a:scrgbClr r="0" g="0" b="0"/>
        </a:lnRef>
        <a:fillRef idx="3">
          <a:scrgbClr r="0" g="0" b="0"/>
        </a:fillRef>
        <a:effectRef idx="2">
          <a:scrgbClr r="0" g="0" b="0"/>
        </a:effectRef>
        <a:fontRef idx="minor">
          <a:schemeClr val="lt1"/>
        </a:fontRef>
      </dsp:style>
    </dsp:sp>
    <dsp:sp modelId="{B71CD367-9E26-41F9-A9B8-9962AA40B1FD}">
      <dsp:nvSpPr>
        <dsp:cNvPr id="0" name=""/>
        <dsp:cNvSpPr/>
      </dsp:nvSpPr>
      <dsp:spPr>
        <a:xfrm>
          <a:off x="1732009" y="1676170"/>
          <a:ext cx="9393022" cy="380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fr-FR" sz="1800" kern="1200"/>
            <a:t>Scalabilité automatique</a:t>
          </a:r>
        </a:p>
      </dsp:txBody>
      <dsp:txXfrm>
        <a:off x="1732009" y="1676170"/>
        <a:ext cx="9393022" cy="380326"/>
      </dsp:txXfrm>
    </dsp:sp>
    <dsp:sp modelId="{2F6B0925-958E-43D3-80F0-A24A9793DEE9}">
      <dsp:nvSpPr>
        <dsp:cNvPr id="0" name=""/>
        <dsp:cNvSpPr/>
      </dsp:nvSpPr>
      <dsp:spPr>
        <a:xfrm>
          <a:off x="1732009" y="2056496"/>
          <a:ext cx="9393022" cy="11716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fr-FR" sz="1400" kern="1200"/>
            <a:t>Les mécanismes d’auto-scaling ajustent automatiquement les ressources en fonction des besoins en surveillant les performances.</a:t>
          </a:r>
        </a:p>
      </dsp:txBody>
      <dsp:txXfrm>
        <a:off x="1732009" y="2056496"/>
        <a:ext cx="9393022" cy="1171682"/>
      </dsp:txXfrm>
    </dsp:sp>
    <dsp:sp modelId="{0DB0655C-50CD-4DFD-B850-3731AA3F4FB6}">
      <dsp:nvSpPr>
        <dsp:cNvPr id="0" name=""/>
        <dsp:cNvSpPr/>
      </dsp:nvSpPr>
      <dsp:spPr>
        <a:xfrm>
          <a:off x="0" y="3352340"/>
          <a:ext cx="1552009" cy="155200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6695" r="15555" b="1"/>
          <a:stretch/>
        </a:blipFill>
        <a:ln>
          <a:noFill/>
        </a:ln>
        <a:effectLst/>
      </dsp:spPr>
      <dsp:style>
        <a:lnRef idx="0">
          <a:scrgbClr r="0" g="0" b="0"/>
        </a:lnRef>
        <a:fillRef idx="3">
          <a:scrgbClr r="0" g="0" b="0"/>
        </a:fillRef>
        <a:effectRef idx="2">
          <a:scrgbClr r="0" g="0" b="0"/>
        </a:effectRef>
        <a:fontRef idx="minor">
          <a:schemeClr val="lt1"/>
        </a:fontRef>
      </dsp:style>
    </dsp:sp>
    <dsp:sp modelId="{8AF1ED99-4ECC-4470-A11C-3C04700049F6}">
      <dsp:nvSpPr>
        <dsp:cNvPr id="0" name=""/>
        <dsp:cNvSpPr/>
      </dsp:nvSpPr>
      <dsp:spPr>
        <a:xfrm>
          <a:off x="1732009" y="3352340"/>
          <a:ext cx="9393022" cy="3803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fr-FR" sz="1800" kern="1200"/>
            <a:t>Optimisation des ressources</a:t>
          </a:r>
        </a:p>
      </dsp:txBody>
      <dsp:txXfrm>
        <a:off x="1732009" y="3352340"/>
        <a:ext cx="9393022" cy="380326"/>
      </dsp:txXfrm>
    </dsp:sp>
    <dsp:sp modelId="{DD7B65E5-F167-4D68-9000-E0A07B7743C6}">
      <dsp:nvSpPr>
        <dsp:cNvPr id="0" name=""/>
        <dsp:cNvSpPr/>
      </dsp:nvSpPr>
      <dsp:spPr>
        <a:xfrm>
          <a:off x="1732009" y="3732666"/>
          <a:ext cx="9393022" cy="11716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fr-FR" sz="1400" kern="1200"/>
            <a:t>L’auto-scaling optimise l’utilisation des ressources et réduit les coûts opérationnels dans les environnements cloud.</a:t>
          </a:r>
        </a:p>
      </dsp:txBody>
      <dsp:txXfrm>
        <a:off x="1732009" y="3732666"/>
        <a:ext cx="9393022" cy="11716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C78BD6-2BB7-4AD9-95E4-C97CA4B62EB7}">
      <dsp:nvSpPr>
        <dsp:cNvPr id="0" name=""/>
        <dsp:cNvSpPr/>
      </dsp:nvSpPr>
      <dsp:spPr>
        <a:xfrm>
          <a:off x="0" y="0"/>
          <a:ext cx="5184626" cy="339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Importance du traitement distribué</a:t>
          </a:r>
        </a:p>
      </dsp:txBody>
      <dsp:txXfrm>
        <a:off x="0" y="0"/>
        <a:ext cx="5184626" cy="339413"/>
      </dsp:txXfrm>
    </dsp:sp>
    <dsp:sp modelId="{B263E204-9A98-405E-B659-2E0E6C98A711}">
      <dsp:nvSpPr>
        <dsp:cNvPr id="0" name=""/>
        <dsp:cNvSpPr/>
      </dsp:nvSpPr>
      <dsp:spPr>
        <a:xfrm>
          <a:off x="0" y="339413"/>
          <a:ext cx="5184626" cy="2423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Le traitement distribué permet une grande scalabilité et robustesse dans la gestion des données volumineuses.</a:t>
          </a:r>
        </a:p>
      </dsp:txBody>
      <dsp:txXfrm>
        <a:off x="0" y="339413"/>
        <a:ext cx="5184626" cy="2423904"/>
      </dsp:txXfrm>
    </dsp:sp>
    <dsp:sp modelId="{533143F4-B43C-47F3-A66F-F630467EC33A}">
      <dsp:nvSpPr>
        <dsp:cNvPr id="0" name=""/>
        <dsp:cNvSpPr/>
      </dsp:nvSpPr>
      <dsp:spPr>
        <a:xfrm>
          <a:off x="5703088" y="0"/>
          <a:ext cx="5184626" cy="339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Maîtrise des frameworks clés</a:t>
          </a:r>
        </a:p>
      </dsp:txBody>
      <dsp:txXfrm>
        <a:off x="5703088" y="0"/>
        <a:ext cx="5184626" cy="339413"/>
      </dsp:txXfrm>
    </dsp:sp>
    <dsp:sp modelId="{ED356835-21BC-43F4-AAEA-C5EBD4F47855}">
      <dsp:nvSpPr>
        <dsp:cNvPr id="0" name=""/>
        <dsp:cNvSpPr/>
      </dsp:nvSpPr>
      <dsp:spPr>
        <a:xfrm>
          <a:off x="5703088" y="339413"/>
          <a:ext cx="5184626" cy="2423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Connaître les principes et outils comme Spark est crucial pour exploiter pleinement ces technologies avancées.</a:t>
          </a:r>
        </a:p>
      </dsp:txBody>
      <dsp:txXfrm>
        <a:off x="5703088" y="339413"/>
        <a:ext cx="5184626" cy="2423904"/>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DD8806-88D2-4652-8682-00A1D3414869}" type="datetimeFigureOut">
              <a:rPr lang="fr-FR" smtClean="0"/>
              <a:t>06/10/2025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690FB2-45B2-4AB4-B059-8E1903E792E2}" type="slidenum">
              <a:rPr lang="fr-FR" smtClean="0"/>
              <a:t>‹N°›</a:t>
            </a:fld>
            <a:endParaRPr lang="fr-FR"/>
          </a:p>
        </p:txBody>
      </p:sp>
    </p:spTree>
    <p:extLst>
      <p:ext uri="{BB962C8B-B14F-4D97-AF65-F5344CB8AC3E}">
        <p14:creationId xmlns:p14="http://schemas.microsoft.com/office/powerpoint/2010/main" val="4006745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contenu généré par l’IA peut être incorrect.
---
Dans cette présentation, nous explorerons les fondements du traitement distribué, ses principes, les mécanismes clés ainsi que les frameworks majeurs qui facilitent son implémentation. Nous couvrirons de la compréhension des concepts essentiels à l’étude détaillée de frameworks populaires comme Apache Spark, Storm et Flink.
</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1</a:t>
            </a:fld>
            <a:endParaRPr lang="fr-FR"/>
          </a:p>
        </p:txBody>
      </p:sp>
    </p:spTree>
    <p:extLst>
      <p:ext uri="{BB962C8B-B14F-4D97-AF65-F5344CB8AC3E}">
        <p14:creationId xmlns:p14="http://schemas.microsoft.com/office/powerpoint/2010/main" val="6521931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Nous aborderons les concepts fondamentaux du traitement distribué, le parallélisme et la synchronisation, la scalabilité, la tolérance aux pannes, les principes de programmation distribuée, le traitement des données en batch et streaming, ainsi que les frameworks principaux et l’architecture de Spark.</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2</a:t>
            </a:fld>
            <a:endParaRPr lang="fr-FR"/>
          </a:p>
        </p:txBody>
      </p:sp>
    </p:spTree>
    <p:extLst>
      <p:ext uri="{BB962C8B-B14F-4D97-AF65-F5344CB8AC3E}">
        <p14:creationId xmlns:p14="http://schemas.microsoft.com/office/powerpoint/2010/main" val="2666848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Définition et principes de base du traitement distribué, Distribution des ressources : répartition, résilience et mise à l'échelle</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3</a:t>
            </a:fld>
            <a:endParaRPr lang="fr-FR"/>
          </a:p>
        </p:txBody>
      </p:sp>
    </p:spTree>
    <p:extLst>
      <p:ext uri="{BB962C8B-B14F-4D97-AF65-F5344CB8AC3E}">
        <p14:creationId xmlns:p14="http://schemas.microsoft.com/office/powerpoint/2010/main" val="1118829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Traitement Distribué : Concepts et Principes Fondamentaux
1. Concepts Clés du Traitement Distribué
Le traitement distribué est une approche où plusieurs machines travaillent ensemble pour traiter des données ou exécuter des tâches. Les concepts fondamentaux incluent :
Source de l’image : bibliothèque de contenu Microsoft 365
</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4</a:t>
            </a:fld>
            <a:endParaRPr lang="fr-FR"/>
          </a:p>
        </p:txBody>
      </p:sp>
    </p:spTree>
    <p:extLst>
      <p:ext uri="{BB962C8B-B14F-4D97-AF65-F5344CB8AC3E}">
        <p14:creationId xmlns:p14="http://schemas.microsoft.com/office/powerpoint/2010/main" val="1822441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Distribution des ressources : Répartition des charges de travail
La distribution des ressources est un aspect fondamental des systèmes distribués, permettant d'optimiser l'utilisation des capacités de calcul disponibles. Elle assure une répartition équitable des charges de travail entre différents nœuds du système, maximisant ainsi l'efficacité globale du traitement.
Cette approche permet également une meilleure résilience du système en évitant la surcharge d'un seul point de traitement. En distribuant les tâches sur plusieurs machines, le système peut continuer à fonctionner même en cas de défaillance d'un ou plusieurs nœuds, garantissant ainsi une continuité de service.
La distribution intelligente des ressources facilite aussi la mise à l'échelle dynamique du système. En fonction de la charge de travail, de nouveaux nœuds peuvent être ajoutés ou retirés automatiquement, offrant une flexibilité optimale pour répondre aux variations de la demande.
Source de l’image : bibliothèque de contenu Microsoft 365
</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5</a:t>
            </a:fld>
            <a:endParaRPr lang="fr-FR"/>
          </a:p>
        </p:txBody>
      </p:sp>
    </p:spTree>
    <p:extLst>
      <p:ext uri="{BB962C8B-B14F-4D97-AF65-F5344CB8AC3E}">
        <p14:creationId xmlns:p14="http://schemas.microsoft.com/office/powerpoint/2010/main" val="31879582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Mécanismes de synchronisation et coordination, outils et frameworks</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6</a:t>
            </a:fld>
            <a:endParaRPr lang="fr-FR"/>
          </a:p>
        </p:txBody>
      </p:sp>
    </p:spTree>
    <p:extLst>
      <p:ext uri="{BB962C8B-B14F-4D97-AF65-F5344CB8AC3E}">
        <p14:creationId xmlns:p14="http://schemas.microsoft.com/office/powerpoint/2010/main" val="15308844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L'implémentation du parallélisme requiert des mécanismes sophistiqués de synchronisation et de coordination. Ces mécanismes garantissent la cohérence des données et la fiabilité des résultats, tout en gérant les problèmes classiques comme les conditions de course ou les interblocages. Des outils et frameworks modernes comme OpenMP, MPI, ou Hadoop facilitent la mise en œuvre de ces concepts.
Source de l’image : bibliothèque de contenu Microsoft 365
</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7</a:t>
            </a:fld>
            <a:endParaRPr lang="fr-FR"/>
          </a:p>
        </p:txBody>
      </p:sp>
    </p:spTree>
    <p:extLst>
      <p:ext uri="{BB962C8B-B14F-4D97-AF65-F5344CB8AC3E}">
        <p14:creationId xmlns:p14="http://schemas.microsoft.com/office/powerpoint/2010/main" val="2546178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Définition, types et importance de la scalabilité, Architecture modulaire, auto-scaling et optimisation des ressources</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8</a:t>
            </a:fld>
            <a:endParaRPr lang="fr-FR"/>
          </a:p>
        </p:txBody>
      </p:sp>
    </p:spTree>
    <p:extLst>
      <p:ext uri="{BB962C8B-B14F-4D97-AF65-F5344CB8AC3E}">
        <p14:creationId xmlns:p14="http://schemas.microsoft.com/office/powerpoint/2010/main" val="22057744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Scalabilité : Capacité d'adaptation à la charge
La scalabilité représente la capacité d'un système distribué à s'adapter aux variations de charge de travail. Cette caractéristique fondamentale permet au système de maintenir ou d'améliorer ses performances face à une augmentation des demandes, soit en ajustant ses ressources existantes (scalabilité verticale), soit en ajoutant de nouveaux nœuds (scalabilité horizontale).
Source de l’image : bibliothèque de contenu Microsoft 365
</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9</a:t>
            </a:fld>
            <a:endParaRPr lang="fr-FR"/>
          </a:p>
        </p:txBody>
      </p:sp>
    </p:spTree>
    <p:extLst>
      <p:ext uri="{BB962C8B-B14F-4D97-AF65-F5344CB8AC3E}">
        <p14:creationId xmlns:p14="http://schemas.microsoft.com/office/powerpoint/2010/main" val="18987982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L'implémentation efficace de la scalabilité nécessite une architecture modulaire et flexible. Les systèmes doivent être conçus avec des composants faiblement couplés, permettant leur expansion ou leur contraction selon les besoins. Cette approche architecturale facilite l'ajout ou le retrait dynamique de ressources sans perturber le fonctionnement global du système.
Les mécanismes de scalabilité automatique (auto-scaling) jouent un rôle crucial dans les environnements cloud modernes. Ces systèmes surveillent constamment les métriques de performance et déclenchent automatiquement l'allocation ou la libération de ressources en fonction des seuils prédéfinis, optimisant ainsi l'utilisation des ressources et les coûts opérationnels.
Source de l’image : bibliothèque de contenu Microsoft 365
</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10</a:t>
            </a:fld>
            <a:endParaRPr lang="fr-FR"/>
          </a:p>
        </p:txBody>
      </p:sp>
    </p:spTree>
    <p:extLst>
      <p:ext uri="{BB962C8B-B14F-4D97-AF65-F5344CB8AC3E}">
        <p14:creationId xmlns:p14="http://schemas.microsoft.com/office/powerpoint/2010/main" val="25723142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Principes de la tolérance aux pannes et continuité de service, Stratégies de redondance et failover automatique, Monitoring, logging et restauration de l’état</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11</a:t>
            </a:fld>
            <a:endParaRPr lang="fr-FR"/>
          </a:p>
        </p:txBody>
      </p:sp>
    </p:spTree>
    <p:extLst>
      <p:ext uri="{BB962C8B-B14F-4D97-AF65-F5344CB8AC3E}">
        <p14:creationId xmlns:p14="http://schemas.microsoft.com/office/powerpoint/2010/main" val="42536925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Tolérance aux pannes : Gestion des défaillances
La tolérance aux pannes est un aspect critique des systèmes distribués, garantissant la continuité des opérations même en cas de défaillance de certains composants. Cette caractéristique essentielle repose sur des mécanismes de détection, d'isolation et de récupération des erreurs, permettant au système de maintenir ses fonctionnalités malgré les incidents.
Source de l’image : bibliothèque de contenu Microsoft 365
</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12</a:t>
            </a:fld>
            <a:endParaRPr lang="fr-FR"/>
          </a:p>
        </p:txBody>
      </p:sp>
    </p:spTree>
    <p:extLst>
      <p:ext uri="{BB962C8B-B14F-4D97-AF65-F5344CB8AC3E}">
        <p14:creationId xmlns:p14="http://schemas.microsoft.com/office/powerpoint/2010/main" val="7178217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Les systèmes tolérants aux pannes implémentent généralement des stratégies de redondance, où les données et les processus sont répliqués sur plusieurs nœuds. Cette approche assure qu'en cas de défaillance d'un nœud, les autres peuvent prendre le relais sans interruption du service. Les mécanismes de failover automatique permettent une transition transparente vers les ressources de secours.
Source de l’image : bibliothèque de contenu Microsoft 365
</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13</a:t>
            </a:fld>
            <a:endParaRPr lang="fr-FR"/>
          </a:p>
        </p:txBody>
      </p:sp>
    </p:spTree>
    <p:extLst>
      <p:ext uri="{BB962C8B-B14F-4D97-AF65-F5344CB8AC3E}">
        <p14:creationId xmlns:p14="http://schemas.microsoft.com/office/powerpoint/2010/main" val="34235735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La mise en œuvre de la tolérance aux pannes nécessite également des systèmes sophistiqués de monitoring et de logging. Ces outils permettent de détecter rapidement les anomalies, de diagnostiquer les problèmes et de déclencher les procédures de récupération appropriées. L'utilisation de checkpoints réguliers et de journaux de transactions permet de restaurer l'état du système à un point cohérent en cas de défaillance majeure.
Source de l’image : bibliothèque de contenu Microsoft 365
</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14</a:t>
            </a:fld>
            <a:endParaRPr lang="fr-FR"/>
          </a:p>
        </p:txBody>
      </p:sp>
    </p:spTree>
    <p:extLst>
      <p:ext uri="{BB962C8B-B14F-4D97-AF65-F5344CB8AC3E}">
        <p14:creationId xmlns:p14="http://schemas.microsoft.com/office/powerpoint/2010/main" val="41720029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Principes fondamentaux de la programmation distribuée, Communication, synchronisation et cohérence des données</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15</a:t>
            </a:fld>
            <a:endParaRPr lang="fr-FR"/>
          </a:p>
        </p:txBody>
      </p:sp>
    </p:spTree>
    <p:extLst>
      <p:ext uri="{BB962C8B-B14F-4D97-AF65-F5344CB8AC3E}">
        <p14:creationId xmlns:p14="http://schemas.microsoft.com/office/powerpoint/2010/main" val="10830938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2. Principes et Enjeux de la Programmation Distribuée
La programmation distribuée représente un paradigme complexe nécessitant une approche méthodique et rigoureuse. Elle repose sur des principes fondamentaux tels que la décomposition des tâches, la coordination des processus et la gestion efficace des ressources partagées. Les développeurs doivent tenir compte de multiples aspects comme la latence réseau, la synchronisation des horloges, et la gestion des états distribués. Ces systèmes doivent être conçus pour gérer les pannes partielles, maintenir la cohérence des données à travers les différents nœuds, et assurer une communication fiable entre les composants. L'implémentation réussie d'un système distribué nécessite une compréhension approfondie des compromis entre consistance, disponibilité et tolérance au partitionnement, comme l'énonce le théorème CAP.
Source de l’image : bibliothèque de contenu Microsoft 365
</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16</a:t>
            </a:fld>
            <a:endParaRPr lang="fr-FR"/>
          </a:p>
        </p:txBody>
      </p:sp>
    </p:spTree>
    <p:extLst>
      <p:ext uri="{BB962C8B-B14F-4D97-AF65-F5344CB8AC3E}">
        <p14:creationId xmlns:p14="http://schemas.microsoft.com/office/powerpoint/2010/main" val="26594293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Principes Essentiels
-   Communication entre les nœuds
-   Synchronisation des processus
-   Gestion de la cohérence des données
Source de l’image : bibliothèque de contenu Microsoft 365
</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17</a:t>
            </a:fld>
            <a:endParaRPr lang="fr-FR"/>
          </a:p>
        </p:txBody>
      </p:sp>
    </p:spTree>
    <p:extLst>
      <p:ext uri="{BB962C8B-B14F-4D97-AF65-F5344CB8AC3E}">
        <p14:creationId xmlns:p14="http://schemas.microsoft.com/office/powerpoint/2010/main" val="15399547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Traitement par lots et en temps réel : définitions et fonctionnement, Avantages et évolutions des frameworks de traitement distribué</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18</a:t>
            </a:fld>
            <a:endParaRPr lang="fr-FR"/>
          </a:p>
        </p:txBody>
      </p:sp>
    </p:spTree>
    <p:extLst>
      <p:ext uri="{BB962C8B-B14F-4D97-AF65-F5344CB8AC3E}">
        <p14:creationId xmlns:p14="http://schemas.microsoft.com/office/powerpoint/2010/main" val="21653575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3. Data Streaming vs Batch Processing
Batch Processing
-   Traitement par lots
-   Données traitées périodiquement
-   Traitement en temps réel
3. Data Streaming vs Batch Processing
-   Idéal pour les analyses en direct
Fonctionnement
Map : Division et      traitement initial des données
Source de l’image : bibliothèque de contenu Microsoft 365
</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19</a:t>
            </a:fld>
            <a:endParaRPr lang="fr-FR"/>
          </a:p>
        </p:txBody>
      </p:sp>
    </p:spTree>
    <p:extLst>
      <p:ext uri="{BB962C8B-B14F-4D97-AF65-F5344CB8AC3E}">
        <p14:creationId xmlns:p14="http://schemas.microsoft.com/office/powerpoint/2010/main" val="3090413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Avantages
Les frameworks de traitement distribué constituent l'épine dorsale des systèmes de traitement de données modernes. Ces outils permettent aux organisations de gérer, traiter et analyser efficacement des volumes massifs de données en distribuant la charge de travail sur plusieurs machines.
Chaque framework possède ses propres caractéristiques et cas d'usage optimaux. Certains excellent dans le traitement par lots (batch processing), tandis que d'autres sont optimisés pour le traitement en temps réel (stream processing). Cette diversité permet aux équipes techniques de choisir la solution la plus adaptée à leurs besoins spécifiques.
L'évolution constante des frameworks reflète les avancées technologiques du domaine. Les nouvelles versions intègrent régulièrement des fonctionnalités améliorées pour la gestion de la mémoire, l'optimisation des performances et la facilité de développement. Cette évolution continue garantit une meilleure efficacité et une plus grande facilité d'utilisation.
La scalabilité est un aspect fondamental de ces frameworks. Ils sont conçus pour s'adapter dynamiquement aux charges de travail variables, permettant aux organisations d'optimiser leurs ressources informatiques. Cette flexibilité est particulièrement importante dans les environnements cloud où les besoins en ressources peuvent fluctuer rapidement.
L'intégration avec l'écosystème existant est un critère crucial dans le choix d'un framework. Les solutions modernes offrent une large gamme de connecteurs et d'interfaces permettant une interaction transparente avec différentes sources de données, systèmes de stockage et outils d'analyse.
Source de l’image : bibliothèque de contenu Microsoft 365
</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20</a:t>
            </a:fld>
            <a:endParaRPr lang="fr-FR"/>
          </a:p>
        </p:txBody>
      </p:sp>
    </p:spTree>
    <p:extLst>
      <p:ext uri="{BB962C8B-B14F-4D97-AF65-F5344CB8AC3E}">
        <p14:creationId xmlns:p14="http://schemas.microsoft.com/office/powerpoint/2010/main" val="16862553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Apache Spark : caractéristiques, architecture et intégration, Apache Storm : streaming natif, performance et intégration, Apache Flink : streaming, batch processing et connecteurs</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21</a:t>
            </a:fld>
            <a:endParaRPr lang="fr-FR"/>
          </a:p>
        </p:txBody>
      </p:sp>
    </p:spTree>
    <p:extLst>
      <p:ext uri="{BB962C8B-B14F-4D97-AF65-F5344CB8AC3E}">
        <p14:creationId xmlns:p14="http://schemas.microsoft.com/office/powerpoint/2010/main" val="5407278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Principaux Frameworks
Apache Spark
-   Maturité: Framework mature et largement adopté
-   Capacités:
o   Batch processing performant
o   Streaming temps réel via Spark Streaming
o   API unifiée pour batch et streaming
-   Performance:
o   Traitement en mémoire jusqu'à 100x plus rapide que MapReduce
o   RDD (Resilient Distributed Datasets) pour l'optimisation
-   Intégration Hadoop:
o   Compatible HDFS
o   Peut remplacer MapReduce
o   S'intègre avec YARN
Légende : Le diagramme montre l'architecture typique de Spark avec un Driver qui coordonne les Executors. Les RDD sont mis en cache pour optimiser les performances. Les nœuds oranges représentent le Driver, les bleus les Executors, et les violets le cache RDD.</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22</a:t>
            </a:fld>
            <a:endParaRPr lang="fr-FR"/>
          </a:p>
        </p:txBody>
      </p:sp>
    </p:spTree>
    <p:extLst>
      <p:ext uri="{BB962C8B-B14F-4D97-AF65-F5344CB8AC3E}">
        <p14:creationId xmlns:p14="http://schemas.microsoft.com/office/powerpoint/2010/main" val="42112646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Apache Storm
-   Maturité: Solution éprouvée pour le streaming temps réel
-   Capacités:
o   Streaming natif
o   Traitement événementiel
o   Latence très faible
-   Performance:
o   Millions de tuples par seconde
o   Garantie de traitement des données
-   Intégration:
o   Compatible HDFS
o   Fonctionne avec HBase
Légende : Architecture de Storm où les Spouts ingèrent les données et les transmettent aux Bolts pour traitement. Les Bolts forment une topologie de traitement en temps réel. Les nœuds verts représentent les Spouts, les bleus les Bolts de traitement, et le violet le résultat final.</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23</a:t>
            </a:fld>
            <a:endParaRPr lang="fr-FR"/>
          </a:p>
        </p:txBody>
      </p:sp>
    </p:spTree>
    <p:extLst>
      <p:ext uri="{BB962C8B-B14F-4D97-AF65-F5344CB8AC3E}">
        <p14:creationId xmlns:p14="http://schemas.microsoft.com/office/powerpoint/2010/main" val="30877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Apache Flink
-   Maturité: Framework moderne en croissance
-   Capacités:
o   Streaming natif
o   Batch processing via API streaming
o   Traitement d'événements complexes
-   Performance:
o   Optimisé pour le streaming
o   Faible latence et haute disponibilité
-   Intégration:
o   Compatible écosystème Hadoop
o   Connecteurs multiples (Kafka, Cassandra)
Légende : Architecture de Flink où le JobManager distribue les tâches aux TaskManagers. Le State Backend maintient l'état du système. Les nœuds bleus représentent les TaskManagers, le vert le JobManager, le jaune le State Backend, et les gris les entrées/sorties.</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24</a:t>
            </a:fld>
            <a:endParaRPr lang="fr-FR"/>
          </a:p>
        </p:txBody>
      </p:sp>
    </p:spTree>
    <p:extLst>
      <p:ext uri="{BB962C8B-B14F-4D97-AF65-F5344CB8AC3E}">
        <p14:creationId xmlns:p14="http://schemas.microsoft.com/office/powerpoint/2010/main" val="24060054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Traitement et calcul distribué : principes et défis, Écosystème Spark : bibliothèques et APIs, Structure du cluster et communication, Transformations, actions et optimisation dans Spark</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25</a:t>
            </a:fld>
            <a:endParaRPr lang="fr-FR"/>
          </a:p>
        </p:txBody>
      </p:sp>
    </p:spTree>
    <p:extLst>
      <p:ext uri="{BB962C8B-B14F-4D97-AF65-F5344CB8AC3E}">
        <p14:creationId xmlns:p14="http://schemas.microsoft.com/office/powerpoint/2010/main" val="24939938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5. Traitement / calcul distribué
Le traitement et le calcul distribué représentent une approche fondamentale dans l'informatique moderne, permettant de résoudre des problèmes complexes en répartissant la charge de travail sur plusieurs machines. Cette distribution des tâches optimise l'utilisation des ressources et accélère significativement le temps de traitement, particulièrement pour les applications nécessitant une puissance de calcul importante.
L'architecture d'un système de calcul distribué repose sur plusieurs composants clés : les nœuds de calcul qui exécutent les tâches, un système de coordination qui orchestre les opérations, et un réseau de communication performant. Cette infrastructure permet de paralléliser efficacement les traitements tout en assurant la cohérence des résultats et la fiabilité du système.
La gestion efficace des ressources dans un environnement distribué nécessite des algorithmes sophistiqués de planification et d'équilibrage de charge. Ces mécanismes assurent une répartition optimale des tâches entre les différents nœuds, prenant en compte les capacités de chaque machine et la nature des calculs à effectuer.
Les défis majeurs du calcul distribué incluent la synchronisation des données entre les nœuds, la gestion des pannes, et l'optimisation des communications réseau. Des solutions comme les protocoles de consensus, les mécanismes de réplication et les stratégies de cache distribuées permettent de surmonter ces obstacles et d'assurer la robustesse du système.
Source de l’image : bibliothèque de contenu Microsoft 365
</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26</a:t>
            </a:fld>
            <a:endParaRPr lang="fr-FR"/>
          </a:p>
        </p:txBody>
      </p:sp>
    </p:spTree>
    <p:extLst>
      <p:ext uri="{BB962C8B-B14F-4D97-AF65-F5344CB8AC3E}">
        <p14:creationId xmlns:p14="http://schemas.microsoft.com/office/powerpoint/2010/main" val="12011069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Écosystème de Spark
Bibliothèques et APIs
Les bibliothèques intégrées de Spark forment un écosystème riche et polyvalent. Spark SQL permet le traitement de données structurées, MLlib offre des capacités d'apprentissage automatique, GraphX facilite l'analyse de graphes, tandis que Spark Streaming gère le traitement en temps réel. Ces composants s'intègrent harmonieusement grâce à des APIs unifiées disponibles en plusieurs langages.
La modularité de l'écosystème Spark permet aux développeurs de choisir les composants adaptés à leurs besoins spécifiques. L'architecture extensible facilite l'ajout de nouvelles fonctionnalités via des packages externes, enrichissant continuellement les capacités du framework.
Les APIs de haut niveau comme DataFrame et Dataset simplifient le développement tout en optimisant automatiquement les performances. Cette abstraction permet aux développeurs de se concentrer sur la logique métier plutôt que sur les détails d'implémentation.</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27</a:t>
            </a:fld>
            <a:endParaRPr lang="fr-FR"/>
          </a:p>
        </p:txBody>
      </p:sp>
    </p:spTree>
    <p:extLst>
      <p:ext uri="{BB962C8B-B14F-4D97-AF65-F5344CB8AC3E}">
        <p14:creationId xmlns:p14="http://schemas.microsoft.com/office/powerpoint/2010/main" val="21431643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Architecture et Fonctionnement
Structure du Cluster
L'architecture de Spark repose sur un modèle maître-esclave, où le Driver Program coordonne les exécuteurs distribués. Le Cluster Manager (YARN, Kubernetes, etc.) gère l'allocation des ressources et la planification des tâches à travers le cluster.
Les executors exécutent les tâches en parallèle, maintenant les données en mémoire pour optimiser les performances. Cette architecture permet une excellente scalabilité horizontale et une tolérance aux pannes native.
La communication entre composants utilise un protocole optimisé, minimisant la latence et maximisant le débit. Le système de shuffle permet une redistribution efficace des données entre les partitions.</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28</a:t>
            </a:fld>
            <a:endParaRPr lang="fr-FR"/>
          </a:p>
        </p:txBody>
      </p:sp>
    </p:spTree>
    <p:extLst>
      <p:ext uri="{BB962C8B-B14F-4D97-AF65-F5344CB8AC3E}">
        <p14:creationId xmlns:p14="http://schemas.microsoft.com/office/powerpoint/2010/main" val="7939555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
Traitement des Données
Transformations et Actions
Les transformations Spark définissent des opérations lazy sur les RDDs, construisant un DAG d'opérations. Les actions déclenchent l'exécution effective du pipeline de traitement, optimisant automatiquement le plan d'exécution.
Le moteur d'optimisation Catalyst analyse et optimise les requêtes, choisissant les meilleures stratégies d'exécution. La gestion intelligente de la mémoire avec Project Tungsten améliore les performances en optimisant l'utilisation des ressources.
Les transformations et actions supportent naturellement le parallélisme, permettant un traitement efficace des données volumineuses. Les opérations de shuffle sont optimisées pour minimiser les transferts réseau.
Source de l’image : bibliothèque de contenu Microsoft 365
</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29</a:t>
            </a:fld>
            <a:endParaRPr lang="fr-FR"/>
          </a:p>
        </p:txBody>
      </p:sp>
    </p:spTree>
    <p:extLst>
      <p:ext uri="{BB962C8B-B14F-4D97-AF65-F5344CB8AC3E}">
        <p14:creationId xmlns:p14="http://schemas.microsoft.com/office/powerpoint/2010/main" val="16556241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traitement distribué est au cœur des systèmes modernes, offrant scalabilité, robustesse et efficacité pour gérer des volumes massifs de données. La maîtrise des concepts, principes et frameworks comme Spark est essentielle pour tirer pleinement parti de ces technologies.</a:t>
            </a:r>
          </a:p>
        </p:txBody>
      </p:sp>
      <p:sp>
        <p:nvSpPr>
          <p:cNvPr id="4" name="Espace réservé du numéro de diapositive 3"/>
          <p:cNvSpPr>
            <a:spLocks noGrp="1"/>
          </p:cNvSpPr>
          <p:nvPr>
            <p:ph type="sldNum" sz="quarter" idx="5"/>
          </p:nvPr>
        </p:nvSpPr>
        <p:spPr/>
        <p:txBody>
          <a:bodyPr/>
          <a:lstStyle/>
          <a:p>
            <a:fld id="{2FB6512D-496B-46EB-B837-7ADE48FF6332}" type="slidenum">
              <a:rPr lang="fr-FR" smtClean="0"/>
              <a:t>30</a:t>
            </a:fld>
            <a:endParaRPr lang="fr-FR"/>
          </a:p>
        </p:txBody>
      </p:sp>
    </p:spTree>
    <p:extLst>
      <p:ext uri="{BB962C8B-B14F-4D97-AF65-F5344CB8AC3E}">
        <p14:creationId xmlns:p14="http://schemas.microsoft.com/office/powerpoint/2010/main" val="2579988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31172" y="3425399"/>
            <a:ext cx="7685140" cy="2621154"/>
          </a:xfrm>
        </p:spPr>
        <p:txBody>
          <a:bodyPr anchor="b">
            <a:noAutofit/>
          </a:bodyPr>
          <a:lstStyle>
            <a:lvl1pPr algn="l">
              <a:defRPr sz="7200">
                <a:solidFill>
                  <a:schemeClr val="bg2"/>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1172" y="415057"/>
            <a:ext cx="7685139" cy="1414091"/>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B04EF954-66B1-4168-AF40-97F3DAF43FC4}" type="datetime1">
              <a:rPr lang="en-US" smtClean="0"/>
              <a:t>10/6/2025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84C450F2-3BB4-4AE4-8A35-A9D7AEA4C850}" type="slidenum">
              <a:rPr lang="en-US" smtClean="0"/>
              <a:pPr/>
              <a:t>‹N°›</a:t>
            </a:fld>
            <a:endParaRPr lang="en-US" dirty="0"/>
          </a:p>
        </p:txBody>
      </p:sp>
    </p:spTree>
    <p:extLst>
      <p:ext uri="{BB962C8B-B14F-4D97-AF65-F5344CB8AC3E}">
        <p14:creationId xmlns:p14="http://schemas.microsoft.com/office/powerpoint/2010/main" val="3873003554"/>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26233410-150A-4A72-BF63-6D3ACBC30148}" type="datetime1">
              <a:rPr lang="en-US" smtClean="0"/>
              <a:t>10/6/2025</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‹N°›</a:t>
            </a:fld>
            <a:endParaRPr lang="en-US" dirty="0"/>
          </a:p>
        </p:txBody>
      </p:sp>
    </p:spTree>
    <p:extLst>
      <p:ext uri="{BB962C8B-B14F-4D97-AF65-F5344CB8AC3E}">
        <p14:creationId xmlns:p14="http://schemas.microsoft.com/office/powerpoint/2010/main" val="2125174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91AF1D09-6B76-4716-AD3D-9F53166D3BF5}" type="datetime1">
              <a:rPr lang="en-US" smtClean="0"/>
              <a:t>10/6/2025</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‹N°›</a:t>
            </a:fld>
            <a:endParaRPr lang="en-US" dirty="0"/>
          </a:p>
        </p:txBody>
      </p:sp>
    </p:spTree>
    <p:extLst>
      <p:ext uri="{BB962C8B-B14F-4D97-AF65-F5344CB8AC3E}">
        <p14:creationId xmlns:p14="http://schemas.microsoft.com/office/powerpoint/2010/main" val="3209406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1172" y="293302"/>
            <a:ext cx="11125032" cy="965101"/>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31172" y="1384847"/>
            <a:ext cx="11125032" cy="4905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21D4C7-8630-4B98-978C-30388BBD4EE8}" type="datetime1">
              <a:rPr lang="en-US" smtClean="0"/>
              <a:t>10/6/2025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4C450F2-3BB4-4AE4-8A35-A9D7AEA4C850}" type="slidenum">
              <a:rPr lang="en-US" smtClean="0"/>
              <a:t>‹N°›</a:t>
            </a:fld>
            <a:endParaRPr lang="en-US" dirty="0"/>
          </a:p>
        </p:txBody>
      </p:sp>
    </p:spTree>
    <p:extLst>
      <p:ext uri="{BB962C8B-B14F-4D97-AF65-F5344CB8AC3E}">
        <p14:creationId xmlns:p14="http://schemas.microsoft.com/office/powerpoint/2010/main" val="657337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anchor="b">
            <a:normAutofit/>
          </a:bodyPr>
          <a:lstStyle>
            <a:lvl1pPr algn="l">
              <a:defRPr sz="4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anchor="ct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A9E06FED-92D3-C4D6-28D7-600D842F7AC3}"/>
              </a:ext>
            </a:extLst>
          </p:cNvPr>
          <p:cNvSpPr>
            <a:spLocks noGrp="1"/>
          </p:cNvSpPr>
          <p:nvPr>
            <p:ph type="pic" sz="quarter" idx="13"/>
          </p:nvPr>
        </p:nvSpPr>
        <p:spPr>
          <a:xfrm>
            <a:off x="0" y="0"/>
            <a:ext cx="11733150" cy="5135804"/>
          </a:xfrm>
          <a:custGeom>
            <a:avLst/>
            <a:gdLst>
              <a:gd name="connsiteX0" fmla="*/ 0 w 11733150"/>
              <a:gd name="connsiteY0" fmla="*/ 0 h 5135804"/>
              <a:gd name="connsiteX1" fmla="*/ 11733150 w 11733150"/>
              <a:gd name="connsiteY1" fmla="*/ 0 h 5135804"/>
              <a:gd name="connsiteX2" fmla="*/ 11733150 w 11733150"/>
              <a:gd name="connsiteY2" fmla="*/ 4533808 h 5135804"/>
              <a:gd name="connsiteX3" fmla="*/ 11131154 w 11733150"/>
              <a:gd name="connsiteY3" fmla="*/ 5135804 h 5135804"/>
              <a:gd name="connsiteX4" fmla="*/ 0 w 11733150"/>
              <a:gd name="connsiteY4" fmla="*/ 5135804 h 5135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5135804">
                <a:moveTo>
                  <a:pt x="0" y="0"/>
                </a:moveTo>
                <a:lnTo>
                  <a:pt x="11733150" y="0"/>
                </a:lnTo>
                <a:lnTo>
                  <a:pt x="11733150" y="4533808"/>
                </a:lnTo>
                <a:cubicBezTo>
                  <a:pt x="11733150" y="4866281"/>
                  <a:pt x="11463627" y="5135804"/>
                  <a:pt x="11131154" y="5135804"/>
                </a:cubicBezTo>
                <a:lnTo>
                  <a:pt x="0" y="51358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bg1"/>
                </a:solidFill>
                <a:effectLst/>
              </a:defRPr>
            </a:lvl1pPr>
          </a:lstStyle>
          <a:p>
            <a:fld id="{8C13480A-5F85-4A30-80F2-F92581C6474C}" type="datetime1">
              <a:rPr lang="en-US" smtClean="0"/>
              <a:t>10/6/2025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bg1"/>
                </a:solidFill>
                <a:effectLst/>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vert="horz" lIns="91440" tIns="45720" rIns="91440" bIns="45720" rtlCol="0" anchor="ctr"/>
          <a:lstStyle>
            <a:lvl1pPr>
              <a:defRPr lang="en-US" smtClean="0">
                <a:solidFill>
                  <a:schemeClr val="bg2"/>
                </a:solidFill>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10361558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anchor="t">
            <a:normAutofit/>
          </a:bodyPr>
          <a:lstStyle>
            <a:lvl1pPr algn="l">
              <a:defRPr sz="52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Picture Placeholder 6">
            <a:extLst>
              <a:ext uri="{FF2B5EF4-FFF2-40B4-BE49-F238E27FC236}">
                <a16:creationId xmlns:a16="http://schemas.microsoft.com/office/drawing/2014/main" id="{3D161DAC-42AF-C3D9-37A1-04B90F30DEED}"/>
              </a:ext>
            </a:extLst>
          </p:cNvPr>
          <p:cNvSpPr>
            <a:spLocks noGrp="1"/>
          </p:cNvSpPr>
          <p:nvPr>
            <p:ph type="pic" sz="quarter" idx="13"/>
          </p:nvPr>
        </p:nvSpPr>
        <p:spPr>
          <a:xfrm>
            <a:off x="5586160" y="0"/>
            <a:ext cx="6605841" cy="6399152"/>
          </a:xfrm>
          <a:custGeom>
            <a:avLst/>
            <a:gdLst>
              <a:gd name="connsiteX0" fmla="*/ 0 w 6605841"/>
              <a:gd name="connsiteY0" fmla="*/ 0 h 6399152"/>
              <a:gd name="connsiteX1" fmla="*/ 6605841 w 6605841"/>
              <a:gd name="connsiteY1" fmla="*/ 0 h 6399152"/>
              <a:gd name="connsiteX2" fmla="*/ 6605841 w 6605841"/>
              <a:gd name="connsiteY2" fmla="*/ 6399152 h 6399152"/>
              <a:gd name="connsiteX3" fmla="*/ 601995 w 6605841"/>
              <a:gd name="connsiteY3" fmla="*/ 6399152 h 6399152"/>
              <a:gd name="connsiteX4" fmla="*/ 0 w 6605841"/>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5841" h="6399152">
                <a:moveTo>
                  <a:pt x="0" y="0"/>
                </a:moveTo>
                <a:lnTo>
                  <a:pt x="6605841" y="0"/>
                </a:lnTo>
                <a:lnTo>
                  <a:pt x="6605841"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B2BF18D3-87BE-4A2D-AD2C-B21E415FD900}" type="datetime1">
              <a:rPr lang="en-US" smtClean="0"/>
              <a:t>10/6/2025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23503465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anchor="t">
            <a:normAutofit/>
          </a:bodyPr>
          <a:lstStyle>
            <a:lvl1pPr algn="l">
              <a:defRPr sz="6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Picture Placeholder 6">
            <a:extLst>
              <a:ext uri="{FF2B5EF4-FFF2-40B4-BE49-F238E27FC236}">
                <a16:creationId xmlns:a16="http://schemas.microsoft.com/office/drawing/2014/main" id="{DEE3B02A-3B83-3083-3F07-26E25C6C135D}"/>
              </a:ext>
            </a:extLst>
          </p:cNvPr>
          <p:cNvSpPr>
            <a:spLocks noGrp="1"/>
          </p:cNvSpPr>
          <p:nvPr>
            <p:ph type="pic" sz="quarter" idx="13"/>
          </p:nvPr>
        </p:nvSpPr>
        <p:spPr>
          <a:xfrm>
            <a:off x="6517248" y="0"/>
            <a:ext cx="5674753" cy="6399152"/>
          </a:xfrm>
          <a:custGeom>
            <a:avLst/>
            <a:gdLst>
              <a:gd name="connsiteX0" fmla="*/ 0 w 5674753"/>
              <a:gd name="connsiteY0" fmla="*/ 0 h 6399152"/>
              <a:gd name="connsiteX1" fmla="*/ 5674753 w 5674753"/>
              <a:gd name="connsiteY1" fmla="*/ 0 h 6399152"/>
              <a:gd name="connsiteX2" fmla="*/ 5674753 w 5674753"/>
              <a:gd name="connsiteY2" fmla="*/ 6399152 h 6399152"/>
              <a:gd name="connsiteX3" fmla="*/ 601996 w 5674753"/>
              <a:gd name="connsiteY3" fmla="*/ 6399152 h 6399152"/>
              <a:gd name="connsiteX4" fmla="*/ 0 w 5674753"/>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4753" h="6399152">
                <a:moveTo>
                  <a:pt x="0" y="0"/>
                </a:moveTo>
                <a:lnTo>
                  <a:pt x="5674753" y="0"/>
                </a:lnTo>
                <a:lnTo>
                  <a:pt x="5674753"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73F0B94E-0195-4FC9-AEFD-CCBB878ACEDF}" type="datetime1">
              <a:rPr lang="en-US" smtClean="0"/>
              <a:t>10/6/2025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40407338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anchor="t">
            <a:normAutofit/>
          </a:bodyPr>
          <a:lstStyle>
            <a:lvl1pPr algn="l">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6">
            <a:extLst>
              <a:ext uri="{FF2B5EF4-FFF2-40B4-BE49-F238E27FC236}">
                <a16:creationId xmlns:a16="http://schemas.microsoft.com/office/drawing/2014/main" id="{1D6AB98B-BD95-F9FC-BB22-1A89B6EE3246}"/>
              </a:ext>
            </a:extLst>
          </p:cNvPr>
          <p:cNvSpPr>
            <a:spLocks noGrp="1"/>
          </p:cNvSpPr>
          <p:nvPr>
            <p:ph type="pic" sz="quarter" idx="13"/>
          </p:nvPr>
        </p:nvSpPr>
        <p:spPr>
          <a:xfrm>
            <a:off x="0" y="0"/>
            <a:ext cx="6604503" cy="6399152"/>
          </a:xfrm>
          <a:custGeom>
            <a:avLst/>
            <a:gdLst>
              <a:gd name="connsiteX0" fmla="*/ 0 w 6604503"/>
              <a:gd name="connsiteY0" fmla="*/ 0 h 6399152"/>
              <a:gd name="connsiteX1" fmla="*/ 6604503 w 6604503"/>
              <a:gd name="connsiteY1" fmla="*/ 0 h 6399152"/>
              <a:gd name="connsiteX2" fmla="*/ 6604503 w 6604503"/>
              <a:gd name="connsiteY2" fmla="*/ 5797156 h 6399152"/>
              <a:gd name="connsiteX3" fmla="*/ 6002507 w 6604503"/>
              <a:gd name="connsiteY3" fmla="*/ 6399152 h 6399152"/>
              <a:gd name="connsiteX4" fmla="*/ 0 w 6604503"/>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503" h="6399152">
                <a:moveTo>
                  <a:pt x="0" y="0"/>
                </a:moveTo>
                <a:lnTo>
                  <a:pt x="6604503" y="0"/>
                </a:lnTo>
                <a:lnTo>
                  <a:pt x="6604503" y="5797156"/>
                </a:lnTo>
                <a:cubicBezTo>
                  <a:pt x="6604503" y="6129629"/>
                  <a:pt x="6334980" y="6399152"/>
                  <a:pt x="6002507"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9B0F68CC-6BDD-49E7-8971-97164A4B1FA2}" type="datetime1">
              <a:rPr lang="en-US" smtClean="0"/>
              <a:t>10/6/2025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10765978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423160"/>
            <a:ext cx="520293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lphaLcPeriod"/>
              <a:defRPr lang="en-US" dirty="0"/>
            </a:lvl2pPr>
            <a:lvl3pPr marL="800100" indent="-342900">
              <a:buFont typeface="+mj-lt"/>
              <a:buAutoNum type="romanLcPeriod"/>
              <a:defRPr lang="en-US" dirty="0"/>
            </a:lvl3pPr>
            <a:lvl4pPr marL="914400" indent="-228600">
              <a:buFont typeface="+mj-lt"/>
              <a:buAutoNum type="arabicParenR"/>
              <a:defRPr lang="en-US" dirty="0"/>
            </a:lvl4pPr>
            <a:lvl5pPr marL="1143000" indent="-228600">
              <a:buFont typeface="+mj-lt"/>
              <a:buAutoNum type="alphaLcParen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244D5D5-F2FF-4BCB-BACC-FA9A736697CB}" type="datetime1">
              <a:rPr lang="en-US" smtClean="0"/>
              <a:t>10/6/2025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2288881376"/>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91006" y="998230"/>
            <a:ext cx="3951469" cy="1947672"/>
          </a:xfrm>
        </p:spPr>
        <p:txBody>
          <a:bodyPr anchor="b">
            <a:noAutofit/>
          </a:bodyPr>
          <a:lstStyle>
            <a:lvl1pPr>
              <a:defRPr sz="4400"/>
            </a:lvl1pPr>
          </a:lstStyle>
          <a:p>
            <a:r>
              <a:rPr lang="en-US" dirty="0"/>
              <a:t>Click to edit Master title style</a:t>
            </a:r>
          </a:p>
        </p:txBody>
      </p:sp>
      <p:sp>
        <p:nvSpPr>
          <p:cNvPr id="9" name="Picture Placeholder 3">
            <a:extLst>
              <a:ext uri="{FF2B5EF4-FFF2-40B4-BE49-F238E27FC236}">
                <a16:creationId xmlns:a16="http://schemas.microsoft.com/office/drawing/2014/main" id="{DD60ACDC-1760-F721-E270-0D2FC4872DF2}"/>
              </a:ext>
            </a:extLst>
          </p:cNvPr>
          <p:cNvSpPr>
            <a:spLocks noGrp="1"/>
          </p:cNvSpPr>
          <p:nvPr>
            <p:ph type="pic" sz="quarter" idx="15"/>
          </p:nvPr>
        </p:nvSpPr>
        <p:spPr>
          <a:xfrm>
            <a:off x="0" y="0"/>
            <a:ext cx="7002464" cy="6399152"/>
          </a:xfrm>
          <a:custGeom>
            <a:avLst/>
            <a:gdLst>
              <a:gd name="connsiteX0" fmla="*/ 0 w 7002464"/>
              <a:gd name="connsiteY0" fmla="*/ 0 h 6399152"/>
              <a:gd name="connsiteX1" fmla="*/ 7002464 w 7002464"/>
              <a:gd name="connsiteY1" fmla="*/ 0 h 6399152"/>
              <a:gd name="connsiteX2" fmla="*/ 7002464 w 7002464"/>
              <a:gd name="connsiteY2" fmla="*/ 5797156 h 6399152"/>
              <a:gd name="connsiteX3" fmla="*/ 6400468 w 7002464"/>
              <a:gd name="connsiteY3" fmla="*/ 6399152 h 6399152"/>
              <a:gd name="connsiteX4" fmla="*/ 0 w 7002464"/>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464" h="6399152">
                <a:moveTo>
                  <a:pt x="0" y="0"/>
                </a:moveTo>
                <a:lnTo>
                  <a:pt x="7002464" y="0"/>
                </a:lnTo>
                <a:lnTo>
                  <a:pt x="7002464" y="5797156"/>
                </a:lnTo>
                <a:cubicBezTo>
                  <a:pt x="7002464" y="6129629"/>
                  <a:pt x="6732941" y="6399152"/>
                  <a:pt x="6400468" y="6399152"/>
                </a:cubicBezTo>
                <a:lnTo>
                  <a:pt x="0" y="6399152"/>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91007" y="3099815"/>
            <a:ext cx="3951469" cy="3084599"/>
          </a:xfrm>
        </p:spPr>
        <p:txBody>
          <a:bodyPr>
            <a:normAutofit/>
          </a:bodyPr>
          <a:lstStyle>
            <a:lvl1pPr marL="342900" indent="-342900">
              <a:buFont typeface="+mj-lt"/>
              <a:buAutoNum type="arabicPeriod"/>
              <a:defRPr sz="1800"/>
            </a:lvl1pPr>
            <a:lvl2pPr marL="571500" indent="-342900">
              <a:buFont typeface="+mj-lt"/>
              <a:buAutoNum type="alphaLcPeriod"/>
              <a:defRPr sz="1600"/>
            </a:lvl2pPr>
            <a:lvl3pPr marL="800100" indent="-342900">
              <a:buFont typeface="+mj-lt"/>
              <a:buAutoNum type="romanLcPeriod"/>
              <a:defRPr sz="1400"/>
            </a:lvl3pPr>
            <a:lvl4pPr marL="914400" indent="-228600">
              <a:buFont typeface="+mj-lt"/>
              <a:buAutoNum type="arabicParenR"/>
              <a:defRPr sz="1200"/>
            </a:lvl4pPr>
            <a:lvl5pPr marL="1143000" indent="-228600">
              <a:buFont typeface="+mj-lt"/>
              <a:buAutoNum type="alphaLcParenR"/>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C747D10D-DAA6-49BD-BCDC-42DE71F72A89}" type="datetime1">
              <a:rPr lang="en-US" smtClean="0"/>
              <a:t>10/6/2025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108248372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479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131313"/>
                </a:solidFill>
                <a:effectLst/>
                <a:uLnTx/>
                <a:uFillTx/>
                <a:latin typeface="Neue Haas Grotesk Text Pro"/>
                <a:ea typeface="+mn-ea"/>
                <a:cs typeface="+mn-cs"/>
              </a:rPr>
              <a:t>Click to edit Master text styles</a:t>
            </a:r>
          </a:p>
          <a:p>
            <a:pPr marL="4572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131313"/>
                </a:solidFill>
                <a:effectLst/>
                <a:uLnTx/>
                <a:uFillTx/>
                <a:latin typeface="Neue Haas Grotesk Text Pro"/>
                <a:ea typeface="+mn-ea"/>
                <a:cs typeface="+mn-cs"/>
              </a:rPr>
              <a:t>Second level</a:t>
            </a:r>
          </a:p>
          <a:p>
            <a:pPr marL="685800" marR="0" lvl="2"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31313"/>
                </a:solidFill>
                <a:effectLst/>
                <a:uLnTx/>
                <a:uFillTx/>
                <a:latin typeface="Neue Haas Grotesk Text Pro"/>
                <a:ea typeface="+mn-ea"/>
                <a:cs typeface="+mn-cs"/>
              </a:rPr>
              <a:t>Third level</a:t>
            </a:r>
          </a:p>
          <a:p>
            <a:pPr marL="914400" marR="0" lvl="3"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31313"/>
                </a:solidFill>
                <a:effectLst/>
                <a:uLnTx/>
                <a:uFillTx/>
                <a:latin typeface="Neue Haas Grotesk Text Pro"/>
                <a:ea typeface="+mn-ea"/>
                <a:cs typeface="+mn-cs"/>
              </a:rPr>
              <a:t>Fourth level</a:t>
            </a:r>
          </a:p>
          <a:p>
            <a:pPr marL="1143000" marR="0" lvl="4"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131313"/>
                </a:solidFill>
                <a:effectLst/>
                <a:uLnTx/>
                <a:uFillTx/>
                <a:latin typeface="Neue Haas Grotesk Text Pro"/>
                <a:ea typeface="+mn-ea"/>
                <a:cs typeface="+mn-cs"/>
              </a:rPr>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A99C55D-C47D-42B9-AD20-3E2CCE08596C}" type="datetime1">
              <a:rPr lang="en-US" smtClean="0"/>
              <a:t>10/6/2025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27187761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1EA44AD-1FB0-4882-B380-D102D5E41B49}" type="datetime1">
              <a:rPr lang="en-US" smtClean="0"/>
              <a:t>10/6/2025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11772652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21FD0E9-BB2A-40F4-9FCA-339953EA9BCB}" type="datetime1">
              <a:rPr lang="en-US" smtClean="0"/>
              <a:t>10/6/2025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9253263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79"/>
            <a:ext cx="4032505" cy="3621024"/>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422392" y="640715"/>
            <a:ext cx="5968098" cy="5719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82DCE86-7B4C-43EC-801D-4B957536C306}" type="datetime1">
              <a:rPr lang="en-US" smtClean="0"/>
              <a:t>10/6/2025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6141535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25696" y="640080"/>
            <a:ext cx="715975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FD3FCD9-BE24-4676-9D2E-63D9ED82EDA2}" type="datetime1">
              <a:rPr lang="en-US" smtClean="0"/>
              <a:t>10/6/2025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9971996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1CA290A-121B-47D5-B4CD-63E70D76A5D5}" type="datetime1">
              <a:rPr lang="en-US" smtClean="0"/>
              <a:t>10/6/2025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1541887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CE823DF8-AABE-3B17-254E-81CD7CA2B5BF}"/>
              </a:ext>
            </a:extLst>
          </p:cNvPr>
          <p:cNvSpPr>
            <a:spLocks noGrp="1"/>
          </p:cNvSpPr>
          <p:nvPr>
            <p:ph type="pic" sz="quarter" idx="15"/>
          </p:nvPr>
        </p:nvSpPr>
        <p:spPr>
          <a:xfrm>
            <a:off x="5737594" y="0"/>
            <a:ext cx="6454406" cy="6399152"/>
          </a:xfrm>
          <a:custGeom>
            <a:avLst/>
            <a:gdLst>
              <a:gd name="connsiteX0" fmla="*/ 0 w 6454406"/>
              <a:gd name="connsiteY0" fmla="*/ 0 h 6399152"/>
              <a:gd name="connsiteX1" fmla="*/ 6454406 w 6454406"/>
              <a:gd name="connsiteY1" fmla="*/ 0 h 6399152"/>
              <a:gd name="connsiteX2" fmla="*/ 6454406 w 6454406"/>
              <a:gd name="connsiteY2" fmla="*/ 6399152 h 6399152"/>
              <a:gd name="connsiteX3" fmla="*/ 601995 w 6454406"/>
              <a:gd name="connsiteY3" fmla="*/ 6399152 h 6399152"/>
              <a:gd name="connsiteX4" fmla="*/ 0 w 6454406"/>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6" h="6399152">
                <a:moveTo>
                  <a:pt x="0" y="0"/>
                </a:moveTo>
                <a:lnTo>
                  <a:pt x="6454406" y="0"/>
                </a:lnTo>
                <a:lnTo>
                  <a:pt x="6454406"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60A58D8-7EDF-40A6-A98C-8CBDF59A319E}" type="datetime1">
              <a:rPr lang="en-US" smtClean="0"/>
              <a:t>10/6/2025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42615533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6F26914B-7405-10AB-A859-8165D7B1A93C}"/>
              </a:ext>
            </a:extLst>
          </p:cNvPr>
          <p:cNvSpPr>
            <a:spLocks noGrp="1"/>
          </p:cNvSpPr>
          <p:nvPr>
            <p:ph type="pic" sz="quarter" idx="15"/>
          </p:nvPr>
        </p:nvSpPr>
        <p:spPr>
          <a:xfrm>
            <a:off x="0" y="1"/>
            <a:ext cx="6591300" cy="6410303"/>
          </a:xfrm>
          <a:custGeom>
            <a:avLst/>
            <a:gdLst>
              <a:gd name="connsiteX0" fmla="*/ 0 w 6591300"/>
              <a:gd name="connsiteY0" fmla="*/ 0 h 6410303"/>
              <a:gd name="connsiteX1" fmla="*/ 6591300 w 6591300"/>
              <a:gd name="connsiteY1" fmla="*/ 0 h 6410303"/>
              <a:gd name="connsiteX2" fmla="*/ 6591300 w 6591300"/>
              <a:gd name="connsiteY2" fmla="*/ 5807073 h 6410303"/>
              <a:gd name="connsiteX3" fmla="*/ 5988070 w 6591300"/>
              <a:gd name="connsiteY3" fmla="*/ 6410303 h 6410303"/>
              <a:gd name="connsiteX4" fmla="*/ 0 w 6591300"/>
              <a:gd name="connsiteY4" fmla="*/ 6410303 h 64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410303">
                <a:moveTo>
                  <a:pt x="0" y="0"/>
                </a:moveTo>
                <a:lnTo>
                  <a:pt x="6591300" y="0"/>
                </a:lnTo>
                <a:lnTo>
                  <a:pt x="6591300" y="5807073"/>
                </a:lnTo>
                <a:cubicBezTo>
                  <a:pt x="6591300" y="6140228"/>
                  <a:pt x="6321225" y="6410303"/>
                  <a:pt x="5988070" y="6410303"/>
                </a:cubicBezTo>
                <a:lnTo>
                  <a:pt x="0" y="6410303"/>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6DF7C3E-B5DF-4043-B2F9-CD94B277B81B}" type="datetime1">
              <a:rPr lang="en-US" smtClean="0"/>
              <a:t>10/6/2025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2431132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58FA1BA0-D099-705F-F85E-3FBC782F7651}"/>
              </a:ext>
            </a:extLst>
          </p:cNvPr>
          <p:cNvSpPr>
            <a:spLocks noGrp="1"/>
          </p:cNvSpPr>
          <p:nvPr>
            <p:ph type="pic" sz="quarter" idx="15"/>
          </p:nvPr>
        </p:nvSpPr>
        <p:spPr>
          <a:xfrm>
            <a:off x="4502843" y="2"/>
            <a:ext cx="7689157" cy="6399151"/>
          </a:xfrm>
          <a:custGeom>
            <a:avLst/>
            <a:gdLst>
              <a:gd name="connsiteX0" fmla="*/ 0 w 7689157"/>
              <a:gd name="connsiteY0" fmla="*/ 0 h 6399151"/>
              <a:gd name="connsiteX1" fmla="*/ 7689157 w 7689157"/>
              <a:gd name="connsiteY1" fmla="*/ 0 h 6399151"/>
              <a:gd name="connsiteX2" fmla="*/ 7689157 w 7689157"/>
              <a:gd name="connsiteY2" fmla="*/ 6399151 h 6399151"/>
              <a:gd name="connsiteX3" fmla="*/ 601997 w 7689157"/>
              <a:gd name="connsiteY3" fmla="*/ 6399151 h 6399151"/>
              <a:gd name="connsiteX4" fmla="*/ 0 w 7689157"/>
              <a:gd name="connsiteY4" fmla="*/ 5797155 h 639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1">
                <a:moveTo>
                  <a:pt x="0" y="0"/>
                </a:moveTo>
                <a:lnTo>
                  <a:pt x="7689157" y="0"/>
                </a:lnTo>
                <a:lnTo>
                  <a:pt x="7689157" y="6399151"/>
                </a:lnTo>
                <a:lnTo>
                  <a:pt x="601997" y="6399151"/>
                </a:lnTo>
                <a:cubicBezTo>
                  <a:pt x="269523" y="6399151"/>
                  <a:pt x="0" y="6129628"/>
                  <a:pt x="0" y="5797155"/>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84F04B89-F088-43E2-8F95-5A2E5E9F612E}" type="datetime1">
              <a:rPr lang="en-US" smtClean="0"/>
              <a:t>10/6/2025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7629974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F44EE1A0-D83B-FE6C-4495-F55C5070D5D1}"/>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A0FCFF8D-E3E3-4D6C-85D1-1D24204FD961}" type="datetime1">
              <a:rPr lang="en-US" smtClean="0"/>
              <a:t>10/6/2025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12406325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0696DEB7-ADC8-3E90-7A63-F11D6535D0E4}"/>
              </a:ext>
            </a:extLst>
          </p:cNvPr>
          <p:cNvSpPr>
            <a:spLocks noGrp="1"/>
          </p:cNvSpPr>
          <p:nvPr>
            <p:ph type="pic" sz="quarter" idx="15"/>
          </p:nvPr>
        </p:nvSpPr>
        <p:spPr>
          <a:xfrm>
            <a:off x="0" y="0"/>
            <a:ext cx="11750040" cy="3806246"/>
          </a:xfrm>
          <a:custGeom>
            <a:avLst/>
            <a:gdLst>
              <a:gd name="connsiteX0" fmla="*/ 0 w 11733150"/>
              <a:gd name="connsiteY0" fmla="*/ 0 h 3806246"/>
              <a:gd name="connsiteX1" fmla="*/ 11733150 w 11733150"/>
              <a:gd name="connsiteY1" fmla="*/ 0 h 3806246"/>
              <a:gd name="connsiteX2" fmla="*/ 11733150 w 11733150"/>
              <a:gd name="connsiteY2" fmla="*/ 3204250 h 3806246"/>
              <a:gd name="connsiteX3" fmla="*/ 11131154 w 11733150"/>
              <a:gd name="connsiteY3" fmla="*/ 3806246 h 3806246"/>
              <a:gd name="connsiteX4" fmla="*/ 0 w 11733150"/>
              <a:gd name="connsiteY4" fmla="*/ 3806246 h 3806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3806246">
                <a:moveTo>
                  <a:pt x="0" y="0"/>
                </a:moveTo>
                <a:lnTo>
                  <a:pt x="11733150" y="0"/>
                </a:lnTo>
                <a:lnTo>
                  <a:pt x="11733150" y="3204250"/>
                </a:lnTo>
                <a:cubicBezTo>
                  <a:pt x="11733150" y="3536723"/>
                  <a:pt x="11463627" y="3806246"/>
                  <a:pt x="11131154" y="3806246"/>
                </a:cubicBezTo>
                <a:lnTo>
                  <a:pt x="0" y="380624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479AD81-0F74-4052-9D15-1FCBE10FF531}" type="datetime1">
              <a:rPr lang="en-US" smtClean="0"/>
              <a:t>10/6/2025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5382156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20558516-7088-BB33-D6DC-15ED4C60CBAF}"/>
              </a:ext>
            </a:extLst>
          </p:cNvPr>
          <p:cNvSpPr>
            <a:spLocks noGrp="1"/>
          </p:cNvSpPr>
          <p:nvPr>
            <p:ph type="pic" sz="quarter" idx="15"/>
          </p:nvPr>
        </p:nvSpPr>
        <p:spPr>
          <a:xfrm>
            <a:off x="441960" y="3067414"/>
            <a:ext cx="11750040" cy="3790586"/>
          </a:xfrm>
          <a:custGeom>
            <a:avLst/>
            <a:gdLst>
              <a:gd name="connsiteX0" fmla="*/ 603695 w 11750040"/>
              <a:gd name="connsiteY0" fmla="*/ 0 h 3790586"/>
              <a:gd name="connsiteX1" fmla="*/ 11750040 w 11750040"/>
              <a:gd name="connsiteY1" fmla="*/ 0 h 3790586"/>
              <a:gd name="connsiteX2" fmla="*/ 11750040 w 11750040"/>
              <a:gd name="connsiteY2" fmla="*/ 3790586 h 3790586"/>
              <a:gd name="connsiteX3" fmla="*/ 0 w 11750040"/>
              <a:gd name="connsiteY3" fmla="*/ 3790586 h 3790586"/>
              <a:gd name="connsiteX4" fmla="*/ 0 w 11750040"/>
              <a:gd name="connsiteY4" fmla="*/ 603695 h 3790586"/>
              <a:gd name="connsiteX5" fmla="*/ 603695 w 11750040"/>
              <a:gd name="connsiteY5" fmla="*/ 0 h 37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50040" h="3790586">
                <a:moveTo>
                  <a:pt x="603695" y="0"/>
                </a:moveTo>
                <a:lnTo>
                  <a:pt x="11750040" y="0"/>
                </a:lnTo>
                <a:lnTo>
                  <a:pt x="11750040" y="3790586"/>
                </a:lnTo>
                <a:lnTo>
                  <a:pt x="0" y="3790586"/>
                </a:lnTo>
                <a:lnTo>
                  <a:pt x="0" y="603695"/>
                </a:lnTo>
                <a:cubicBezTo>
                  <a:pt x="0" y="270283"/>
                  <a:pt x="270283" y="0"/>
                  <a:pt x="603695" y="0"/>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40460"/>
            <a:ext cx="3494314" cy="338328"/>
          </a:xfrm>
        </p:spPr>
        <p:txBody>
          <a:bodyPr/>
          <a:lstStyle/>
          <a:p>
            <a:fld id="{58567813-D47B-4BA9-A366-45E7794B6608}" type="datetime1">
              <a:rPr lang="en-US" smtClean="0"/>
              <a:t>10/6/2025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40460"/>
            <a:ext cx="2805405"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40460"/>
            <a:ext cx="429207" cy="338328"/>
          </a:xfrm>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174055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8073E866-A871-62F7-1E54-F2A44278F834}"/>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285750" indent="-285750">
              <a:buFont typeface="Arial" panose="020B0604020202020204" pitchFamily="34" charset="0"/>
              <a:buChar char="•"/>
              <a:defRPr sz="1600"/>
            </a:lvl1pPr>
            <a:lvl2pPr marL="514350" indent="-285750">
              <a:buFont typeface="Arial" panose="020B0604020202020204" pitchFamily="34" charset="0"/>
              <a:buChar char="•"/>
              <a:defRPr sz="1400"/>
            </a:lvl2pPr>
            <a:lvl3pPr marL="628650" indent="-171450">
              <a:buFont typeface="Arial" panose="020B0604020202020204" pitchFamily="34" charset="0"/>
              <a:buChar char="•"/>
              <a:defRPr sz="1200"/>
            </a:lvl3pPr>
            <a:lvl4pPr marL="857250" indent="-171450">
              <a:buFont typeface="Arial" panose="020B0604020202020204" pitchFamily="34" charset="0"/>
              <a:buChar char="•"/>
              <a:defRPr sz="1100"/>
            </a:lvl4pPr>
            <a:lvl5pPr marL="1085850" indent="-171450">
              <a:buFont typeface="Arial" panose="020B0604020202020204" pitchFamily="34" charset="0"/>
              <a:buChar char="•"/>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3C75A4F-7395-44C0-9A76-83F0F6EA512A}" type="datetime1">
              <a:rPr lang="en-US" smtClean="0"/>
              <a:t>10/6/2025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1299538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111854"/>
            <a:ext cx="3945468" cy="138988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584372" y="5111854"/>
            <a:ext cx="6168356" cy="1389888"/>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8">
            <a:extLst>
              <a:ext uri="{FF2B5EF4-FFF2-40B4-BE49-F238E27FC236}">
                <a16:creationId xmlns:a16="http://schemas.microsoft.com/office/drawing/2014/main" id="{815B30A2-D0D1-DED2-1133-A673CEA16AE9}"/>
              </a:ext>
            </a:extLst>
          </p:cNvPr>
          <p:cNvSpPr>
            <a:spLocks noGrp="1"/>
          </p:cNvSpPr>
          <p:nvPr>
            <p:ph type="pic" sz="quarter" idx="15"/>
          </p:nvPr>
        </p:nvSpPr>
        <p:spPr>
          <a:xfrm>
            <a:off x="0" y="0"/>
            <a:ext cx="11750040" cy="4724868"/>
          </a:xfrm>
          <a:custGeom>
            <a:avLst/>
            <a:gdLst>
              <a:gd name="connsiteX0" fmla="*/ 0 w 11750040"/>
              <a:gd name="connsiteY0" fmla="*/ 0 h 4724868"/>
              <a:gd name="connsiteX1" fmla="*/ 11750040 w 11750040"/>
              <a:gd name="connsiteY1" fmla="*/ 0 h 4724868"/>
              <a:gd name="connsiteX2" fmla="*/ 11750040 w 11750040"/>
              <a:gd name="connsiteY2" fmla="*/ 4122872 h 4724868"/>
              <a:gd name="connsiteX3" fmla="*/ 11148044 w 11750040"/>
              <a:gd name="connsiteY3" fmla="*/ 4724868 h 4724868"/>
              <a:gd name="connsiteX4" fmla="*/ 0 w 11750040"/>
              <a:gd name="connsiteY4" fmla="*/ 4724868 h 4724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50040" h="4724868">
                <a:moveTo>
                  <a:pt x="0" y="0"/>
                </a:moveTo>
                <a:lnTo>
                  <a:pt x="11750040" y="0"/>
                </a:lnTo>
                <a:lnTo>
                  <a:pt x="11750040" y="4122872"/>
                </a:lnTo>
                <a:cubicBezTo>
                  <a:pt x="11750040" y="4455345"/>
                  <a:pt x="11480517" y="4724868"/>
                  <a:pt x="11148044" y="4724868"/>
                </a:cubicBezTo>
                <a:lnTo>
                  <a:pt x="0" y="4724868"/>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B2EEDCC-520A-464B-900A-5F7E0E1FFC43}" type="datetime1">
              <a:rPr lang="en-US" smtClean="0"/>
              <a:t>10/6/2025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344686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C1AB8ED2-AD91-CB22-5624-BD41AB32529E}"/>
              </a:ext>
            </a:extLst>
          </p:cNvPr>
          <p:cNvSpPr>
            <a:spLocks noGrp="1"/>
          </p:cNvSpPr>
          <p:nvPr>
            <p:ph type="pic" sz="quarter" idx="15"/>
          </p:nvPr>
        </p:nvSpPr>
        <p:spPr>
          <a:xfrm>
            <a:off x="0" y="0"/>
            <a:ext cx="4844052" cy="6399152"/>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6C1D43-E95A-44CE-BF39-AC264176BC74}" type="datetime1">
              <a:rPr lang="en-US" smtClean="0"/>
              <a:t>10/6/2025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9812528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D436AA50-FCF9-9A32-68F8-A124C794908D}"/>
              </a:ext>
            </a:extLst>
          </p:cNvPr>
          <p:cNvSpPr>
            <a:spLocks noGrp="1"/>
          </p:cNvSpPr>
          <p:nvPr>
            <p:ph type="pic" sz="quarter" idx="15"/>
          </p:nvPr>
        </p:nvSpPr>
        <p:spPr>
          <a:xfrm>
            <a:off x="7353304" y="0"/>
            <a:ext cx="4838696" cy="6399152"/>
          </a:xfrm>
          <a:custGeom>
            <a:avLst/>
            <a:gdLst>
              <a:gd name="connsiteX0" fmla="*/ 0 w 4838696"/>
              <a:gd name="connsiteY0" fmla="*/ 0 h 6399152"/>
              <a:gd name="connsiteX1" fmla="*/ 4838696 w 4838696"/>
              <a:gd name="connsiteY1" fmla="*/ 0 h 6399152"/>
              <a:gd name="connsiteX2" fmla="*/ 4838696 w 4838696"/>
              <a:gd name="connsiteY2" fmla="*/ 6399152 h 6399152"/>
              <a:gd name="connsiteX3" fmla="*/ 603230 w 4838696"/>
              <a:gd name="connsiteY3" fmla="*/ 6399152 h 6399152"/>
              <a:gd name="connsiteX4" fmla="*/ 0 w 4838696"/>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8696" h="6399152">
                <a:moveTo>
                  <a:pt x="0" y="0"/>
                </a:moveTo>
                <a:lnTo>
                  <a:pt x="4838696" y="0"/>
                </a:lnTo>
                <a:lnTo>
                  <a:pt x="4838696"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F84395D-714C-468A-B505-16E3BDC41D6C}" type="datetime1">
              <a:rPr lang="en-US" smtClean="0"/>
              <a:t>10/6/2025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42721068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a:t>Click to edit Master title style</a:t>
            </a:r>
          </a:p>
        </p:txBody>
      </p:sp>
      <p:sp>
        <p:nvSpPr>
          <p:cNvPr id="11" name="Picture Placeholder 9">
            <a:extLst>
              <a:ext uri="{FF2B5EF4-FFF2-40B4-BE49-F238E27FC236}">
                <a16:creationId xmlns:a16="http://schemas.microsoft.com/office/drawing/2014/main" id="{6B8A8E1B-B99E-8C69-154E-2FAADB07D510}"/>
              </a:ext>
            </a:extLst>
          </p:cNvPr>
          <p:cNvSpPr>
            <a:spLocks noGrp="1"/>
          </p:cNvSpPr>
          <p:nvPr>
            <p:ph type="pic" sz="quarter" idx="15"/>
          </p:nvPr>
        </p:nvSpPr>
        <p:spPr>
          <a:xfrm>
            <a:off x="0" y="0"/>
            <a:ext cx="6591300" cy="6399152"/>
          </a:xfrm>
          <a:custGeom>
            <a:avLst/>
            <a:gdLst>
              <a:gd name="connsiteX0" fmla="*/ 0 w 6591300"/>
              <a:gd name="connsiteY0" fmla="*/ 0 h 6399152"/>
              <a:gd name="connsiteX1" fmla="*/ 6591300 w 6591300"/>
              <a:gd name="connsiteY1" fmla="*/ 0 h 6399152"/>
              <a:gd name="connsiteX2" fmla="*/ 6591300 w 6591300"/>
              <a:gd name="connsiteY2" fmla="*/ 5797156 h 6399152"/>
              <a:gd name="connsiteX3" fmla="*/ 5989304 w 6591300"/>
              <a:gd name="connsiteY3" fmla="*/ 6399152 h 6399152"/>
              <a:gd name="connsiteX4" fmla="*/ 0 w 6591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399152">
                <a:moveTo>
                  <a:pt x="0" y="0"/>
                </a:moveTo>
                <a:lnTo>
                  <a:pt x="6591300" y="0"/>
                </a:lnTo>
                <a:lnTo>
                  <a:pt x="6591300" y="5797156"/>
                </a:lnTo>
                <a:cubicBezTo>
                  <a:pt x="6591300" y="6129629"/>
                  <a:pt x="6321777" y="6399152"/>
                  <a:pt x="5989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009D615-5030-44BE-B1E7-FCAF557FFC34}" type="datetime1">
              <a:rPr lang="en-US" smtClean="0"/>
              <a:t>10/6/2025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23455776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BD82EEA-7278-1A73-C95C-473F75B54048}"/>
              </a:ext>
            </a:extLst>
          </p:cNvPr>
          <p:cNvSpPr>
            <a:spLocks noGrp="1"/>
          </p:cNvSpPr>
          <p:nvPr>
            <p:ph type="pic" sz="quarter" idx="15"/>
          </p:nvPr>
        </p:nvSpPr>
        <p:spPr>
          <a:xfrm>
            <a:off x="5737593" y="0"/>
            <a:ext cx="6454407" cy="6399152"/>
          </a:xfrm>
          <a:custGeom>
            <a:avLst/>
            <a:gdLst>
              <a:gd name="connsiteX0" fmla="*/ 0 w 6454407"/>
              <a:gd name="connsiteY0" fmla="*/ 0 h 6399152"/>
              <a:gd name="connsiteX1" fmla="*/ 6454407 w 6454407"/>
              <a:gd name="connsiteY1" fmla="*/ 0 h 6399152"/>
              <a:gd name="connsiteX2" fmla="*/ 6454407 w 6454407"/>
              <a:gd name="connsiteY2" fmla="*/ 6399152 h 6399152"/>
              <a:gd name="connsiteX3" fmla="*/ 601996 w 6454407"/>
              <a:gd name="connsiteY3" fmla="*/ 6399152 h 6399152"/>
              <a:gd name="connsiteX4" fmla="*/ 0 w 6454407"/>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7" h="6399152">
                <a:moveTo>
                  <a:pt x="0" y="0"/>
                </a:moveTo>
                <a:lnTo>
                  <a:pt x="6454407" y="0"/>
                </a:lnTo>
                <a:lnTo>
                  <a:pt x="6454407"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65D8DDD-BB5E-4F5B-81F2-5E5F98B403C0}" type="datetime1">
              <a:rPr lang="en-US" smtClean="0"/>
              <a:t>10/6/2025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6068775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11155680" cy="970463"/>
          </a:xfrm>
        </p:spPr>
        <p:txBody>
          <a:bodyPr anchor="ctr"/>
          <a:lstStyle/>
          <a:p>
            <a:r>
              <a:rPr lang="en-US"/>
              <a:t>Click to edit Master title style</a:t>
            </a:r>
          </a:p>
        </p:txBody>
      </p:sp>
      <p:sp>
        <p:nvSpPr>
          <p:cNvPr id="9" name="Picture Placeholder 8">
            <a:extLst>
              <a:ext uri="{FF2B5EF4-FFF2-40B4-BE49-F238E27FC236}">
                <a16:creationId xmlns:a16="http://schemas.microsoft.com/office/drawing/2014/main" id="{19C22D85-D675-737B-9F54-B9D7FC819199}"/>
              </a:ext>
            </a:extLst>
          </p:cNvPr>
          <p:cNvSpPr>
            <a:spLocks noGrp="1"/>
          </p:cNvSpPr>
          <p:nvPr>
            <p:ph type="pic" sz="quarter" idx="15"/>
          </p:nvPr>
        </p:nvSpPr>
        <p:spPr>
          <a:xfrm>
            <a:off x="0" y="1828800"/>
            <a:ext cx="6707699" cy="5029200"/>
          </a:xfrm>
          <a:custGeom>
            <a:avLst/>
            <a:gdLst>
              <a:gd name="connsiteX0" fmla="*/ 0 w 6707699"/>
              <a:gd name="connsiteY0" fmla="*/ 0 h 5029200"/>
              <a:gd name="connsiteX1" fmla="*/ 6129259 w 6707699"/>
              <a:gd name="connsiteY1" fmla="*/ 0 h 5029200"/>
              <a:gd name="connsiteX2" fmla="*/ 6707699 w 6707699"/>
              <a:gd name="connsiteY2" fmla="*/ 578440 h 5029200"/>
              <a:gd name="connsiteX3" fmla="*/ 6707699 w 6707699"/>
              <a:gd name="connsiteY3" fmla="*/ 5029200 h 5029200"/>
              <a:gd name="connsiteX4" fmla="*/ 0 w 6707699"/>
              <a:gd name="connsiteY4" fmla="*/ 5029200 h 502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7699" h="5029200">
                <a:moveTo>
                  <a:pt x="0" y="0"/>
                </a:moveTo>
                <a:lnTo>
                  <a:pt x="6129259" y="0"/>
                </a:lnTo>
                <a:cubicBezTo>
                  <a:pt x="6448723" y="0"/>
                  <a:pt x="6707699" y="258976"/>
                  <a:pt x="6707699" y="578440"/>
                </a:cubicBezTo>
                <a:lnTo>
                  <a:pt x="6707699" y="5029200"/>
                </a:lnTo>
                <a:lnTo>
                  <a:pt x="0" y="5029200"/>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89302" y="1828800"/>
            <a:ext cx="4196146" cy="4503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89302" y="6492240"/>
            <a:ext cx="1280160" cy="338328"/>
          </a:xfrm>
        </p:spPr>
        <p:txBody>
          <a:bodyPr/>
          <a:lstStyle/>
          <a:p>
            <a:fld id="{083588C5-4E32-4E6E-80AB-32A6125C957F}" type="datetime1">
              <a:rPr lang="en-US" smtClean="0"/>
              <a:t>10/6/2025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9462" y="6492240"/>
            <a:ext cx="2888554"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21668224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1B32E518-8213-A79A-7E36-BA4D782F8ED4}"/>
              </a:ext>
            </a:extLst>
          </p:cNvPr>
          <p:cNvSpPr>
            <a:spLocks noGrp="1"/>
          </p:cNvSpPr>
          <p:nvPr>
            <p:ph type="pic" sz="quarter" idx="15"/>
          </p:nvPr>
        </p:nvSpPr>
        <p:spPr>
          <a:xfrm>
            <a:off x="0" y="0"/>
            <a:ext cx="4147926" cy="6399152"/>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37EAFE-6A88-4B1F-9ABC-CA3CFB830DD6}" type="datetime1">
              <a:rPr lang="en-US" smtClean="0"/>
              <a:t>10/6/2025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4367667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2444857-0BC3-ACAE-DBB1-5D530AA35ED8}"/>
              </a:ext>
            </a:extLst>
          </p:cNvPr>
          <p:cNvSpPr>
            <a:spLocks noGrp="1"/>
          </p:cNvSpPr>
          <p:nvPr>
            <p:ph type="pic" sz="quarter" idx="15"/>
          </p:nvPr>
        </p:nvSpPr>
        <p:spPr>
          <a:xfrm>
            <a:off x="8046768" y="0"/>
            <a:ext cx="4145232" cy="6399152"/>
          </a:xfrm>
          <a:custGeom>
            <a:avLst/>
            <a:gdLst>
              <a:gd name="connsiteX0" fmla="*/ 0 w 4145232"/>
              <a:gd name="connsiteY0" fmla="*/ 0 h 6399152"/>
              <a:gd name="connsiteX1" fmla="*/ 4145232 w 4145232"/>
              <a:gd name="connsiteY1" fmla="*/ 0 h 6399152"/>
              <a:gd name="connsiteX2" fmla="*/ 4145232 w 4145232"/>
              <a:gd name="connsiteY2" fmla="*/ 6399152 h 6399152"/>
              <a:gd name="connsiteX3" fmla="*/ 603230 w 4145232"/>
              <a:gd name="connsiteY3" fmla="*/ 6399152 h 6399152"/>
              <a:gd name="connsiteX4" fmla="*/ 0 w 4145232"/>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32" h="6399152">
                <a:moveTo>
                  <a:pt x="0" y="0"/>
                </a:moveTo>
                <a:lnTo>
                  <a:pt x="4145232" y="0"/>
                </a:lnTo>
                <a:lnTo>
                  <a:pt x="4145232"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F70683-5F2F-44F3-8B59-45258C4FD45A}" type="datetime1">
              <a:rPr lang="en-US" smtClean="0"/>
              <a:t>10/6/2025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1630389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11" name="Picture Placeholder 8">
            <a:extLst>
              <a:ext uri="{FF2B5EF4-FFF2-40B4-BE49-F238E27FC236}">
                <a16:creationId xmlns:a16="http://schemas.microsoft.com/office/drawing/2014/main" id="{C202BC3A-8633-9F03-1586-99447DA1CFF3}"/>
              </a:ext>
            </a:extLst>
          </p:cNvPr>
          <p:cNvSpPr>
            <a:spLocks noGrp="1"/>
          </p:cNvSpPr>
          <p:nvPr>
            <p:ph type="pic" sz="quarter" idx="15"/>
          </p:nvPr>
        </p:nvSpPr>
        <p:spPr>
          <a:xfrm>
            <a:off x="0" y="2293496"/>
            <a:ext cx="5285232" cy="4564504"/>
          </a:xfrm>
          <a:custGeom>
            <a:avLst/>
            <a:gdLst>
              <a:gd name="connsiteX0" fmla="*/ 0 w 5285232"/>
              <a:gd name="connsiteY0" fmla="*/ 0 h 4564504"/>
              <a:gd name="connsiteX1" fmla="*/ 4706792 w 5285232"/>
              <a:gd name="connsiteY1" fmla="*/ 0 h 4564504"/>
              <a:gd name="connsiteX2" fmla="*/ 5285232 w 5285232"/>
              <a:gd name="connsiteY2" fmla="*/ 578440 h 4564504"/>
              <a:gd name="connsiteX3" fmla="*/ 5285232 w 5285232"/>
              <a:gd name="connsiteY3" fmla="*/ 4564504 h 4564504"/>
              <a:gd name="connsiteX4" fmla="*/ 0 w 5285232"/>
              <a:gd name="connsiteY4" fmla="*/ 4564504 h 4564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232" h="4564504">
                <a:moveTo>
                  <a:pt x="0" y="0"/>
                </a:moveTo>
                <a:lnTo>
                  <a:pt x="4706792" y="0"/>
                </a:lnTo>
                <a:cubicBezTo>
                  <a:pt x="5026256" y="0"/>
                  <a:pt x="5285232" y="258976"/>
                  <a:pt x="5285232" y="578440"/>
                </a:cubicBezTo>
                <a:lnTo>
                  <a:pt x="5285232" y="4564504"/>
                </a:lnTo>
                <a:lnTo>
                  <a:pt x="0" y="45645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492240"/>
            <a:ext cx="2651760" cy="338328"/>
          </a:xfrm>
        </p:spPr>
        <p:txBody>
          <a:bodyPr/>
          <a:lstStyle/>
          <a:p>
            <a:fld id="{813EDC87-0EBE-4D2E-8804-E5F0EDA0B797}" type="datetime1">
              <a:rPr lang="en-US" smtClean="0"/>
              <a:t>10/6/2025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42850762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a:t>Click to edit Master title style</a:t>
            </a:r>
          </a:p>
        </p:txBody>
      </p:sp>
      <p:sp>
        <p:nvSpPr>
          <p:cNvPr id="10" name="Picture Placeholder 8">
            <a:extLst>
              <a:ext uri="{FF2B5EF4-FFF2-40B4-BE49-F238E27FC236}">
                <a16:creationId xmlns:a16="http://schemas.microsoft.com/office/drawing/2014/main" id="{E211327B-3880-6494-1C8F-EEE1BF913B81}"/>
              </a:ext>
            </a:extLst>
          </p:cNvPr>
          <p:cNvSpPr>
            <a:spLocks noGrp="1"/>
          </p:cNvSpPr>
          <p:nvPr>
            <p:ph type="pic" sz="quarter" idx="15"/>
          </p:nvPr>
        </p:nvSpPr>
        <p:spPr>
          <a:xfrm>
            <a:off x="0" y="2293494"/>
            <a:ext cx="4176819" cy="4564506"/>
          </a:xfrm>
          <a:custGeom>
            <a:avLst/>
            <a:gdLst>
              <a:gd name="connsiteX0" fmla="*/ 0 w 4176819"/>
              <a:gd name="connsiteY0" fmla="*/ 0 h 4564506"/>
              <a:gd name="connsiteX1" fmla="*/ 3598379 w 4176819"/>
              <a:gd name="connsiteY1" fmla="*/ 0 h 4564506"/>
              <a:gd name="connsiteX2" fmla="*/ 4176819 w 4176819"/>
              <a:gd name="connsiteY2" fmla="*/ 578440 h 4564506"/>
              <a:gd name="connsiteX3" fmla="*/ 4176819 w 4176819"/>
              <a:gd name="connsiteY3" fmla="*/ 4564506 h 4564506"/>
              <a:gd name="connsiteX4" fmla="*/ 0 w 4176819"/>
              <a:gd name="connsiteY4" fmla="*/ 4564506 h 456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6819" h="4564506">
                <a:moveTo>
                  <a:pt x="0" y="0"/>
                </a:moveTo>
                <a:lnTo>
                  <a:pt x="3598379" y="0"/>
                </a:lnTo>
                <a:cubicBezTo>
                  <a:pt x="3917843" y="0"/>
                  <a:pt x="4176819" y="258976"/>
                  <a:pt x="4176819" y="578440"/>
                </a:cubicBezTo>
                <a:lnTo>
                  <a:pt x="4176819" y="4564506"/>
                </a:lnTo>
                <a:lnTo>
                  <a:pt x="0" y="456450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115073" y="6492240"/>
            <a:ext cx="2843784" cy="338328"/>
          </a:xfrm>
        </p:spPr>
        <p:txBody>
          <a:bodyPr/>
          <a:lstStyle/>
          <a:p>
            <a:fld id="{51CF56A9-FD41-47F4-80A0-DA74EEEC2541}" type="datetime1">
              <a:rPr lang="en-US" smtClean="0"/>
              <a:t>10/6/2025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50462399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 Numbe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603504"/>
            <a:ext cx="11201400" cy="4206240"/>
          </a:xfrm>
        </p:spPr>
        <p:txBody>
          <a:bodyPr>
            <a:normAutofit/>
          </a:bodyPr>
          <a:lstStyle>
            <a:lvl1pPr algn="ctr">
              <a:defRPr sz="27800"/>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A4CBD270-9BF1-4C68-A7FA-BA016D8BB959}" type="datetime1">
              <a:rPr lang="en-US" smtClean="0"/>
              <a:t>10/6/2025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‹N°›</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1389888" y="4809744"/>
            <a:ext cx="9345168" cy="1225296"/>
          </a:xfrm>
        </p:spPr>
        <p:txBody>
          <a:bodyPr>
            <a:normAutofit/>
          </a:bodyPr>
          <a:lstStyle>
            <a:lvl1pPr marL="0" indent="0" algn="ctr">
              <a:buNone/>
              <a:defRPr sz="2800" cap="all" baseline="0"/>
            </a:lvl1pPr>
            <a:lvl2pPr marL="228600" indent="0" algn="ctr">
              <a:buNone/>
              <a:defRPr sz="2400" cap="all" baseline="0"/>
            </a:lvl2pPr>
            <a:lvl3pPr marL="457200" indent="0" algn="ctr">
              <a:buNone/>
              <a:defRPr sz="2000" cap="all" baseline="0"/>
            </a:lvl3pPr>
            <a:lvl4pPr marL="685800" indent="0" algn="ctr">
              <a:buNone/>
              <a:defRPr sz="1800" cap="all" baseline="0"/>
            </a:lvl4pPr>
            <a:lvl5pPr marL="914400" indent="0" algn="ctr">
              <a:buNone/>
              <a:defRPr sz="1600" cap="all"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8367798"/>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E023AFB7-90A6-428C-A019-BBE6272496B8}" type="datetime1">
              <a:rPr lang="en-US" smtClean="0"/>
              <a:t>10/6/2025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‹N°›</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490472"/>
          </a:xfrm>
        </p:spPr>
        <p:txBody>
          <a:bodyP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6845203"/>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193DB7D-955F-21DF-15DA-4285375617FC}"/>
              </a:ext>
            </a:extLst>
          </p:cNvPr>
          <p:cNvSpPr/>
          <p:nvPr userDrawn="1"/>
        </p:nvSpPr>
        <p:spPr>
          <a:xfrm>
            <a:off x="1" y="4783948"/>
            <a:ext cx="11762231" cy="2074052"/>
          </a:xfrm>
          <a:custGeom>
            <a:avLst/>
            <a:gdLst>
              <a:gd name="connsiteX0" fmla="*/ 0 w 11762231"/>
              <a:gd name="connsiteY0" fmla="*/ 0 h 2074052"/>
              <a:gd name="connsiteX1" fmla="*/ 112775 w 11762231"/>
              <a:gd name="connsiteY1" fmla="*/ 0 h 2074052"/>
              <a:gd name="connsiteX2" fmla="*/ 11102489 w 11762231"/>
              <a:gd name="connsiteY2" fmla="*/ 0 h 2074052"/>
              <a:gd name="connsiteX3" fmla="*/ 11437005 w 11762231"/>
              <a:gd name="connsiteY3" fmla="*/ 0 h 2074052"/>
              <a:gd name="connsiteX4" fmla="*/ 11762231 w 11762231"/>
              <a:gd name="connsiteY4" fmla="*/ 325226 h 2074052"/>
              <a:gd name="connsiteX5" fmla="*/ 11762231 w 11762231"/>
              <a:gd name="connsiteY5" fmla="*/ 2074052 h 2074052"/>
              <a:gd name="connsiteX6" fmla="*/ 11427715 w 11762231"/>
              <a:gd name="connsiteY6" fmla="*/ 2074052 h 2074052"/>
              <a:gd name="connsiteX7" fmla="*/ 112775 w 11762231"/>
              <a:gd name="connsiteY7" fmla="*/ 2074052 h 2074052"/>
              <a:gd name="connsiteX8" fmla="*/ 0 w 11762231"/>
              <a:gd name="connsiteY8" fmla="*/ 2074052 h 207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62231" h="2074052">
                <a:moveTo>
                  <a:pt x="0" y="0"/>
                </a:moveTo>
                <a:lnTo>
                  <a:pt x="112775" y="0"/>
                </a:lnTo>
                <a:lnTo>
                  <a:pt x="11102489" y="0"/>
                </a:lnTo>
                <a:lnTo>
                  <a:pt x="11437005" y="0"/>
                </a:lnTo>
                <a:cubicBezTo>
                  <a:pt x="11616622" y="0"/>
                  <a:pt x="11762231" y="145609"/>
                  <a:pt x="11762231" y="325226"/>
                </a:cubicBezTo>
                <a:lnTo>
                  <a:pt x="11762231" y="2074052"/>
                </a:lnTo>
                <a:lnTo>
                  <a:pt x="11427715" y="2074052"/>
                </a:lnTo>
                <a:lnTo>
                  <a:pt x="112775" y="2074052"/>
                </a:lnTo>
                <a:lnTo>
                  <a:pt x="0" y="2074052"/>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09E47A9E-7C3C-4663-841E-C89520FA85A3}" type="datetime1">
              <a:rPr lang="en-US" smtClean="0"/>
              <a:t>10/6/2025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a:xfrm>
            <a:off x="8430768" y="6492240"/>
            <a:ext cx="2660904" cy="338328"/>
          </a:xfrm>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a:xfrm>
            <a:off x="11183112" y="6492240"/>
            <a:ext cx="457200" cy="338328"/>
          </a:xfrm>
        </p:spPr>
        <p:txBody>
          <a:bodyPr/>
          <a:lstStyle>
            <a:lvl1pPr>
              <a:defRPr>
                <a:solidFill>
                  <a:schemeClr val="tx1"/>
                </a:solidFill>
              </a:defRPr>
            </a:lvl1pPr>
          </a:lstStyle>
          <a:p>
            <a:fld id="{CC057153-B650-4DEB-B370-79DDCFDCE934}" type="slidenum">
              <a:rPr lang="en-US" smtClean="0"/>
              <a:pPr/>
              <a:t>‹N°›</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589420"/>
          </a:xfrm>
        </p:spPr>
        <p:txBody>
          <a:bodyPr anchor="ct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95668335"/>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2FED8FD-3F8D-425F-9991-7FB6FCCEC5A2}" type="datetime1">
              <a:rPr lang="en-US" smtClean="0"/>
              <a:t>10/6/2025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‹N°›</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013034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860B29AE-EBEF-71CC-AE38-3B2CD14FCA19}"/>
              </a:ext>
            </a:extLst>
          </p:cNvPr>
          <p:cNvSpPr/>
          <p:nvPr userDrawn="1"/>
        </p:nvSpPr>
        <p:spPr>
          <a:xfrm rot="5400000" flipV="1">
            <a:off x="-2566724" y="2566724"/>
            <a:ext cx="6399213" cy="1265765"/>
          </a:xfrm>
          <a:custGeom>
            <a:avLst/>
            <a:gdLst>
              <a:gd name="connsiteX0" fmla="*/ 0 w 6399213"/>
              <a:gd name="connsiteY0" fmla="*/ 0 h 1265765"/>
              <a:gd name="connsiteX1" fmla="*/ 0 w 6399213"/>
              <a:gd name="connsiteY1" fmla="*/ 1265765 h 1265765"/>
              <a:gd name="connsiteX2" fmla="*/ 5982881 w 6399213"/>
              <a:gd name="connsiteY2" fmla="*/ 1265765 h 1265765"/>
              <a:gd name="connsiteX3" fmla="*/ 6399213 w 6399213"/>
              <a:gd name="connsiteY3" fmla="*/ 849433 h 1265765"/>
              <a:gd name="connsiteX4" fmla="*/ 6399213 w 6399213"/>
              <a:gd name="connsiteY4" fmla="*/ 0 h 126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9213" h="1265765">
                <a:moveTo>
                  <a:pt x="0" y="0"/>
                </a:moveTo>
                <a:lnTo>
                  <a:pt x="0" y="1265765"/>
                </a:lnTo>
                <a:lnTo>
                  <a:pt x="5982881" y="1265765"/>
                </a:lnTo>
                <a:cubicBezTo>
                  <a:pt x="6212815" y="1265765"/>
                  <a:pt x="6399213" y="1079367"/>
                  <a:pt x="6399213" y="849433"/>
                </a:cubicBezTo>
                <a:lnTo>
                  <a:pt x="6399213"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D6B3E3-A05B-4311-9C9A-DA8A512CAB97}" type="datetime1">
              <a:rPr lang="en-US" smtClean="0"/>
              <a:t>10/6/2025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‹N°›</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98217" y="630935"/>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8904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1CEC059F-651D-D540-DF60-D6361D9C716B}"/>
              </a:ext>
            </a:extLst>
          </p:cNvPr>
          <p:cNvSpPr/>
          <p:nvPr userDrawn="1"/>
        </p:nvSpPr>
        <p:spPr>
          <a:xfrm flipV="1">
            <a:off x="1" y="6099048"/>
            <a:ext cx="10487111" cy="758952"/>
          </a:xfrm>
          <a:custGeom>
            <a:avLst/>
            <a:gdLst>
              <a:gd name="connsiteX0" fmla="*/ 0 w 10487111"/>
              <a:gd name="connsiteY0" fmla="*/ 758952 h 758952"/>
              <a:gd name="connsiteX1" fmla="*/ 10070779 w 10487111"/>
              <a:gd name="connsiteY1" fmla="*/ 758952 h 758952"/>
              <a:gd name="connsiteX2" fmla="*/ 10487111 w 10487111"/>
              <a:gd name="connsiteY2" fmla="*/ 342620 h 758952"/>
              <a:gd name="connsiteX3" fmla="*/ 10487111 w 10487111"/>
              <a:gd name="connsiteY3" fmla="*/ 0 h 758952"/>
              <a:gd name="connsiteX4" fmla="*/ 0 w 10487111"/>
              <a:gd name="connsiteY4" fmla="*/ 0 h 758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111" h="758952">
                <a:moveTo>
                  <a:pt x="0" y="758952"/>
                </a:moveTo>
                <a:lnTo>
                  <a:pt x="10070779" y="758952"/>
                </a:lnTo>
                <a:cubicBezTo>
                  <a:pt x="10300713" y="758952"/>
                  <a:pt x="10487111" y="572554"/>
                  <a:pt x="10487111" y="342620"/>
                </a:cubicBezTo>
                <a:lnTo>
                  <a:pt x="10487111"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AEFBAE2-1C27-41D0-8DBA-D202F753417F}" type="datetime1">
              <a:rPr lang="en-US" smtClean="0"/>
              <a:t>10/6/2025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068312"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9820656" y="6492240"/>
            <a:ext cx="457200" cy="338328"/>
          </a:xfrm>
        </p:spPr>
        <p:txBody>
          <a:bodyPr/>
          <a:lstStyle/>
          <a:p>
            <a:fld id="{CC057153-B650-4DEB-B370-79DDCFDCE934}" type="slidenum">
              <a:rPr lang="en-US" smtClean="0"/>
              <a:pPr/>
              <a:t>‹N°›</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83464" y="1596767"/>
            <a:ext cx="9537192" cy="4142232"/>
          </a:xfrm>
        </p:spPr>
        <p:txBody>
          <a:bodyPr anchor="b">
            <a:normAutofit/>
          </a:bodyPr>
          <a:lstStyle>
            <a:lvl1pPr marL="0" indent="0">
              <a:lnSpc>
                <a:spcPct val="100000"/>
              </a:lnSpc>
              <a:buNone/>
              <a:defRPr sz="6000" b="1"/>
            </a:lvl1pPr>
            <a:lvl2pPr marL="228600" indent="0">
              <a:lnSpc>
                <a:spcPct val="100000"/>
              </a:lnSpc>
              <a:buNone/>
              <a:defRPr sz="5400" b="1"/>
            </a:lvl2pPr>
            <a:lvl3pPr marL="457200" indent="0">
              <a:lnSpc>
                <a:spcPct val="100000"/>
              </a:lnSpc>
              <a:buNone/>
              <a:defRPr sz="4800" b="1"/>
            </a:lvl3pPr>
            <a:lvl4pPr marL="685800" indent="0">
              <a:lnSpc>
                <a:spcPct val="100000"/>
              </a:lnSpc>
              <a:buNone/>
              <a:defRPr sz="4400" b="1"/>
            </a:lvl4pPr>
            <a:lvl5pPr marL="914400" indent="0">
              <a:lnSpc>
                <a:spcPct val="100000"/>
              </a:lnSpc>
              <a:buNone/>
              <a:defRPr sz="40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03974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524002"/>
            <a:ext cx="9198864" cy="2871216"/>
          </a:xfrm>
        </p:spPr>
        <p:txBody>
          <a:bodyPr anchor="ctr">
            <a:normAutofit/>
          </a:bodyPr>
          <a:lstStyle>
            <a:lvl1pPr>
              <a:lnSpc>
                <a:spcPct val="110000"/>
              </a:lnSpc>
              <a:defRPr sz="40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6A453612-8941-41EA-ABBA-F717A06C8346}" type="datetime1">
              <a:rPr lang="en-US" smtClean="0"/>
              <a:t>10/6/2025</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‹N°›</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376672"/>
            <a:ext cx="9198864" cy="466344"/>
          </a:xfrm>
        </p:spPr>
        <p:txBody>
          <a:bodyPr>
            <a:normAutofit/>
          </a:bodyPr>
          <a:lstStyle>
            <a:lvl1pPr marL="0" indent="0">
              <a:buNone/>
              <a:defRPr sz="2200" b="1" cap="all" baseline="0">
                <a:solidFill>
                  <a:schemeClr val="accent1"/>
                </a:solidFill>
              </a:defRPr>
            </a:lvl1pPr>
            <a:lvl2pPr marL="228600" indent="0">
              <a:buNone/>
              <a:defRPr sz="2000" b="1" cap="all" baseline="0">
                <a:solidFill>
                  <a:schemeClr val="accent1"/>
                </a:solidFill>
              </a:defRPr>
            </a:lvl2pPr>
            <a:lvl3pPr marL="457200" indent="0">
              <a:buNone/>
              <a:defRPr sz="1800" b="1" cap="all" baseline="0">
                <a:solidFill>
                  <a:schemeClr val="accent1"/>
                </a:solidFill>
              </a:defRPr>
            </a:lvl3pPr>
            <a:lvl4pPr marL="685800" indent="0">
              <a:buNone/>
              <a:defRPr sz="1600" b="1" cap="all" baseline="0">
                <a:solidFill>
                  <a:schemeClr val="accent1"/>
                </a:solidFill>
              </a:defRPr>
            </a:lvl4pPr>
            <a:lvl5pPr marL="914400" indent="0">
              <a:buNone/>
              <a:defRPr sz="1400" b="1" cap="all" baseline="0">
                <a:solidFill>
                  <a:schemeClr val="accent1"/>
                </a:solidFill>
              </a:defRPr>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388405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19D41517-889E-CBB7-FD17-C5FECA783B2A}"/>
              </a:ext>
            </a:extLst>
          </p:cNvPr>
          <p:cNvSpPr/>
          <p:nvPr userDrawn="1"/>
        </p:nvSpPr>
        <p:spPr>
          <a:xfrm flipV="1">
            <a:off x="0" y="823828"/>
            <a:ext cx="11385608" cy="6034172"/>
          </a:xfrm>
          <a:custGeom>
            <a:avLst/>
            <a:gdLst>
              <a:gd name="connsiteX0" fmla="*/ 0 w 11385608"/>
              <a:gd name="connsiteY0" fmla="*/ 6034172 h 6034172"/>
              <a:gd name="connsiteX1" fmla="*/ 10969276 w 11385608"/>
              <a:gd name="connsiteY1" fmla="*/ 6034172 h 6034172"/>
              <a:gd name="connsiteX2" fmla="*/ 11385608 w 11385608"/>
              <a:gd name="connsiteY2" fmla="*/ 5617840 h 6034172"/>
              <a:gd name="connsiteX3" fmla="*/ 11385608 w 11385608"/>
              <a:gd name="connsiteY3" fmla="*/ 0 h 6034172"/>
              <a:gd name="connsiteX4" fmla="*/ 0 w 11385608"/>
              <a:gd name="connsiteY4" fmla="*/ 0 h 603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608" h="6034172">
                <a:moveTo>
                  <a:pt x="0" y="6034172"/>
                </a:moveTo>
                <a:lnTo>
                  <a:pt x="10969276" y="6034172"/>
                </a:lnTo>
                <a:cubicBezTo>
                  <a:pt x="11199210" y="6034172"/>
                  <a:pt x="11385608" y="5847774"/>
                  <a:pt x="11385608" y="5617840"/>
                </a:cubicBezTo>
                <a:lnTo>
                  <a:pt x="11385608"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429768" y="1783080"/>
            <a:ext cx="8499079" cy="2249424"/>
          </a:xfrm>
        </p:spPr>
        <p:txBody>
          <a:bodyPr anchor="t">
            <a:normAutofit/>
          </a:bodyPr>
          <a:lstStyle>
            <a:lvl1pPr>
              <a:lnSpc>
                <a:spcPct val="100000"/>
              </a:lnSpc>
              <a:defRPr sz="36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73D6CD22-E4B3-48A1-94CA-B89DB574ED80}" type="datetime1">
              <a:rPr lang="en-US" smtClean="0"/>
              <a:t>10/6/2025</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8669124"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a:xfrm>
            <a:off x="11421468" y="6492240"/>
            <a:ext cx="457200" cy="338328"/>
          </a:xfrm>
        </p:spPr>
        <p:txBody>
          <a:bodyPr/>
          <a:lstStyle/>
          <a:p>
            <a:fld id="{CC057153-B650-4DEB-B370-79DDCFDCE934}" type="slidenum">
              <a:rPr lang="en-US" smtClean="0"/>
              <a:pPr/>
              <a:t>‹N°›</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29768" y="5120640"/>
            <a:ext cx="5431536" cy="1289304"/>
          </a:xfrm>
        </p:spPr>
        <p:txBody>
          <a:bodyPr vert="horz" lIns="91440" tIns="45720" rIns="91440" bIns="45720" rtlCol="0" anchor="ctr">
            <a:normAutofit/>
          </a:bodyPr>
          <a:lstStyle>
            <a:lvl1pPr marL="0" indent="0">
              <a:buNone/>
              <a:defRPr lang="en-US" b="1" cap="all" baseline="0" dirty="0"/>
            </a:lvl1pPr>
            <a:lvl2pPr marL="228600" indent="0">
              <a:buNone/>
              <a:defRPr lang="en-US" b="1" cap="all" baseline="0" dirty="0"/>
            </a:lvl2pPr>
            <a:lvl3pPr marL="457200" indent="0">
              <a:buNone/>
              <a:defRPr lang="en-US" b="1" cap="all" baseline="0" dirty="0"/>
            </a:lvl3pPr>
            <a:lvl4pPr marL="685800" indent="0">
              <a:buNone/>
              <a:defRPr lang="en-US" b="1" cap="all" baseline="0" dirty="0"/>
            </a:lvl4pPr>
            <a:lvl5pPr marL="914400" indent="0">
              <a:buNone/>
              <a:defRPr lang="en-US" b="1" cap="all" baseline="0" dirty="0"/>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907970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rm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7C38B47-093E-417D-A1C3-81EEF797AC69}" type="datetime1">
              <a:rPr lang="en-US" smtClean="0"/>
              <a:t>10/6/2025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811990269"/>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8430768" cy="1842020"/>
          </a:xfrm>
        </p:spPr>
        <p:txBody>
          <a:bodyPr anchor="b">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8430768"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250925D-4314-49E4-A383-289640FEB5E3}" type="datetime1">
              <a:rPr lang="en-US" smtClean="0"/>
              <a:t>10/6/2025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2630764875"/>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a:t>Click to edit Master title style</a:t>
            </a:r>
          </a:p>
        </p:txBody>
      </p:sp>
      <p:sp>
        <p:nvSpPr>
          <p:cNvPr id="9" name="Text Placeholder 8">
            <a:extLst>
              <a:ext uri="{FF2B5EF4-FFF2-40B4-BE49-F238E27FC236}">
                <a16:creationId xmlns:a16="http://schemas.microsoft.com/office/drawing/2014/main" id="{778C515B-8D5A-0268-9044-7B2013C87E02}"/>
              </a:ext>
            </a:extLst>
          </p:cNvPr>
          <p:cNvSpPr>
            <a:spLocks noGrp="1"/>
          </p:cNvSpPr>
          <p:nvPr>
            <p:ph type="body" sz="quarter" idx="13"/>
          </p:nvPr>
        </p:nvSpPr>
        <p:spPr>
          <a:xfrm>
            <a:off x="429767" y="2020825"/>
            <a:ext cx="5212208" cy="42847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13C7061A-8ED7-8B72-BD2B-2DF67F8C7A75}"/>
              </a:ext>
            </a:extLst>
          </p:cNvPr>
          <p:cNvSpPr>
            <a:spLocks noGrp="1"/>
          </p:cNvSpPr>
          <p:nvPr>
            <p:ph type="body" sz="quarter" idx="14"/>
          </p:nvPr>
        </p:nvSpPr>
        <p:spPr>
          <a:xfrm>
            <a:off x="6381622" y="2020822"/>
            <a:ext cx="5212208" cy="42847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E2C59E0-667A-459A-BBD1-70DA72C3C576}" type="datetime1">
              <a:rPr lang="en-US" smtClean="0"/>
              <a:t>10/6/2025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2672070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A211279F-0D05-3637-19CD-29468F4DD2F3}"/>
              </a:ext>
            </a:extLst>
          </p:cNvPr>
          <p:cNvSpPr>
            <a:spLocks noGrp="1"/>
          </p:cNvSpPr>
          <p:nvPr>
            <p:ph type="body" sz="quarter" idx="13"/>
          </p:nvPr>
        </p:nvSpPr>
        <p:spPr>
          <a:xfrm>
            <a:off x="430213" y="2021134"/>
            <a:ext cx="5211762" cy="43431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F1B170DE-636A-B1A9-2EAB-C426DBFB3E51}"/>
              </a:ext>
            </a:extLst>
          </p:cNvPr>
          <p:cNvSpPr>
            <a:spLocks noGrp="1"/>
          </p:cNvSpPr>
          <p:nvPr>
            <p:ph type="body" sz="quarter" idx="14"/>
          </p:nvPr>
        </p:nvSpPr>
        <p:spPr>
          <a:xfrm>
            <a:off x="6381750" y="2020888"/>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06CC00B-2F01-4379-B0FD-8DA094C16FA4}" type="datetime1">
              <a:rPr lang="en-US" smtClean="0"/>
              <a:t>10/6/2025</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196697157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Picture Placeholder 8">
            <a:extLst>
              <a:ext uri="{FF2B5EF4-FFF2-40B4-BE49-F238E27FC236}">
                <a16:creationId xmlns:a16="http://schemas.microsoft.com/office/drawing/2014/main" id="{FA23F0E6-EDAF-3A7F-5EC8-F911E9AE48EF}"/>
              </a:ext>
            </a:extLst>
          </p:cNvPr>
          <p:cNvSpPr>
            <a:spLocks noGrp="1"/>
          </p:cNvSpPr>
          <p:nvPr>
            <p:ph type="pic" sz="quarter" idx="13"/>
          </p:nvPr>
        </p:nvSpPr>
        <p:spPr>
          <a:xfrm>
            <a:off x="4502843" y="0"/>
            <a:ext cx="7689157" cy="6399152"/>
          </a:xfrm>
          <a:custGeom>
            <a:avLst/>
            <a:gdLst>
              <a:gd name="connsiteX0" fmla="*/ 0 w 7689157"/>
              <a:gd name="connsiteY0" fmla="*/ 0 h 6399152"/>
              <a:gd name="connsiteX1" fmla="*/ 7689157 w 7689157"/>
              <a:gd name="connsiteY1" fmla="*/ 0 h 6399152"/>
              <a:gd name="connsiteX2" fmla="*/ 7689157 w 7689157"/>
              <a:gd name="connsiteY2" fmla="*/ 6399152 h 6399152"/>
              <a:gd name="connsiteX3" fmla="*/ 578440 w 7689157"/>
              <a:gd name="connsiteY3" fmla="*/ 6399152 h 6399152"/>
              <a:gd name="connsiteX4" fmla="*/ 0 w 7689157"/>
              <a:gd name="connsiteY4" fmla="*/ 582071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2">
                <a:moveTo>
                  <a:pt x="0" y="0"/>
                </a:moveTo>
                <a:lnTo>
                  <a:pt x="7689157" y="0"/>
                </a:lnTo>
                <a:lnTo>
                  <a:pt x="7689157" y="6399152"/>
                </a:lnTo>
                <a:lnTo>
                  <a:pt x="578440" y="6399152"/>
                </a:lnTo>
                <a:cubicBezTo>
                  <a:pt x="258976" y="6399152"/>
                  <a:pt x="0" y="6140176"/>
                  <a:pt x="0" y="582071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5019F103-9E7C-4D5A-827C-0D2D66EE1CD2}" type="datetime1">
              <a:rPr lang="en-US" smtClean="0"/>
              <a:t>10/6/2025</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001257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31173" y="285210"/>
            <a:ext cx="10653578" cy="9651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31172" y="1384847"/>
            <a:ext cx="10653579" cy="49051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31172" y="6490524"/>
            <a:ext cx="2841959" cy="336141"/>
          </a:xfrm>
          <a:prstGeom prst="rect">
            <a:avLst/>
          </a:prstGeom>
        </p:spPr>
        <p:txBody>
          <a:bodyPr vert="horz" lIns="91440" tIns="45720" rIns="91440" bIns="45720" rtlCol="0" anchor="ctr"/>
          <a:lstStyle>
            <a:lvl1pPr algn="l">
              <a:defRPr sz="800">
                <a:solidFill>
                  <a:schemeClr val="tx1"/>
                </a:solidFill>
              </a:defRPr>
            </a:lvl1pPr>
          </a:lstStyle>
          <a:p>
            <a:fld id="{072E1B28-DB45-4001-B295-7D7933E04419}" type="datetime1">
              <a:rPr lang="en-US" smtClean="0"/>
              <a:t>10/6/2025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93370" y="6490524"/>
            <a:ext cx="2662834" cy="336141"/>
          </a:xfrm>
          <a:prstGeom prst="rect">
            <a:avLst/>
          </a:prstGeom>
        </p:spPr>
        <p:txBody>
          <a:bodyPr vert="horz" lIns="91440" tIns="45720" rIns="91440" bIns="45720" rtlCol="0" anchor="ctr"/>
          <a:lstStyle>
            <a:lvl1pPr algn="r">
              <a:defRPr sz="8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48431" y="6490524"/>
            <a:ext cx="457200" cy="336141"/>
          </a:xfrm>
          <a:prstGeom prst="rect">
            <a:avLst/>
          </a:prstGeom>
        </p:spPr>
        <p:txBody>
          <a:bodyPr vert="horz" lIns="91440" tIns="45720" rIns="91440" bIns="45720" rtlCol="0" anchor="ctr"/>
          <a:lstStyle>
            <a:lvl1pPr algn="r">
              <a:defRPr sz="800">
                <a:solidFill>
                  <a:schemeClr val="tx1"/>
                </a:solidFill>
              </a:defRPr>
            </a:lvl1pPr>
          </a:lstStyle>
          <a:p>
            <a:fld id="{84C450F2-3BB4-4AE4-8A35-A9D7AEA4C850}" type="slidenum">
              <a:rPr lang="en-US" smtClean="0"/>
              <a:pPr/>
              <a:t>‹N°›</a:t>
            </a:fld>
            <a:endParaRPr lang="en-US" dirty="0"/>
          </a:p>
        </p:txBody>
      </p:sp>
    </p:spTree>
    <p:extLst>
      <p:ext uri="{BB962C8B-B14F-4D97-AF65-F5344CB8AC3E}">
        <p14:creationId xmlns:p14="http://schemas.microsoft.com/office/powerpoint/2010/main" val="31686556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Lst>
  <p:hf hdr="0"/>
  <p:txStyles>
    <p:title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6.xml"/><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0.xml"/><Relationship Id="rId1" Type="http://schemas.openxmlformats.org/officeDocument/2006/relationships/slideLayout" Target="../slideLayouts/slideLayout3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32.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3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6.xml"/><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9.xml"/><Relationship Id="rId1" Type="http://schemas.openxmlformats.org/officeDocument/2006/relationships/slideLayout" Target="../slideLayouts/slideLayout3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0.xml"/><Relationship Id="rId1" Type="http://schemas.openxmlformats.org/officeDocument/2006/relationships/slideLayout" Target="../slideLayouts/slideLayout4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F25FC7-E7DB-473B-3471-1BFBF3B09066}"/>
              </a:ext>
            </a:extLst>
          </p:cNvPr>
          <p:cNvSpPr>
            <a:spLocks noGrp="1"/>
          </p:cNvSpPr>
          <p:nvPr>
            <p:ph type="ctrTitle"/>
          </p:nvPr>
        </p:nvSpPr>
        <p:spPr>
          <a:xfrm>
            <a:off x="431172" y="3425399"/>
            <a:ext cx="7685140" cy="2621154"/>
          </a:xfrm>
        </p:spPr>
        <p:txBody>
          <a:bodyPr anchor="b">
            <a:normAutofit/>
          </a:bodyPr>
          <a:lstStyle/>
          <a:p>
            <a:r>
              <a:rPr lang="fr-FR" sz="4500"/>
              <a:t>Présentation sur le Traitement Distribué : Concepts, Principes et Frameworks</a:t>
            </a:r>
          </a:p>
        </p:txBody>
      </p:sp>
      <p:sp>
        <p:nvSpPr>
          <p:cNvPr id="3" name="Sous-titre 2">
            <a:extLst>
              <a:ext uri="{FF2B5EF4-FFF2-40B4-BE49-F238E27FC236}">
                <a16:creationId xmlns:a16="http://schemas.microsoft.com/office/drawing/2014/main" id="{CD2ED7E7-D1EC-C48C-0B1F-E1636EE703DD}"/>
              </a:ext>
            </a:extLst>
          </p:cNvPr>
          <p:cNvSpPr>
            <a:spLocks noGrp="1"/>
          </p:cNvSpPr>
          <p:nvPr>
            <p:ph type="subTitle" idx="1"/>
          </p:nvPr>
        </p:nvSpPr>
        <p:spPr>
          <a:xfrm>
            <a:off x="431172" y="415057"/>
            <a:ext cx="7685139" cy="1414091"/>
          </a:xfrm>
        </p:spPr>
        <p:txBody>
          <a:bodyPr>
            <a:normAutofit/>
          </a:bodyPr>
          <a:lstStyle/>
          <a:p>
            <a:r>
              <a:rPr lang="fr-FR"/>
              <a:t>Exploration des bases et outils pour le traitement distribué efficace</a:t>
            </a:r>
          </a:p>
        </p:txBody>
      </p:sp>
      <p:sp>
        <p:nvSpPr>
          <p:cNvPr id="4" name="Espace réservé de la date 3">
            <a:extLst>
              <a:ext uri="{FF2B5EF4-FFF2-40B4-BE49-F238E27FC236}">
                <a16:creationId xmlns:a16="http://schemas.microsoft.com/office/drawing/2014/main" id="{F6FC54F3-FE02-C39A-23DE-D24BB988EEC8}"/>
              </a:ext>
            </a:extLst>
          </p:cNvPr>
          <p:cNvSpPr>
            <a:spLocks noGrp="1"/>
          </p:cNvSpPr>
          <p:nvPr>
            <p:ph type="dt" sz="half" idx="10"/>
          </p:nvPr>
        </p:nvSpPr>
        <p:spPr>
          <a:xfrm>
            <a:off x="431172" y="6490524"/>
            <a:ext cx="2841959" cy="336141"/>
          </a:xfrm>
        </p:spPr>
        <p:txBody>
          <a:bodyPr anchor="ctr">
            <a:normAutofit/>
          </a:bodyPr>
          <a:lstStyle/>
          <a:p>
            <a:pPr>
              <a:spcAft>
                <a:spcPts val="600"/>
              </a:spcAft>
            </a:pPr>
            <a:fld id="{B04EF954-66B1-4168-AF40-97F3DAF43FC4}"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E86863A2-2D3C-D380-BEA9-D693F0114D9D}"/>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Espace réservé du numéro de diapositive 5">
            <a:extLst>
              <a:ext uri="{FF2B5EF4-FFF2-40B4-BE49-F238E27FC236}">
                <a16:creationId xmlns:a16="http://schemas.microsoft.com/office/drawing/2014/main" id="{B95BB53B-45B5-1C33-1791-E53EA2027723}"/>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1</a:t>
            </a:fld>
            <a:endParaRPr lang="en-US"/>
          </a:p>
        </p:txBody>
      </p:sp>
    </p:spTree>
    <p:extLst>
      <p:ext uri="{BB962C8B-B14F-4D97-AF65-F5344CB8AC3E}">
        <p14:creationId xmlns:p14="http://schemas.microsoft.com/office/powerpoint/2010/main" val="730652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42"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6EB50F-2E81-8F72-814A-9DB40FBB54B6}"/>
              </a:ext>
            </a:extLst>
          </p:cNvPr>
          <p:cNvSpPr>
            <a:spLocks noGrp="1"/>
          </p:cNvSpPr>
          <p:nvPr>
            <p:ph type="title"/>
          </p:nvPr>
        </p:nvSpPr>
        <p:spPr>
          <a:xfrm>
            <a:off x="429768" y="411480"/>
            <a:ext cx="11045952" cy="1828800"/>
          </a:xfrm>
        </p:spPr>
        <p:txBody>
          <a:bodyPr anchor="t">
            <a:normAutofit/>
          </a:bodyPr>
          <a:lstStyle/>
          <a:p>
            <a:r>
              <a:rPr lang="fr-FR" sz="6200"/>
              <a:t>Plan de la Présentation</a:t>
            </a:r>
          </a:p>
        </p:txBody>
      </p:sp>
      <p:sp>
        <p:nvSpPr>
          <p:cNvPr id="3" name="Espace réservé du contenu 2">
            <a:extLst>
              <a:ext uri="{FF2B5EF4-FFF2-40B4-BE49-F238E27FC236}">
                <a16:creationId xmlns:a16="http://schemas.microsoft.com/office/drawing/2014/main" id="{4084E811-B184-3FB0-8C0A-750671E9D421}"/>
              </a:ext>
            </a:extLst>
          </p:cNvPr>
          <p:cNvSpPr>
            <a:spLocks noGrp="1"/>
          </p:cNvSpPr>
          <p:nvPr>
            <p:ph sz="quarter" idx="13"/>
            <p:extLst>
              <p:ext uri="{E7BDC344-281C-4309-B0C6-D0EE65EED2A8}">
                <p202:designPr xmlns:p202="http://schemas.microsoft.com/office/powerpoint/2020/02/main">
                  <p202:designTagLst>
                    <p202:designTag name="ARCH:1:CLS" val="BulletedText"/>
                  </p202:designTagLst>
                </p202:designPr>
              </p:ext>
            </p:extLst>
          </p:nvPr>
        </p:nvSpPr>
        <p:spPr>
          <a:xfrm>
            <a:off x="6272784" y="2423160"/>
            <a:ext cx="5202936" cy="3858768"/>
          </a:xfrm>
        </p:spPr>
        <p:txBody>
          <a:bodyPr>
            <a:normAutofit/>
          </a:bodyPr>
          <a:lstStyle/>
          <a:p>
            <a:pPr>
              <a:lnSpc>
                <a:spcPct val="110000"/>
              </a:lnSpc>
              <a:buFont typeface="Arial" panose="020B0604020202020204" pitchFamily="34" charset="0"/>
              <a:buChar char="•"/>
            </a:pPr>
            <a:r>
              <a:rPr lang="fr-FR" sz="1500"/>
              <a:t>Concepts fondamentaux du traitement distribué</a:t>
            </a:r>
          </a:p>
          <a:p>
            <a:pPr>
              <a:lnSpc>
                <a:spcPct val="110000"/>
              </a:lnSpc>
              <a:buFont typeface="Arial" panose="020B0604020202020204" pitchFamily="34" charset="0"/>
              <a:buChar char="•"/>
            </a:pPr>
            <a:r>
              <a:rPr lang="fr-FR" sz="1500"/>
              <a:t>Parallélisme et synchronisation dans les systèmes distribués</a:t>
            </a:r>
          </a:p>
          <a:p>
            <a:pPr>
              <a:lnSpc>
                <a:spcPct val="110000"/>
              </a:lnSpc>
              <a:buFont typeface="Arial" panose="020B0604020202020204" pitchFamily="34" charset="0"/>
              <a:buChar char="•"/>
            </a:pPr>
            <a:r>
              <a:rPr lang="fr-FR" sz="1500"/>
              <a:t>Scalabilité dans les systèmes distribués</a:t>
            </a:r>
          </a:p>
          <a:p>
            <a:pPr>
              <a:lnSpc>
                <a:spcPct val="110000"/>
              </a:lnSpc>
              <a:buFont typeface="Arial" panose="020B0604020202020204" pitchFamily="34" charset="0"/>
              <a:buChar char="•"/>
            </a:pPr>
            <a:r>
              <a:rPr lang="fr-FR" sz="1500"/>
              <a:t>Tolérance aux pannes et gestion des défaillances</a:t>
            </a:r>
          </a:p>
          <a:p>
            <a:pPr>
              <a:lnSpc>
                <a:spcPct val="110000"/>
              </a:lnSpc>
              <a:buFont typeface="Arial" panose="020B0604020202020204" pitchFamily="34" charset="0"/>
              <a:buChar char="•"/>
            </a:pPr>
            <a:r>
              <a:rPr lang="fr-FR" sz="1500"/>
              <a:t>Principes et enjeux de la programmation distribuée</a:t>
            </a:r>
          </a:p>
          <a:p>
            <a:pPr>
              <a:lnSpc>
                <a:spcPct val="110000"/>
              </a:lnSpc>
              <a:buFont typeface="Arial" panose="020B0604020202020204" pitchFamily="34" charset="0"/>
              <a:buChar char="•"/>
            </a:pPr>
            <a:r>
              <a:rPr lang="fr-FR" sz="1500"/>
              <a:t>Traitement des données : batch vs streaming et frameworks associés</a:t>
            </a:r>
          </a:p>
          <a:p>
            <a:pPr>
              <a:lnSpc>
                <a:spcPct val="110000"/>
              </a:lnSpc>
              <a:buFont typeface="Arial" panose="020B0604020202020204" pitchFamily="34" charset="0"/>
              <a:buChar char="•"/>
            </a:pPr>
            <a:r>
              <a:rPr lang="fr-FR" sz="1500"/>
              <a:t>Présentation des principaux frameworks de traitement distribué</a:t>
            </a:r>
          </a:p>
          <a:p>
            <a:pPr>
              <a:lnSpc>
                <a:spcPct val="110000"/>
              </a:lnSpc>
              <a:buFont typeface="Arial" panose="020B0604020202020204" pitchFamily="34" charset="0"/>
              <a:buChar char="•"/>
            </a:pPr>
            <a:r>
              <a:rPr lang="fr-FR" sz="1500"/>
              <a:t>Architecture et fonctionnement de Spark</a:t>
            </a:r>
          </a:p>
        </p:txBody>
      </p:sp>
      <p:sp>
        <p:nvSpPr>
          <p:cNvPr id="4" name="Espace réservé de la date 3">
            <a:extLst>
              <a:ext uri="{FF2B5EF4-FFF2-40B4-BE49-F238E27FC236}">
                <a16:creationId xmlns:a16="http://schemas.microsoft.com/office/drawing/2014/main" id="{9102F610-508D-8CE4-93EB-49699EF46587}"/>
              </a:ext>
            </a:extLst>
          </p:cNvPr>
          <p:cNvSpPr>
            <a:spLocks noGrp="1"/>
          </p:cNvSpPr>
          <p:nvPr>
            <p:ph type="dt" sz="half" idx="10"/>
          </p:nvPr>
        </p:nvSpPr>
        <p:spPr>
          <a:xfrm>
            <a:off x="431172" y="6490524"/>
            <a:ext cx="2841959" cy="336141"/>
          </a:xfrm>
        </p:spPr>
        <p:txBody>
          <a:bodyPr anchor="ctr">
            <a:normAutofit/>
          </a:bodyPr>
          <a:lstStyle/>
          <a:p>
            <a:pPr>
              <a:spcAft>
                <a:spcPts val="600"/>
              </a:spcAft>
            </a:pPr>
            <a:fld id="{FE21D4C7-8630-4B98-978C-30388BBD4EE8}"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11010460-FD00-CB8C-2868-926F5791C0AD}"/>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Espace réservé du numéro de diapositive 5">
            <a:extLst>
              <a:ext uri="{FF2B5EF4-FFF2-40B4-BE49-F238E27FC236}">
                <a16:creationId xmlns:a16="http://schemas.microsoft.com/office/drawing/2014/main" id="{809BECBB-C3E5-C0FD-5A1C-4920A5A0DF82}"/>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2</a:t>
            </a:fld>
            <a:endParaRPr lang="en-US"/>
          </a:p>
        </p:txBody>
      </p:sp>
    </p:spTree>
    <p:extLst>
      <p:ext uri="{BB962C8B-B14F-4D97-AF65-F5344CB8AC3E}">
        <p14:creationId xmlns:p14="http://schemas.microsoft.com/office/powerpoint/2010/main" val="9337274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3112F9-3C8E-ED4C-C3A2-E3983B6A8770}"/>
              </a:ext>
            </a:extLst>
          </p:cNvPr>
          <p:cNvSpPr>
            <a:spLocks noGrp="1"/>
          </p:cNvSpPr>
          <p:nvPr>
            <p:ph type="title"/>
          </p:nvPr>
        </p:nvSpPr>
        <p:spPr>
          <a:xfrm>
            <a:off x="431172" y="553616"/>
            <a:ext cx="7914087" cy="4008859"/>
          </a:xfrm>
        </p:spPr>
        <p:txBody>
          <a:bodyPr anchor="t">
            <a:normAutofit/>
          </a:bodyPr>
          <a:lstStyle/>
          <a:p>
            <a:r>
              <a:rPr lang="fr-FR"/>
              <a:t>Concepts fondamentaux du traitement distribué</a:t>
            </a:r>
          </a:p>
        </p:txBody>
      </p:sp>
      <p:sp>
        <p:nvSpPr>
          <p:cNvPr id="11" name="Text Placeholder 2">
            <a:extLst>
              <a:ext uri="{FF2B5EF4-FFF2-40B4-BE49-F238E27FC236}">
                <a16:creationId xmlns:a16="http://schemas.microsoft.com/office/drawing/2014/main" id="{E076C1AA-6263-B45A-31F1-4115226FB770}"/>
              </a:ext>
            </a:extLst>
          </p:cNvPr>
          <p:cNvSpPr>
            <a:spLocks noGrp="1"/>
          </p:cNvSpPr>
          <p:nvPr>
            <p:ph type="body" idx="1"/>
          </p:nvPr>
        </p:nvSpPr>
        <p:spPr>
          <a:xfrm>
            <a:off x="431172" y="5088156"/>
            <a:ext cx="7914087" cy="1166648"/>
          </a:xfrm>
        </p:spPr>
        <p:txBody>
          <a:bodyPr/>
          <a:lstStyle/>
          <a:p>
            <a:endParaRPr lang="en-US"/>
          </a:p>
        </p:txBody>
      </p:sp>
      <p:sp>
        <p:nvSpPr>
          <p:cNvPr id="4" name="Espace réservé de la date 3">
            <a:extLst>
              <a:ext uri="{FF2B5EF4-FFF2-40B4-BE49-F238E27FC236}">
                <a16:creationId xmlns:a16="http://schemas.microsoft.com/office/drawing/2014/main" id="{FB7C0DD1-64C3-37A6-5D80-2F115D2D6628}"/>
              </a:ext>
            </a:extLst>
          </p:cNvPr>
          <p:cNvSpPr>
            <a:spLocks noGrp="1"/>
          </p:cNvSpPr>
          <p:nvPr>
            <p:ph type="dt" sz="half" idx="10"/>
          </p:nvPr>
        </p:nvSpPr>
        <p:spPr>
          <a:xfrm>
            <a:off x="431172" y="6490524"/>
            <a:ext cx="2841959" cy="336141"/>
          </a:xfrm>
        </p:spPr>
        <p:txBody>
          <a:bodyPr anchor="ctr">
            <a:normAutofit/>
          </a:bodyPr>
          <a:lstStyle/>
          <a:p>
            <a:pPr>
              <a:spcAft>
                <a:spcPts val="600"/>
              </a:spcAft>
            </a:pPr>
            <a:fld id="{B04EF954-66B1-4168-AF40-97F3DAF43FC4}"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493EB9F1-41B1-D9D7-BC8A-1EC94CCF8B1F}"/>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Espace réservé du numéro de diapositive 5">
            <a:extLst>
              <a:ext uri="{FF2B5EF4-FFF2-40B4-BE49-F238E27FC236}">
                <a16:creationId xmlns:a16="http://schemas.microsoft.com/office/drawing/2014/main" id="{15BCDD74-5BB7-00EF-4027-3FA2A589D92D}"/>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3</a:t>
            </a:fld>
            <a:endParaRPr lang="en-US"/>
          </a:p>
        </p:txBody>
      </p:sp>
    </p:spTree>
    <p:extLst>
      <p:ext uri="{BB962C8B-B14F-4D97-AF65-F5344CB8AC3E}">
        <p14:creationId xmlns:p14="http://schemas.microsoft.com/office/powerpoint/2010/main" val="28388550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1875FA-E0F0-D6C1-2C0B-A530E15CBE14}"/>
              </a:ext>
            </a:extLst>
          </p:cNvPr>
          <p:cNvSpPr>
            <a:spLocks noGrp="1"/>
          </p:cNvSpPr>
          <p:nvPr>
            <p:ph type="title"/>
          </p:nvPr>
        </p:nvSpPr>
        <p:spPr>
          <a:xfrm>
            <a:off x="8311896" y="1078992"/>
            <a:ext cx="3273552" cy="1947672"/>
          </a:xfrm>
        </p:spPr>
        <p:txBody>
          <a:bodyPr vert="horz" lIns="91440" tIns="45720" rIns="91440" bIns="45720" rtlCol="0" anchor="b">
            <a:normAutofit/>
          </a:bodyPr>
          <a:lstStyle/>
          <a:p>
            <a:r>
              <a:rPr lang="en-US" sz="2700" b="0" kern="1200" cap="all" baseline="0">
                <a:latin typeface="+mj-lt"/>
                <a:ea typeface="+mj-ea"/>
                <a:cs typeface="+mj-cs"/>
              </a:rPr>
              <a:t>Définition et principes de base du traitement distribué</a:t>
            </a:r>
          </a:p>
        </p:txBody>
      </p:sp>
      <p:pic>
        <p:nvPicPr>
          <p:cNvPr id="7" name="Espace réservé du contenu 6" descr="Réseau de cloud computing">
            <a:extLst>
              <a:ext uri="{FF2B5EF4-FFF2-40B4-BE49-F238E27FC236}">
                <a16:creationId xmlns:a16="http://schemas.microsoft.com/office/drawing/2014/main" id="{D0097641-AFCF-4125-B049-E356B76CC374}"/>
              </a:ext>
            </a:extLst>
          </p:cNvPr>
          <p:cNvPicPr>
            <a:picLocks noGrp="1" noChangeAspect="1"/>
          </p:cNvPicPr>
          <p:nvPr>
            <p:ph type="pic" sz="quarter" idx="15"/>
          </p:nvPr>
        </p:nvPicPr>
        <p:blipFill>
          <a:blip r:embed="rId3"/>
          <a:srcRect l="21090" r="10924" b="1"/>
          <a:stretch>
            <a:fillRect/>
          </a:stretch>
        </p:blipFill>
        <p:spPr>
          <a:xfrm>
            <a:off x="20" y="10"/>
            <a:ext cx="7734280" cy="6399142"/>
          </a:xfrm>
          <a:prstGeom prst="rect">
            <a:avLst/>
          </a:prstGeom>
          <a:noFill/>
        </p:spPr>
      </p:pic>
      <p:sp>
        <p:nvSpPr>
          <p:cNvPr id="8" name="ZoneTexte 7">
            <a:extLst>
              <a:ext uri="{FF2B5EF4-FFF2-40B4-BE49-F238E27FC236}">
                <a16:creationId xmlns:a16="http://schemas.microsoft.com/office/drawing/2014/main" id="{96464377-8DDA-48A2-A0D0-7A1A0FEE476E}"/>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3099816"/>
            <a:ext cx="3273552" cy="2953512"/>
          </a:xfrm>
          <a:prstGeom prst="rect">
            <a:avLst/>
          </a:prstGeom>
        </p:spPr>
        <p:txBody>
          <a:bodyPr>
            <a:normAutofit/>
          </a:bodyPr>
          <a:lstStyle/>
          <a:p>
            <a:pPr marL="0" indent="0">
              <a:spcBef>
                <a:spcPts val="2500"/>
              </a:spcBef>
              <a:spcAft>
                <a:spcPts val="600"/>
              </a:spcAft>
              <a:buFont typeface="Arial" panose="020B0604020202020204" pitchFamily="34" charset="0"/>
              <a:buNone/>
            </a:pPr>
            <a:r>
              <a:rPr lang="fr-FR" sz="1400" b="1"/>
              <a:t>Concept fondamental</a:t>
            </a:r>
          </a:p>
          <a:p>
            <a:pPr marL="0" lvl="1" indent="0">
              <a:spcBef>
                <a:spcPts val="1000"/>
              </a:spcBef>
              <a:spcAft>
                <a:spcPts val="600"/>
              </a:spcAft>
              <a:buFont typeface="Arial" panose="020B0604020202020204" pitchFamily="34" charset="0"/>
              <a:buNone/>
            </a:pPr>
            <a:r>
              <a:rPr lang="fr-FR" sz="1400"/>
              <a:t>Le traitement distribué implique plusieurs machines collaborant pour exécuter des tâches ou traiter des données.</a:t>
            </a:r>
          </a:p>
          <a:p>
            <a:pPr marL="0" indent="0">
              <a:spcBef>
                <a:spcPts val="2500"/>
              </a:spcBef>
              <a:spcAft>
                <a:spcPts val="600"/>
              </a:spcAft>
              <a:buFont typeface="Arial" panose="020B0604020202020204" pitchFamily="34" charset="0"/>
              <a:buNone/>
            </a:pPr>
            <a:r>
              <a:rPr lang="fr-FR" sz="1400" b="1"/>
              <a:t>Collaboration entre machines</a:t>
            </a:r>
          </a:p>
          <a:p>
            <a:pPr marL="0" lvl="1" indent="0">
              <a:spcBef>
                <a:spcPts val="1000"/>
              </a:spcBef>
              <a:spcAft>
                <a:spcPts val="600"/>
              </a:spcAft>
              <a:buFont typeface="Arial" panose="020B0604020202020204" pitchFamily="34" charset="0"/>
              <a:buNone/>
            </a:pPr>
            <a:r>
              <a:rPr lang="fr-FR" sz="1400"/>
              <a:t>Les systèmes distribués partagent des ressources pour améliorer l'efficacité et la performance globale.</a:t>
            </a:r>
          </a:p>
        </p:txBody>
      </p:sp>
      <p:sp>
        <p:nvSpPr>
          <p:cNvPr id="4" name="Espace réservé de la date 3">
            <a:extLst>
              <a:ext uri="{FF2B5EF4-FFF2-40B4-BE49-F238E27FC236}">
                <a16:creationId xmlns:a16="http://schemas.microsoft.com/office/drawing/2014/main" id="{A678AF4D-2A85-27E4-909C-27DFAA96192F}"/>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AD18DA47-5C9D-A2C5-8BE1-44882C3E2EDB}"/>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Espace réservé du numéro de diapositive 5">
            <a:extLst>
              <a:ext uri="{FF2B5EF4-FFF2-40B4-BE49-F238E27FC236}">
                <a16:creationId xmlns:a16="http://schemas.microsoft.com/office/drawing/2014/main" id="{6E734E93-D789-F8E6-E1FE-390EFE26172E}"/>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4</a:t>
            </a:fld>
            <a:endParaRPr lang="en-US"/>
          </a:p>
        </p:txBody>
      </p:sp>
    </p:spTree>
    <p:extLst>
      <p:ext uri="{BB962C8B-B14F-4D97-AF65-F5344CB8AC3E}">
        <p14:creationId xmlns:p14="http://schemas.microsoft.com/office/powerpoint/2010/main" val="1684047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B5D31E-255E-E4FB-3E6D-F769013BA124}"/>
              </a:ext>
            </a:extLst>
          </p:cNvPr>
          <p:cNvSpPr>
            <a:spLocks noGrp="1"/>
          </p:cNvSpPr>
          <p:nvPr>
            <p:ph type="title"/>
          </p:nvPr>
        </p:nvSpPr>
        <p:spPr>
          <a:xfrm>
            <a:off x="8311896" y="1078992"/>
            <a:ext cx="3273552" cy="1947672"/>
          </a:xfrm>
        </p:spPr>
        <p:txBody>
          <a:bodyPr vert="horz" lIns="91440" tIns="45720" rIns="91440" bIns="45720" rtlCol="0" anchor="b">
            <a:normAutofit/>
          </a:bodyPr>
          <a:lstStyle/>
          <a:p>
            <a:r>
              <a:rPr lang="en-US" sz="2500" b="0" kern="1200" cap="all" baseline="0">
                <a:latin typeface="+mj-lt"/>
                <a:ea typeface="+mj-ea"/>
                <a:cs typeface="+mj-cs"/>
              </a:rPr>
              <a:t>Distribution des ressources : répartition, résilience et mise à l'échelle</a:t>
            </a:r>
          </a:p>
        </p:txBody>
      </p:sp>
      <p:pic>
        <p:nvPicPr>
          <p:cNvPr id="7" name="Espace réservé du contenu 6" descr="Ordinateurs de bureau connectés en réseau. Voir tous mes">
            <a:extLst>
              <a:ext uri="{FF2B5EF4-FFF2-40B4-BE49-F238E27FC236}">
                <a16:creationId xmlns:a16="http://schemas.microsoft.com/office/drawing/2014/main" id="{FF3DD27F-0FCC-4505-A54B-73424D3F24FC}"/>
              </a:ext>
            </a:extLst>
          </p:cNvPr>
          <p:cNvPicPr>
            <a:picLocks noGrp="1" noChangeAspect="1"/>
          </p:cNvPicPr>
          <p:nvPr>
            <p:ph type="pic" sz="quarter" idx="15"/>
          </p:nvPr>
        </p:nvPicPr>
        <p:blipFill>
          <a:blip r:embed="rId3"/>
          <a:srcRect l="5329" r="4021" b="-2"/>
          <a:stretch>
            <a:fillRect/>
          </a:stretch>
        </p:blipFill>
        <p:spPr>
          <a:xfrm>
            <a:off x="20" y="10"/>
            <a:ext cx="7734280" cy="6399142"/>
          </a:xfrm>
          <a:prstGeom prst="rect">
            <a:avLst/>
          </a:prstGeom>
          <a:noFill/>
        </p:spPr>
      </p:pic>
      <p:sp>
        <p:nvSpPr>
          <p:cNvPr id="8" name="ZoneTexte 7">
            <a:extLst>
              <a:ext uri="{FF2B5EF4-FFF2-40B4-BE49-F238E27FC236}">
                <a16:creationId xmlns:a16="http://schemas.microsoft.com/office/drawing/2014/main" id="{ADCC520F-D1B4-48A6-BAC7-3033532DC442}"/>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3099816"/>
            <a:ext cx="3273552" cy="2953512"/>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fr-FR" sz="900" b="1"/>
              <a:t>Répartition des charges de travail</a:t>
            </a:r>
          </a:p>
          <a:p>
            <a:pPr marL="0" lvl="1" indent="0">
              <a:lnSpc>
                <a:spcPct val="90000"/>
              </a:lnSpc>
              <a:spcBef>
                <a:spcPts val="1000"/>
              </a:spcBef>
              <a:spcAft>
                <a:spcPts val="600"/>
              </a:spcAft>
              <a:buFont typeface="Arial" panose="020B0604020202020204" pitchFamily="34" charset="0"/>
              <a:buNone/>
            </a:pPr>
            <a:r>
              <a:rPr lang="fr-FR" sz="900"/>
              <a:t>La distribution des ressources assure une répartition équitable des charges entre plusieurs nœuds pour une efficacité maximale.</a:t>
            </a:r>
          </a:p>
          <a:p>
            <a:pPr marL="0" indent="0">
              <a:lnSpc>
                <a:spcPct val="90000"/>
              </a:lnSpc>
              <a:spcBef>
                <a:spcPts val="2500"/>
              </a:spcBef>
              <a:spcAft>
                <a:spcPts val="600"/>
              </a:spcAft>
              <a:buFont typeface="Arial" panose="020B0604020202020204" pitchFamily="34" charset="0"/>
              <a:buNone/>
            </a:pPr>
            <a:r>
              <a:rPr lang="fr-FR" sz="900" b="1"/>
              <a:t>Résilience du système</a:t>
            </a:r>
          </a:p>
          <a:p>
            <a:pPr marL="0" lvl="1" indent="0">
              <a:lnSpc>
                <a:spcPct val="90000"/>
              </a:lnSpc>
              <a:spcBef>
                <a:spcPts val="1000"/>
              </a:spcBef>
              <a:spcAft>
                <a:spcPts val="600"/>
              </a:spcAft>
              <a:buFont typeface="Arial" panose="020B0604020202020204" pitchFamily="34" charset="0"/>
              <a:buNone/>
            </a:pPr>
            <a:r>
              <a:rPr lang="fr-FR" sz="900"/>
              <a:t>Distribuer les tâches sur plusieurs machines évite la surcharge, garantissant une continuité en cas de panne.</a:t>
            </a:r>
          </a:p>
          <a:p>
            <a:pPr marL="0" indent="0">
              <a:lnSpc>
                <a:spcPct val="90000"/>
              </a:lnSpc>
              <a:spcBef>
                <a:spcPts val="2500"/>
              </a:spcBef>
              <a:spcAft>
                <a:spcPts val="600"/>
              </a:spcAft>
              <a:buFont typeface="Arial" panose="020B0604020202020204" pitchFamily="34" charset="0"/>
              <a:buNone/>
            </a:pPr>
            <a:r>
              <a:rPr lang="fr-FR" sz="900" b="1"/>
              <a:t>Mise à l’échelle dynamique</a:t>
            </a:r>
          </a:p>
          <a:p>
            <a:pPr marL="0" lvl="1" indent="0">
              <a:lnSpc>
                <a:spcPct val="90000"/>
              </a:lnSpc>
              <a:spcBef>
                <a:spcPts val="1000"/>
              </a:spcBef>
              <a:spcAft>
                <a:spcPts val="600"/>
              </a:spcAft>
              <a:buFont typeface="Arial" panose="020B0604020202020204" pitchFamily="34" charset="0"/>
              <a:buNone/>
            </a:pPr>
            <a:r>
              <a:rPr lang="fr-FR" sz="900"/>
              <a:t>Le système ajuste automatiquement le nombre de nœuds selon la charge, offrant une flexibilité optimale.</a:t>
            </a:r>
          </a:p>
        </p:txBody>
      </p:sp>
      <p:sp>
        <p:nvSpPr>
          <p:cNvPr id="4" name="Espace réservé de la date 3">
            <a:extLst>
              <a:ext uri="{FF2B5EF4-FFF2-40B4-BE49-F238E27FC236}">
                <a16:creationId xmlns:a16="http://schemas.microsoft.com/office/drawing/2014/main" id="{A09E77AF-3DE9-EE36-1BA8-B69641853AD9}"/>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734AA0E1-4D62-D091-C65A-17021759B3A3}"/>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Espace réservé du numéro de diapositive 5">
            <a:extLst>
              <a:ext uri="{FF2B5EF4-FFF2-40B4-BE49-F238E27FC236}">
                <a16:creationId xmlns:a16="http://schemas.microsoft.com/office/drawing/2014/main" id="{B72435C6-369E-CDF6-67C5-8D8E6BD048B3}"/>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5</a:t>
            </a:fld>
            <a:endParaRPr lang="en-US"/>
          </a:p>
        </p:txBody>
      </p:sp>
    </p:spTree>
    <p:extLst>
      <p:ext uri="{BB962C8B-B14F-4D97-AF65-F5344CB8AC3E}">
        <p14:creationId xmlns:p14="http://schemas.microsoft.com/office/powerpoint/2010/main" val="29233351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19A1C1-A04B-98FB-7BA7-F47513747D65}"/>
              </a:ext>
            </a:extLst>
          </p:cNvPr>
          <p:cNvSpPr>
            <a:spLocks noGrp="1"/>
          </p:cNvSpPr>
          <p:nvPr>
            <p:ph type="title"/>
          </p:nvPr>
        </p:nvSpPr>
        <p:spPr>
          <a:xfrm>
            <a:off x="431172" y="553616"/>
            <a:ext cx="7914087" cy="4008859"/>
          </a:xfrm>
        </p:spPr>
        <p:txBody>
          <a:bodyPr anchor="t">
            <a:normAutofit/>
          </a:bodyPr>
          <a:lstStyle/>
          <a:p>
            <a:r>
              <a:rPr lang="fr-FR" sz="5600"/>
              <a:t>Parallélisme et synchronisation dans les systèmes distribués</a:t>
            </a:r>
          </a:p>
        </p:txBody>
      </p:sp>
      <p:sp>
        <p:nvSpPr>
          <p:cNvPr id="11" name="Text Placeholder 2">
            <a:extLst>
              <a:ext uri="{FF2B5EF4-FFF2-40B4-BE49-F238E27FC236}">
                <a16:creationId xmlns:a16="http://schemas.microsoft.com/office/drawing/2014/main" id="{00B28CC7-CF5B-8D45-645C-25D6C12E5255}"/>
              </a:ext>
            </a:extLst>
          </p:cNvPr>
          <p:cNvSpPr>
            <a:spLocks noGrp="1"/>
          </p:cNvSpPr>
          <p:nvPr>
            <p:ph type="body" idx="1"/>
          </p:nvPr>
        </p:nvSpPr>
        <p:spPr>
          <a:xfrm>
            <a:off x="431172" y="5088156"/>
            <a:ext cx="7914087" cy="1166648"/>
          </a:xfrm>
        </p:spPr>
        <p:txBody>
          <a:bodyPr/>
          <a:lstStyle/>
          <a:p>
            <a:endParaRPr lang="en-US"/>
          </a:p>
        </p:txBody>
      </p:sp>
      <p:sp>
        <p:nvSpPr>
          <p:cNvPr id="4" name="Espace réservé de la date 3">
            <a:extLst>
              <a:ext uri="{FF2B5EF4-FFF2-40B4-BE49-F238E27FC236}">
                <a16:creationId xmlns:a16="http://schemas.microsoft.com/office/drawing/2014/main" id="{807C7119-9E0F-C7D7-F55F-B600A77B9ED0}"/>
              </a:ext>
            </a:extLst>
          </p:cNvPr>
          <p:cNvSpPr>
            <a:spLocks noGrp="1"/>
          </p:cNvSpPr>
          <p:nvPr>
            <p:ph type="dt" sz="half" idx="10"/>
          </p:nvPr>
        </p:nvSpPr>
        <p:spPr>
          <a:xfrm>
            <a:off x="431172" y="6490524"/>
            <a:ext cx="2841959" cy="336141"/>
          </a:xfrm>
        </p:spPr>
        <p:txBody>
          <a:bodyPr anchor="ctr">
            <a:normAutofit/>
          </a:bodyPr>
          <a:lstStyle/>
          <a:p>
            <a:pPr>
              <a:spcAft>
                <a:spcPts val="600"/>
              </a:spcAft>
            </a:pPr>
            <a:fld id="{B04EF954-66B1-4168-AF40-97F3DAF43FC4}"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314357C8-AE30-5E07-7D4C-F161FF18237E}"/>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Espace réservé du numéro de diapositive 5">
            <a:extLst>
              <a:ext uri="{FF2B5EF4-FFF2-40B4-BE49-F238E27FC236}">
                <a16:creationId xmlns:a16="http://schemas.microsoft.com/office/drawing/2014/main" id="{AC92D623-A943-6D07-6F2B-A1D6C5E133E2}"/>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6</a:t>
            </a:fld>
            <a:endParaRPr lang="en-US"/>
          </a:p>
        </p:txBody>
      </p:sp>
    </p:spTree>
    <p:extLst>
      <p:ext uri="{BB962C8B-B14F-4D97-AF65-F5344CB8AC3E}">
        <p14:creationId xmlns:p14="http://schemas.microsoft.com/office/powerpoint/2010/main" val="29033405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85F105-6BAA-70E3-4A3C-7EB7908DB5FA}"/>
              </a:ext>
            </a:extLst>
          </p:cNvPr>
          <p:cNvSpPr>
            <a:spLocks noGrp="1"/>
          </p:cNvSpPr>
          <p:nvPr>
            <p:ph type="title"/>
          </p:nvPr>
        </p:nvSpPr>
        <p:spPr>
          <a:xfrm>
            <a:off x="8311896" y="1078992"/>
            <a:ext cx="3273552" cy="1947672"/>
          </a:xfrm>
        </p:spPr>
        <p:txBody>
          <a:bodyPr vert="horz" lIns="91440" tIns="45720" rIns="91440" bIns="45720" rtlCol="0" anchor="b">
            <a:normAutofit/>
          </a:bodyPr>
          <a:lstStyle/>
          <a:p>
            <a:r>
              <a:rPr lang="en-US" sz="2200" b="0" kern="1200" cap="all" baseline="0">
                <a:latin typeface="+mj-lt"/>
                <a:ea typeface="+mj-ea"/>
                <a:cs typeface="+mj-cs"/>
              </a:rPr>
              <a:t>Mécanismes de synchronisation et coordination, outils et frameworks</a:t>
            </a:r>
          </a:p>
        </p:txBody>
      </p:sp>
      <p:pic>
        <p:nvPicPr>
          <p:cNvPr id="7" name="Espace réservé du contenu 6" descr="Cloud Computing Concept">
            <a:extLst>
              <a:ext uri="{FF2B5EF4-FFF2-40B4-BE49-F238E27FC236}">
                <a16:creationId xmlns:a16="http://schemas.microsoft.com/office/drawing/2014/main" id="{6661AA9B-5031-4A7E-8665-2586491FD629}"/>
              </a:ext>
            </a:extLst>
          </p:cNvPr>
          <p:cNvPicPr>
            <a:picLocks noGrp="1" noChangeAspect="1"/>
          </p:cNvPicPr>
          <p:nvPr>
            <p:ph type="pic" sz="quarter" idx="15"/>
          </p:nvPr>
        </p:nvPicPr>
        <p:blipFill>
          <a:blip r:embed="rId3"/>
          <a:srcRect l="1749" r="7601" b="-2"/>
          <a:stretch>
            <a:fillRect/>
          </a:stretch>
        </p:blipFill>
        <p:spPr>
          <a:xfrm>
            <a:off x="20" y="10"/>
            <a:ext cx="7734280" cy="6399142"/>
          </a:xfrm>
          <a:prstGeom prst="rect">
            <a:avLst/>
          </a:prstGeom>
          <a:noFill/>
        </p:spPr>
      </p:pic>
      <p:sp>
        <p:nvSpPr>
          <p:cNvPr id="8" name="ZoneTexte 7">
            <a:extLst>
              <a:ext uri="{FF2B5EF4-FFF2-40B4-BE49-F238E27FC236}">
                <a16:creationId xmlns:a16="http://schemas.microsoft.com/office/drawing/2014/main" id="{EDB3CC6A-4BC8-4558-BF66-1D22FFF25D86}"/>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3099816"/>
            <a:ext cx="3273552" cy="2953512"/>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fr-FR" sz="900" b="1"/>
              <a:t>Mécanismes de synchronisation</a:t>
            </a:r>
          </a:p>
          <a:p>
            <a:pPr marL="0" lvl="1" indent="0">
              <a:lnSpc>
                <a:spcPct val="90000"/>
              </a:lnSpc>
              <a:spcBef>
                <a:spcPts val="1000"/>
              </a:spcBef>
              <a:spcAft>
                <a:spcPts val="600"/>
              </a:spcAft>
              <a:buFont typeface="Arial" panose="020B0604020202020204" pitchFamily="34" charset="0"/>
              <a:buNone/>
            </a:pPr>
            <a:r>
              <a:rPr lang="fr-FR" sz="900"/>
              <a:t>Ils assurent la cohérence des données et évitent les conflits lors de l'exécution parallèle des tâches.</a:t>
            </a:r>
          </a:p>
          <a:p>
            <a:pPr marL="0" indent="0">
              <a:lnSpc>
                <a:spcPct val="90000"/>
              </a:lnSpc>
              <a:spcBef>
                <a:spcPts val="2500"/>
              </a:spcBef>
              <a:spcAft>
                <a:spcPts val="600"/>
              </a:spcAft>
              <a:buFont typeface="Arial" panose="020B0604020202020204" pitchFamily="34" charset="0"/>
              <a:buNone/>
            </a:pPr>
            <a:r>
              <a:rPr lang="fr-FR" sz="900" b="1"/>
              <a:t>Gestion des conditions de course</a:t>
            </a:r>
          </a:p>
          <a:p>
            <a:pPr marL="0" lvl="1" indent="0">
              <a:lnSpc>
                <a:spcPct val="90000"/>
              </a:lnSpc>
              <a:spcBef>
                <a:spcPts val="1000"/>
              </a:spcBef>
              <a:spcAft>
                <a:spcPts val="600"/>
              </a:spcAft>
              <a:buFont typeface="Arial" panose="020B0604020202020204" pitchFamily="34" charset="0"/>
              <a:buNone/>
            </a:pPr>
            <a:r>
              <a:rPr lang="fr-FR" sz="900"/>
              <a:t>Les mécanismes préviennent les conflits d'accès concurrentiels et les interblocages pour garantir la fiabilité.</a:t>
            </a:r>
          </a:p>
          <a:p>
            <a:pPr marL="0" indent="0">
              <a:lnSpc>
                <a:spcPct val="90000"/>
              </a:lnSpc>
              <a:spcBef>
                <a:spcPts val="2500"/>
              </a:spcBef>
              <a:spcAft>
                <a:spcPts val="600"/>
              </a:spcAft>
              <a:buFont typeface="Arial" panose="020B0604020202020204" pitchFamily="34" charset="0"/>
              <a:buNone/>
            </a:pPr>
            <a:r>
              <a:rPr lang="fr-FR" sz="900" b="1"/>
              <a:t>Outils et frameworks modernes</a:t>
            </a:r>
          </a:p>
          <a:p>
            <a:pPr marL="0" lvl="1" indent="0">
              <a:lnSpc>
                <a:spcPct val="90000"/>
              </a:lnSpc>
              <a:spcBef>
                <a:spcPts val="1000"/>
              </a:spcBef>
              <a:spcAft>
                <a:spcPts val="600"/>
              </a:spcAft>
              <a:buFont typeface="Arial" panose="020B0604020202020204" pitchFamily="34" charset="0"/>
              <a:buNone/>
            </a:pPr>
            <a:r>
              <a:rPr lang="fr-FR" sz="900"/>
              <a:t>Des outils comme OpenMP, MPI, et Hadoop facilitent la programmation parallèle et la coordination des tâches.</a:t>
            </a:r>
          </a:p>
        </p:txBody>
      </p:sp>
      <p:sp>
        <p:nvSpPr>
          <p:cNvPr id="4" name="Espace réservé de la date 3">
            <a:extLst>
              <a:ext uri="{FF2B5EF4-FFF2-40B4-BE49-F238E27FC236}">
                <a16:creationId xmlns:a16="http://schemas.microsoft.com/office/drawing/2014/main" id="{BF4178AE-012E-6C3E-686B-395535813489}"/>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DD732B1B-D6CC-AE8D-0021-B6C2A6006C31}"/>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Espace réservé du numéro de diapositive 5">
            <a:extLst>
              <a:ext uri="{FF2B5EF4-FFF2-40B4-BE49-F238E27FC236}">
                <a16:creationId xmlns:a16="http://schemas.microsoft.com/office/drawing/2014/main" id="{2CFEFE27-8D80-A2F8-CC6F-D32F097E1A41}"/>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7</a:t>
            </a:fld>
            <a:endParaRPr lang="en-US"/>
          </a:p>
        </p:txBody>
      </p:sp>
    </p:spTree>
    <p:extLst>
      <p:ext uri="{BB962C8B-B14F-4D97-AF65-F5344CB8AC3E}">
        <p14:creationId xmlns:p14="http://schemas.microsoft.com/office/powerpoint/2010/main" val="23634701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44EEC5-9F0E-68BF-69B9-71E0DB3A2B0F}"/>
              </a:ext>
            </a:extLst>
          </p:cNvPr>
          <p:cNvSpPr>
            <a:spLocks noGrp="1"/>
          </p:cNvSpPr>
          <p:nvPr>
            <p:ph type="title"/>
          </p:nvPr>
        </p:nvSpPr>
        <p:spPr>
          <a:xfrm>
            <a:off x="431172" y="553616"/>
            <a:ext cx="7914087" cy="4008859"/>
          </a:xfrm>
        </p:spPr>
        <p:txBody>
          <a:bodyPr anchor="t">
            <a:normAutofit/>
          </a:bodyPr>
          <a:lstStyle/>
          <a:p>
            <a:r>
              <a:rPr lang="fr-FR"/>
              <a:t>Scalabilité dans les systèmes distribués</a:t>
            </a:r>
          </a:p>
        </p:txBody>
      </p:sp>
      <p:sp>
        <p:nvSpPr>
          <p:cNvPr id="11" name="Text Placeholder 2">
            <a:extLst>
              <a:ext uri="{FF2B5EF4-FFF2-40B4-BE49-F238E27FC236}">
                <a16:creationId xmlns:a16="http://schemas.microsoft.com/office/drawing/2014/main" id="{C20682BB-B08F-38A9-C345-FE51004B1D4B}"/>
              </a:ext>
            </a:extLst>
          </p:cNvPr>
          <p:cNvSpPr>
            <a:spLocks noGrp="1"/>
          </p:cNvSpPr>
          <p:nvPr>
            <p:ph type="body" idx="1"/>
          </p:nvPr>
        </p:nvSpPr>
        <p:spPr>
          <a:xfrm>
            <a:off x="431172" y="5088156"/>
            <a:ext cx="7914087" cy="1166648"/>
          </a:xfrm>
        </p:spPr>
        <p:txBody>
          <a:bodyPr/>
          <a:lstStyle/>
          <a:p>
            <a:endParaRPr lang="en-US"/>
          </a:p>
        </p:txBody>
      </p:sp>
      <p:sp>
        <p:nvSpPr>
          <p:cNvPr id="4" name="Espace réservé de la date 3">
            <a:extLst>
              <a:ext uri="{FF2B5EF4-FFF2-40B4-BE49-F238E27FC236}">
                <a16:creationId xmlns:a16="http://schemas.microsoft.com/office/drawing/2014/main" id="{1704B49F-19E2-22FB-429B-01E0229C864B}"/>
              </a:ext>
            </a:extLst>
          </p:cNvPr>
          <p:cNvSpPr>
            <a:spLocks noGrp="1"/>
          </p:cNvSpPr>
          <p:nvPr>
            <p:ph type="dt" sz="half" idx="10"/>
          </p:nvPr>
        </p:nvSpPr>
        <p:spPr>
          <a:xfrm>
            <a:off x="431172" y="6490524"/>
            <a:ext cx="2841959" cy="336141"/>
          </a:xfrm>
        </p:spPr>
        <p:txBody>
          <a:bodyPr anchor="ctr">
            <a:normAutofit/>
          </a:bodyPr>
          <a:lstStyle/>
          <a:p>
            <a:pPr>
              <a:spcAft>
                <a:spcPts val="600"/>
              </a:spcAft>
            </a:pPr>
            <a:fld id="{B04EF954-66B1-4168-AF40-97F3DAF43FC4}"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9EA7EAA7-2D08-E182-5066-F5B6EBD11326}"/>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Espace réservé du numéro de diapositive 5">
            <a:extLst>
              <a:ext uri="{FF2B5EF4-FFF2-40B4-BE49-F238E27FC236}">
                <a16:creationId xmlns:a16="http://schemas.microsoft.com/office/drawing/2014/main" id="{AFE05723-D434-D937-BE28-397AA7FCD593}"/>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8</a:t>
            </a:fld>
            <a:endParaRPr lang="en-US"/>
          </a:p>
        </p:txBody>
      </p:sp>
    </p:spTree>
    <p:extLst>
      <p:ext uri="{BB962C8B-B14F-4D97-AF65-F5344CB8AC3E}">
        <p14:creationId xmlns:p14="http://schemas.microsoft.com/office/powerpoint/2010/main" val="41600997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497A54-BDB9-7904-AD4F-D832C50B297C}"/>
              </a:ext>
            </a:extLst>
          </p:cNvPr>
          <p:cNvSpPr>
            <a:spLocks noGrp="1"/>
          </p:cNvSpPr>
          <p:nvPr>
            <p:ph type="title"/>
          </p:nvPr>
        </p:nvSpPr>
        <p:spPr>
          <a:xfrm>
            <a:off x="8311896" y="1078992"/>
            <a:ext cx="3273552" cy="1947672"/>
          </a:xfrm>
        </p:spPr>
        <p:txBody>
          <a:bodyPr vert="horz" lIns="91440" tIns="45720" rIns="91440" bIns="45720" rtlCol="0" anchor="b">
            <a:normAutofit/>
          </a:bodyPr>
          <a:lstStyle/>
          <a:p>
            <a:r>
              <a:rPr lang="en-US" sz="2700" b="0" kern="1200" cap="all" baseline="0">
                <a:latin typeface="+mj-lt"/>
                <a:ea typeface="+mj-ea"/>
                <a:cs typeface="+mj-cs"/>
              </a:rPr>
              <a:t>Définition, types et importance de la scalabilité</a:t>
            </a:r>
          </a:p>
        </p:txBody>
      </p:sp>
      <p:pic>
        <p:nvPicPr>
          <p:cNvPr id="7" name="Espace réservé du contenu 6" descr="Dossier de fichiers, big data, réseau internet, cloud computing">
            <a:extLst>
              <a:ext uri="{FF2B5EF4-FFF2-40B4-BE49-F238E27FC236}">
                <a16:creationId xmlns:a16="http://schemas.microsoft.com/office/drawing/2014/main" id="{5D86333C-07DB-4679-9501-45133F5213F3}"/>
              </a:ext>
            </a:extLst>
          </p:cNvPr>
          <p:cNvPicPr>
            <a:picLocks noGrp="1" noChangeAspect="1"/>
          </p:cNvPicPr>
          <p:nvPr>
            <p:ph type="pic" sz="quarter" idx="15"/>
          </p:nvPr>
        </p:nvPicPr>
        <p:blipFill>
          <a:blip r:embed="rId3"/>
          <a:srcRect l="11857" r="12604" b="2"/>
          <a:stretch>
            <a:fillRect/>
          </a:stretch>
        </p:blipFill>
        <p:spPr>
          <a:xfrm>
            <a:off x="20" y="10"/>
            <a:ext cx="7734280" cy="6399142"/>
          </a:xfrm>
          <a:prstGeom prst="rect">
            <a:avLst/>
          </a:prstGeom>
          <a:noFill/>
        </p:spPr>
      </p:pic>
      <p:sp>
        <p:nvSpPr>
          <p:cNvPr id="8" name="ZoneTexte 7">
            <a:extLst>
              <a:ext uri="{FF2B5EF4-FFF2-40B4-BE49-F238E27FC236}">
                <a16:creationId xmlns:a16="http://schemas.microsoft.com/office/drawing/2014/main" id="{E853DD4A-5A52-4568-B49A-7FED6E7F46EB}"/>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3099816"/>
            <a:ext cx="3273552" cy="2953512"/>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fr-FR" sz="900" b="1"/>
              <a:t>Définition de la scalabilité</a:t>
            </a:r>
          </a:p>
          <a:p>
            <a:pPr marL="0" lvl="1" indent="0">
              <a:lnSpc>
                <a:spcPct val="90000"/>
              </a:lnSpc>
              <a:spcBef>
                <a:spcPts val="1000"/>
              </a:spcBef>
              <a:spcAft>
                <a:spcPts val="600"/>
              </a:spcAft>
              <a:buFont typeface="Arial" panose="020B0604020202020204" pitchFamily="34" charset="0"/>
              <a:buNone/>
            </a:pPr>
            <a:r>
              <a:rPr lang="fr-FR" sz="900"/>
              <a:t>La scalabilité est la capacité d'un système distribué à s'adapter efficacement aux variations de charge de travail.</a:t>
            </a:r>
          </a:p>
          <a:p>
            <a:pPr marL="0" indent="0">
              <a:lnSpc>
                <a:spcPct val="90000"/>
              </a:lnSpc>
              <a:spcBef>
                <a:spcPts val="2500"/>
              </a:spcBef>
              <a:spcAft>
                <a:spcPts val="600"/>
              </a:spcAft>
              <a:buFont typeface="Arial" panose="020B0604020202020204" pitchFamily="34" charset="0"/>
              <a:buNone/>
            </a:pPr>
            <a:r>
              <a:rPr lang="fr-FR" sz="900" b="1"/>
              <a:t>Scalabilité verticale</a:t>
            </a:r>
          </a:p>
          <a:p>
            <a:pPr marL="0" lvl="1" indent="0">
              <a:lnSpc>
                <a:spcPct val="90000"/>
              </a:lnSpc>
              <a:spcBef>
                <a:spcPts val="1000"/>
              </a:spcBef>
              <a:spcAft>
                <a:spcPts val="600"/>
              </a:spcAft>
              <a:buFont typeface="Arial" panose="020B0604020202020204" pitchFamily="34" charset="0"/>
              <a:buNone/>
            </a:pPr>
            <a:r>
              <a:rPr lang="fr-FR" sz="900"/>
              <a:t>La scalabilité verticale consiste à augmenter les ressources existantes pour améliorer les performances d’un système.</a:t>
            </a:r>
          </a:p>
          <a:p>
            <a:pPr marL="0" indent="0">
              <a:lnSpc>
                <a:spcPct val="90000"/>
              </a:lnSpc>
              <a:spcBef>
                <a:spcPts val="2500"/>
              </a:spcBef>
              <a:spcAft>
                <a:spcPts val="600"/>
              </a:spcAft>
              <a:buFont typeface="Arial" panose="020B0604020202020204" pitchFamily="34" charset="0"/>
              <a:buNone/>
            </a:pPr>
            <a:r>
              <a:rPr lang="fr-FR" sz="900" b="1"/>
              <a:t>Scalabilité horizontale</a:t>
            </a:r>
          </a:p>
          <a:p>
            <a:pPr marL="0" lvl="1" indent="0">
              <a:lnSpc>
                <a:spcPct val="90000"/>
              </a:lnSpc>
              <a:spcBef>
                <a:spcPts val="1000"/>
              </a:spcBef>
              <a:spcAft>
                <a:spcPts val="600"/>
              </a:spcAft>
              <a:buFont typeface="Arial" panose="020B0604020202020204" pitchFamily="34" charset="0"/>
              <a:buNone/>
            </a:pPr>
            <a:r>
              <a:rPr lang="fr-FR" sz="900"/>
              <a:t>La scalabilité horizontale implique l’ajout de nouveaux nœuds pour distribuer la charge de travail.</a:t>
            </a:r>
          </a:p>
        </p:txBody>
      </p:sp>
      <p:sp>
        <p:nvSpPr>
          <p:cNvPr id="4" name="Espace réservé de la date 3">
            <a:extLst>
              <a:ext uri="{FF2B5EF4-FFF2-40B4-BE49-F238E27FC236}">
                <a16:creationId xmlns:a16="http://schemas.microsoft.com/office/drawing/2014/main" id="{C06D0E4E-C4DF-D263-6B2A-4CEE5D8B2B83}"/>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F232E8B6-29F0-09E8-FAB4-BF2502FA8232}"/>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Espace réservé du numéro de diapositive 5">
            <a:extLst>
              <a:ext uri="{FF2B5EF4-FFF2-40B4-BE49-F238E27FC236}">
                <a16:creationId xmlns:a16="http://schemas.microsoft.com/office/drawing/2014/main" id="{31489946-1384-CEF8-C838-6210B9F6E881}"/>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9</a:t>
            </a:fld>
            <a:endParaRPr lang="en-US"/>
          </a:p>
        </p:txBody>
      </p:sp>
    </p:spTree>
    <p:extLst>
      <p:ext uri="{BB962C8B-B14F-4D97-AF65-F5344CB8AC3E}">
        <p14:creationId xmlns:p14="http://schemas.microsoft.com/office/powerpoint/2010/main" val="26828860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7B0A20-7B62-3E2A-7CEF-5F71BEA3FB58}"/>
              </a:ext>
            </a:extLst>
          </p:cNvPr>
          <p:cNvSpPr>
            <a:spLocks noGrp="1"/>
          </p:cNvSpPr>
          <p:nvPr>
            <p:ph type="title"/>
          </p:nvPr>
        </p:nvSpPr>
        <p:spPr>
          <a:xfrm>
            <a:off x="431172" y="293302"/>
            <a:ext cx="11125032" cy="965101"/>
          </a:xfrm>
        </p:spPr>
        <p:txBody>
          <a:bodyPr anchor="b">
            <a:normAutofit/>
          </a:bodyPr>
          <a:lstStyle/>
          <a:p>
            <a:r>
              <a:rPr lang="fr-FR" sz="3000"/>
              <a:t>Architecture modulaire, auto-scaling et optimisation des ressources</a:t>
            </a:r>
          </a:p>
        </p:txBody>
      </p:sp>
      <p:sp>
        <p:nvSpPr>
          <p:cNvPr id="4" name="Espace réservé de la date 3">
            <a:extLst>
              <a:ext uri="{FF2B5EF4-FFF2-40B4-BE49-F238E27FC236}">
                <a16:creationId xmlns:a16="http://schemas.microsoft.com/office/drawing/2014/main" id="{B4B863A8-671B-07EE-AE92-B339ED63147E}"/>
              </a:ext>
            </a:extLst>
          </p:cNvPr>
          <p:cNvSpPr>
            <a:spLocks noGrp="1"/>
          </p:cNvSpPr>
          <p:nvPr>
            <p:ph type="dt" sz="half" idx="10"/>
          </p:nvPr>
        </p:nvSpPr>
        <p:spPr>
          <a:xfrm>
            <a:off x="431172" y="6490524"/>
            <a:ext cx="2841959" cy="336141"/>
          </a:xfrm>
        </p:spPr>
        <p:txBody>
          <a:bodyPr anchor="ctr">
            <a:normAutofit/>
          </a:bodyPr>
          <a:lstStyle/>
          <a:p>
            <a:pPr>
              <a:spcAft>
                <a:spcPts val="600"/>
              </a:spcAft>
            </a:pPr>
            <a:fld id="{FE21D4C7-8630-4B98-978C-30388BBD4EE8}"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52293C95-A7FD-343A-EDED-79795FD77668}"/>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Espace réservé du numéro de diapositive 5">
            <a:extLst>
              <a:ext uri="{FF2B5EF4-FFF2-40B4-BE49-F238E27FC236}">
                <a16:creationId xmlns:a16="http://schemas.microsoft.com/office/drawing/2014/main" id="{7F08792E-FB35-1A85-CBE7-7622B7CFA392}"/>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10</a:t>
            </a:fld>
            <a:endParaRPr lang="en-US"/>
          </a:p>
        </p:txBody>
      </p:sp>
      <p:graphicFrame>
        <p:nvGraphicFramePr>
          <p:cNvPr id="7" name="Espace réservé du contenu 7">
            <a:extLst>
              <a:ext uri="{FF2B5EF4-FFF2-40B4-BE49-F238E27FC236}">
                <a16:creationId xmlns:a16="http://schemas.microsoft.com/office/drawing/2014/main" id="{43BD18B3-AFAB-4651-9D75-BA95F44AE3FD}"/>
              </a:ext>
            </a:extLst>
          </p:cNvPr>
          <p:cNvGraphicFramePr>
            <a:graphicFrameLocks noGrp="1"/>
          </p:cNvGraphicFramePr>
          <p:nvPr>
            <p:ph idx="1"/>
            <p:extLst>
              <p:ext uri="{D42A27DB-BD31-4B8C-83A1-F6EECF244321}">
                <p14:modId xmlns:p14="http://schemas.microsoft.com/office/powerpoint/2010/main" val="2384256428"/>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31172" y="1384847"/>
          <a:ext cx="11125032" cy="49051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4235890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C2D0D2-493B-753E-8EAC-3F1F69DC301F}"/>
              </a:ext>
            </a:extLst>
          </p:cNvPr>
          <p:cNvSpPr>
            <a:spLocks noGrp="1"/>
          </p:cNvSpPr>
          <p:nvPr>
            <p:ph type="title"/>
          </p:nvPr>
        </p:nvSpPr>
        <p:spPr>
          <a:xfrm>
            <a:off x="431172" y="553616"/>
            <a:ext cx="7914087" cy="4008859"/>
          </a:xfrm>
        </p:spPr>
        <p:txBody>
          <a:bodyPr anchor="t">
            <a:normAutofit/>
          </a:bodyPr>
          <a:lstStyle/>
          <a:p>
            <a:r>
              <a:rPr lang="fr-FR"/>
              <a:t>Tolérance aux pannes et gestion des défaillances</a:t>
            </a:r>
          </a:p>
        </p:txBody>
      </p:sp>
      <p:sp>
        <p:nvSpPr>
          <p:cNvPr id="11" name="Text Placeholder 2">
            <a:extLst>
              <a:ext uri="{FF2B5EF4-FFF2-40B4-BE49-F238E27FC236}">
                <a16:creationId xmlns:a16="http://schemas.microsoft.com/office/drawing/2014/main" id="{99483B30-E7B1-4733-B205-039E428C30E4}"/>
              </a:ext>
            </a:extLst>
          </p:cNvPr>
          <p:cNvSpPr>
            <a:spLocks noGrp="1"/>
          </p:cNvSpPr>
          <p:nvPr>
            <p:ph type="body" idx="1"/>
          </p:nvPr>
        </p:nvSpPr>
        <p:spPr>
          <a:xfrm>
            <a:off x="431172" y="5088156"/>
            <a:ext cx="7914087" cy="1166648"/>
          </a:xfrm>
        </p:spPr>
        <p:txBody>
          <a:bodyPr/>
          <a:lstStyle/>
          <a:p>
            <a:endParaRPr lang="en-US"/>
          </a:p>
        </p:txBody>
      </p:sp>
      <p:sp>
        <p:nvSpPr>
          <p:cNvPr id="4" name="Espace réservé de la date 3">
            <a:extLst>
              <a:ext uri="{FF2B5EF4-FFF2-40B4-BE49-F238E27FC236}">
                <a16:creationId xmlns:a16="http://schemas.microsoft.com/office/drawing/2014/main" id="{9096259C-24D3-827C-0F7A-CA2E1AD7945F}"/>
              </a:ext>
            </a:extLst>
          </p:cNvPr>
          <p:cNvSpPr>
            <a:spLocks noGrp="1"/>
          </p:cNvSpPr>
          <p:nvPr>
            <p:ph type="dt" sz="half" idx="10"/>
          </p:nvPr>
        </p:nvSpPr>
        <p:spPr>
          <a:xfrm>
            <a:off x="431172" y="6490524"/>
            <a:ext cx="2841959" cy="336141"/>
          </a:xfrm>
        </p:spPr>
        <p:txBody>
          <a:bodyPr anchor="ctr">
            <a:normAutofit/>
          </a:bodyPr>
          <a:lstStyle/>
          <a:p>
            <a:pPr>
              <a:spcAft>
                <a:spcPts val="600"/>
              </a:spcAft>
            </a:pPr>
            <a:fld id="{B04EF954-66B1-4168-AF40-97F3DAF43FC4}"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D3302E01-B52A-A6F7-E53D-19C97D4F6CD3}"/>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Espace réservé du numéro de diapositive 5">
            <a:extLst>
              <a:ext uri="{FF2B5EF4-FFF2-40B4-BE49-F238E27FC236}">
                <a16:creationId xmlns:a16="http://schemas.microsoft.com/office/drawing/2014/main" id="{846978D7-B456-8248-5CB3-964ABF108832}"/>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11</a:t>
            </a:fld>
            <a:endParaRPr lang="en-US"/>
          </a:p>
        </p:txBody>
      </p:sp>
    </p:spTree>
    <p:extLst>
      <p:ext uri="{BB962C8B-B14F-4D97-AF65-F5344CB8AC3E}">
        <p14:creationId xmlns:p14="http://schemas.microsoft.com/office/powerpoint/2010/main" val="32950479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CE0A27-2B6F-F13F-D790-E0B8F49058ED}"/>
              </a:ext>
            </a:extLst>
          </p:cNvPr>
          <p:cNvSpPr>
            <a:spLocks noGrp="1"/>
          </p:cNvSpPr>
          <p:nvPr>
            <p:ph type="title"/>
          </p:nvPr>
        </p:nvSpPr>
        <p:spPr>
          <a:xfrm>
            <a:off x="8311896" y="1078992"/>
            <a:ext cx="3273552" cy="1947672"/>
          </a:xfrm>
        </p:spPr>
        <p:txBody>
          <a:bodyPr vert="horz" lIns="91440" tIns="45720" rIns="91440" bIns="45720" rtlCol="0" anchor="b">
            <a:normAutofit/>
          </a:bodyPr>
          <a:lstStyle/>
          <a:p>
            <a:r>
              <a:rPr lang="en-US" sz="2700" b="0" kern="1200" cap="all" baseline="0">
                <a:latin typeface="+mj-lt"/>
                <a:ea typeface="+mj-ea"/>
                <a:cs typeface="+mj-cs"/>
              </a:rPr>
              <a:t>Principes de la tolérance aux pannes et continuité de service</a:t>
            </a:r>
          </a:p>
        </p:txBody>
      </p:sp>
      <p:pic>
        <p:nvPicPr>
          <p:cNvPr id="7" name="Espace réservé du contenu 6" descr="Concept de croissance durable et de financement de serre pyramidale brillante">
            <a:extLst>
              <a:ext uri="{FF2B5EF4-FFF2-40B4-BE49-F238E27FC236}">
                <a16:creationId xmlns:a16="http://schemas.microsoft.com/office/drawing/2014/main" id="{750D6A40-EDA4-43E2-AB24-F04BCC3F38D6}"/>
              </a:ext>
            </a:extLst>
          </p:cNvPr>
          <p:cNvPicPr>
            <a:picLocks noGrp="1" noChangeAspect="1"/>
          </p:cNvPicPr>
          <p:nvPr>
            <p:ph type="pic" sz="quarter" idx="15"/>
          </p:nvPr>
        </p:nvPicPr>
        <p:blipFill>
          <a:blip r:embed="rId3"/>
          <a:srcRect l="19323" r="1" b="1"/>
          <a:stretch>
            <a:fillRect/>
          </a:stretch>
        </p:blipFill>
        <p:spPr>
          <a:xfrm>
            <a:off x="20" y="10"/>
            <a:ext cx="7734280" cy="6399142"/>
          </a:xfrm>
          <a:prstGeom prst="rect">
            <a:avLst/>
          </a:prstGeom>
          <a:noFill/>
        </p:spPr>
      </p:pic>
      <p:sp>
        <p:nvSpPr>
          <p:cNvPr id="8" name="ZoneTexte 7">
            <a:extLst>
              <a:ext uri="{FF2B5EF4-FFF2-40B4-BE49-F238E27FC236}">
                <a16:creationId xmlns:a16="http://schemas.microsoft.com/office/drawing/2014/main" id="{26A1E1F2-4312-4CC7-8789-E5803E43FA95}"/>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3099816"/>
            <a:ext cx="3273552" cy="2953512"/>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fr-FR" sz="900" b="1"/>
              <a:t>Gestion des défaillances</a:t>
            </a:r>
          </a:p>
          <a:p>
            <a:pPr marL="0" lvl="1" indent="0">
              <a:lnSpc>
                <a:spcPct val="90000"/>
              </a:lnSpc>
              <a:spcBef>
                <a:spcPts val="1000"/>
              </a:spcBef>
              <a:spcAft>
                <a:spcPts val="600"/>
              </a:spcAft>
              <a:buFont typeface="Arial" panose="020B0604020202020204" pitchFamily="34" charset="0"/>
              <a:buNone/>
            </a:pPr>
            <a:r>
              <a:rPr lang="fr-FR" sz="900"/>
              <a:t>La tolérance aux pannes permet aux systèmes de gérer les défaillances sans interruption des services essentiels.</a:t>
            </a:r>
          </a:p>
          <a:p>
            <a:pPr marL="0" indent="0">
              <a:lnSpc>
                <a:spcPct val="90000"/>
              </a:lnSpc>
              <a:spcBef>
                <a:spcPts val="2500"/>
              </a:spcBef>
              <a:spcAft>
                <a:spcPts val="600"/>
              </a:spcAft>
              <a:buFont typeface="Arial" panose="020B0604020202020204" pitchFamily="34" charset="0"/>
              <a:buNone/>
            </a:pPr>
            <a:r>
              <a:rPr lang="fr-FR" sz="900" b="1"/>
              <a:t>Détection et isolation des erreurs</a:t>
            </a:r>
          </a:p>
          <a:p>
            <a:pPr marL="0" lvl="1" indent="0">
              <a:lnSpc>
                <a:spcPct val="90000"/>
              </a:lnSpc>
              <a:spcBef>
                <a:spcPts val="1000"/>
              </a:spcBef>
              <a:spcAft>
                <a:spcPts val="600"/>
              </a:spcAft>
              <a:buFont typeface="Arial" panose="020B0604020202020204" pitchFamily="34" charset="0"/>
              <a:buNone/>
            </a:pPr>
            <a:r>
              <a:rPr lang="fr-FR" sz="900"/>
              <a:t>Les mécanismes détectent et isolent rapidement les erreurs pour éviter leur propagation dans le système.</a:t>
            </a:r>
          </a:p>
          <a:p>
            <a:pPr marL="0" indent="0">
              <a:lnSpc>
                <a:spcPct val="90000"/>
              </a:lnSpc>
              <a:spcBef>
                <a:spcPts val="2500"/>
              </a:spcBef>
              <a:spcAft>
                <a:spcPts val="600"/>
              </a:spcAft>
              <a:buFont typeface="Arial" panose="020B0604020202020204" pitchFamily="34" charset="0"/>
              <a:buNone/>
            </a:pPr>
            <a:r>
              <a:rPr lang="fr-FR" sz="900" b="1"/>
              <a:t>Récupération et continuité</a:t>
            </a:r>
          </a:p>
          <a:p>
            <a:pPr marL="0" lvl="1" indent="0">
              <a:lnSpc>
                <a:spcPct val="90000"/>
              </a:lnSpc>
              <a:spcBef>
                <a:spcPts val="1000"/>
              </a:spcBef>
              <a:spcAft>
                <a:spcPts val="600"/>
              </a:spcAft>
              <a:buFont typeface="Arial" panose="020B0604020202020204" pitchFamily="34" charset="0"/>
              <a:buNone/>
            </a:pPr>
            <a:r>
              <a:rPr lang="fr-FR" sz="900"/>
              <a:t>Les systèmes récupèrent automatiquement pour assurer la continuité de service malgré les incidents.</a:t>
            </a:r>
          </a:p>
        </p:txBody>
      </p:sp>
      <p:sp>
        <p:nvSpPr>
          <p:cNvPr id="4" name="Espace réservé de la date 3">
            <a:extLst>
              <a:ext uri="{FF2B5EF4-FFF2-40B4-BE49-F238E27FC236}">
                <a16:creationId xmlns:a16="http://schemas.microsoft.com/office/drawing/2014/main" id="{5CD75D61-E13F-4717-4E48-CF22EAAC35D6}"/>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DA7E69A6-155A-63B9-1AC0-4837C5CFE348}"/>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Espace réservé du numéro de diapositive 5">
            <a:extLst>
              <a:ext uri="{FF2B5EF4-FFF2-40B4-BE49-F238E27FC236}">
                <a16:creationId xmlns:a16="http://schemas.microsoft.com/office/drawing/2014/main" id="{CCE3AEB2-7BF0-6B58-A6C6-A064A2F779B4}"/>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12</a:t>
            </a:fld>
            <a:endParaRPr lang="en-US"/>
          </a:p>
        </p:txBody>
      </p:sp>
    </p:spTree>
    <p:extLst>
      <p:ext uri="{BB962C8B-B14F-4D97-AF65-F5344CB8AC3E}">
        <p14:creationId xmlns:p14="http://schemas.microsoft.com/office/powerpoint/2010/main" val="21382524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AE2DD-1906-1C6D-9ABA-E0A08D89E1C2}"/>
              </a:ext>
            </a:extLst>
          </p:cNvPr>
          <p:cNvSpPr>
            <a:spLocks noGrp="1"/>
          </p:cNvSpPr>
          <p:nvPr>
            <p:ph type="title"/>
          </p:nvPr>
        </p:nvSpPr>
        <p:spPr>
          <a:xfrm>
            <a:off x="8311896" y="1078992"/>
            <a:ext cx="3273552" cy="1947672"/>
          </a:xfrm>
        </p:spPr>
        <p:txBody>
          <a:bodyPr vert="horz" lIns="91440" tIns="45720" rIns="91440" bIns="45720" rtlCol="0" anchor="b">
            <a:normAutofit/>
          </a:bodyPr>
          <a:lstStyle/>
          <a:p>
            <a:r>
              <a:rPr lang="en-US" sz="3000" b="0" kern="1200" cap="all" baseline="0">
                <a:latin typeface="+mj-lt"/>
                <a:ea typeface="+mj-ea"/>
                <a:cs typeface="+mj-cs"/>
              </a:rPr>
              <a:t>Stratégies de redondance et failover automatique</a:t>
            </a:r>
          </a:p>
        </p:txBody>
      </p:sp>
      <p:pic>
        <p:nvPicPr>
          <p:cNvPr id="7" name="Espace réservé du contenu 6" descr="Communication et collaboration mondiales impliquant de manière complexe des cordes et des clés électroniques par le biais de réseaux sociaux de téléphones intelligents équipés d’IA.">
            <a:extLst>
              <a:ext uri="{FF2B5EF4-FFF2-40B4-BE49-F238E27FC236}">
                <a16:creationId xmlns:a16="http://schemas.microsoft.com/office/drawing/2014/main" id="{76D193A1-264C-44F8-A26E-CFB9AC81A1FD}"/>
              </a:ext>
            </a:extLst>
          </p:cNvPr>
          <p:cNvPicPr>
            <a:picLocks noGrp="1" noChangeAspect="1"/>
          </p:cNvPicPr>
          <p:nvPr>
            <p:ph type="pic" sz="quarter" idx="15"/>
          </p:nvPr>
        </p:nvPicPr>
        <p:blipFill>
          <a:blip r:embed="rId3"/>
          <a:srcRect l="13530" r="5794" b="1"/>
          <a:stretch>
            <a:fillRect/>
          </a:stretch>
        </p:blipFill>
        <p:spPr>
          <a:xfrm>
            <a:off x="20" y="10"/>
            <a:ext cx="7734280" cy="6399142"/>
          </a:xfrm>
          <a:prstGeom prst="rect">
            <a:avLst/>
          </a:prstGeom>
          <a:noFill/>
        </p:spPr>
      </p:pic>
      <p:sp>
        <p:nvSpPr>
          <p:cNvPr id="8" name="ZoneTexte 7">
            <a:extLst>
              <a:ext uri="{FF2B5EF4-FFF2-40B4-BE49-F238E27FC236}">
                <a16:creationId xmlns:a16="http://schemas.microsoft.com/office/drawing/2014/main" id="{CC94F17C-466E-4594-BBA3-E8DB6D4B544C}"/>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3099816"/>
            <a:ext cx="3273552" cy="2953512"/>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fr-FR" sz="1400" b="1"/>
              <a:t>Stratégies de redondance</a:t>
            </a:r>
          </a:p>
          <a:p>
            <a:pPr marL="0" lvl="1" indent="0">
              <a:lnSpc>
                <a:spcPct val="90000"/>
              </a:lnSpc>
              <a:spcBef>
                <a:spcPts val="1000"/>
              </a:spcBef>
              <a:spcAft>
                <a:spcPts val="600"/>
              </a:spcAft>
              <a:buFont typeface="Arial" panose="020B0604020202020204" pitchFamily="34" charset="0"/>
              <a:buNone/>
            </a:pPr>
            <a:r>
              <a:rPr lang="fr-FR" sz="1400"/>
              <a:t>La redondance implique la réplication des données et processus sur plusieurs nœuds pour assurer la continuité du service.</a:t>
            </a:r>
          </a:p>
          <a:p>
            <a:pPr marL="0" indent="0">
              <a:lnSpc>
                <a:spcPct val="90000"/>
              </a:lnSpc>
              <a:spcBef>
                <a:spcPts val="2500"/>
              </a:spcBef>
              <a:spcAft>
                <a:spcPts val="600"/>
              </a:spcAft>
              <a:buFont typeface="Arial" panose="020B0604020202020204" pitchFamily="34" charset="0"/>
              <a:buNone/>
            </a:pPr>
            <a:r>
              <a:rPr lang="fr-FR" sz="1400" b="1"/>
              <a:t>Failover automatique</a:t>
            </a:r>
          </a:p>
          <a:p>
            <a:pPr marL="0" lvl="1" indent="0">
              <a:lnSpc>
                <a:spcPct val="90000"/>
              </a:lnSpc>
              <a:spcBef>
                <a:spcPts val="1000"/>
              </a:spcBef>
              <a:spcAft>
                <a:spcPts val="600"/>
              </a:spcAft>
              <a:buFont typeface="Arial" panose="020B0604020202020204" pitchFamily="34" charset="0"/>
              <a:buNone/>
            </a:pPr>
            <a:r>
              <a:rPr lang="fr-FR" sz="1400"/>
              <a:t>Les mécanismes de failover automatique permettent une transition fluide vers les ressources de secours sans interruption.</a:t>
            </a:r>
          </a:p>
        </p:txBody>
      </p:sp>
      <p:sp>
        <p:nvSpPr>
          <p:cNvPr id="4" name="Espace réservé de la date 3">
            <a:extLst>
              <a:ext uri="{FF2B5EF4-FFF2-40B4-BE49-F238E27FC236}">
                <a16:creationId xmlns:a16="http://schemas.microsoft.com/office/drawing/2014/main" id="{7CAF42CD-41FB-6BC0-CA84-ABCF0E056976}"/>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D3A5F598-F9B9-4677-4C64-186BFB3F9C5D}"/>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Espace réservé du numéro de diapositive 5">
            <a:extLst>
              <a:ext uri="{FF2B5EF4-FFF2-40B4-BE49-F238E27FC236}">
                <a16:creationId xmlns:a16="http://schemas.microsoft.com/office/drawing/2014/main" id="{AB29CDA7-04D0-92C5-F0D0-907608278EF6}"/>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13</a:t>
            </a:fld>
            <a:endParaRPr lang="en-US"/>
          </a:p>
        </p:txBody>
      </p:sp>
    </p:spTree>
    <p:extLst>
      <p:ext uri="{BB962C8B-B14F-4D97-AF65-F5344CB8AC3E}">
        <p14:creationId xmlns:p14="http://schemas.microsoft.com/office/powerpoint/2010/main" val="10143598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94B076-DB86-F4B6-F3DE-D01E4A777A66}"/>
              </a:ext>
            </a:extLst>
          </p:cNvPr>
          <p:cNvSpPr>
            <a:spLocks noGrp="1"/>
          </p:cNvSpPr>
          <p:nvPr>
            <p:ph type="title"/>
          </p:nvPr>
        </p:nvSpPr>
        <p:spPr>
          <a:xfrm>
            <a:off x="8321040" y="603504"/>
            <a:ext cx="3401568" cy="1527048"/>
          </a:xfrm>
        </p:spPr>
        <p:txBody>
          <a:bodyPr vert="horz" lIns="91440" tIns="45720" rIns="91440" bIns="45720" rtlCol="0" anchor="b">
            <a:normAutofit/>
          </a:bodyPr>
          <a:lstStyle/>
          <a:p>
            <a:r>
              <a:rPr lang="en-US" sz="2500" b="0" kern="1200" cap="all" baseline="0">
                <a:latin typeface="+mj-lt"/>
                <a:ea typeface="+mj-ea"/>
                <a:cs typeface="+mj-cs"/>
              </a:rPr>
              <a:t>Monitoring, logging et restauration de l’état</a:t>
            </a:r>
          </a:p>
        </p:txBody>
      </p:sp>
      <p:pic>
        <p:nvPicPr>
          <p:cNvPr id="7" name="Espace réservé du contenu 6" descr="Camion forestier sur un pont à voie unique">
            <a:extLst>
              <a:ext uri="{FF2B5EF4-FFF2-40B4-BE49-F238E27FC236}">
                <a16:creationId xmlns:a16="http://schemas.microsoft.com/office/drawing/2014/main" id="{7AF8A930-C7BC-4DA6-9482-158761F15AA0}"/>
              </a:ext>
            </a:extLst>
          </p:cNvPr>
          <p:cNvPicPr>
            <a:picLocks noGrp="1" noChangeAspect="1"/>
          </p:cNvPicPr>
          <p:nvPr>
            <p:ph type="pic" sz="quarter" idx="15"/>
          </p:nvPr>
        </p:nvPicPr>
        <p:blipFill>
          <a:blip r:embed="rId3"/>
          <a:srcRect l="14201" r="23554" b="1"/>
          <a:stretch>
            <a:fillRect/>
          </a:stretch>
        </p:blipFill>
        <p:spPr>
          <a:xfrm>
            <a:off x="20" y="10"/>
            <a:ext cx="7734280" cy="6399142"/>
          </a:xfrm>
          <a:prstGeom prst="rect">
            <a:avLst/>
          </a:prstGeom>
          <a:noFill/>
        </p:spPr>
      </p:pic>
      <p:sp>
        <p:nvSpPr>
          <p:cNvPr id="8" name="ZoneTexte 7">
            <a:extLst>
              <a:ext uri="{FF2B5EF4-FFF2-40B4-BE49-F238E27FC236}">
                <a16:creationId xmlns:a16="http://schemas.microsoft.com/office/drawing/2014/main" id="{B1D212F2-F675-4373-9BB6-BE71DBE18D7F}"/>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21040" y="2276856"/>
            <a:ext cx="3401568" cy="4041648"/>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fr-FR" sz="1300" b="1"/>
              <a:t>Systèmes de monitoring sophistiqués</a:t>
            </a:r>
          </a:p>
          <a:p>
            <a:pPr marL="0" lvl="1" indent="0">
              <a:lnSpc>
                <a:spcPct val="90000"/>
              </a:lnSpc>
              <a:spcBef>
                <a:spcPts val="1000"/>
              </a:spcBef>
              <a:spcAft>
                <a:spcPts val="600"/>
              </a:spcAft>
              <a:buFont typeface="Arial" panose="020B0604020202020204" pitchFamily="34" charset="0"/>
              <a:buNone/>
            </a:pPr>
            <a:r>
              <a:rPr lang="fr-FR" sz="1300"/>
              <a:t>Le monitoring avancé détecte rapidement les anomalies et aide au diagnostic des problèmes dans les systèmes informatiques.</a:t>
            </a:r>
          </a:p>
          <a:p>
            <a:pPr marL="0" indent="0">
              <a:lnSpc>
                <a:spcPct val="90000"/>
              </a:lnSpc>
              <a:spcBef>
                <a:spcPts val="2500"/>
              </a:spcBef>
              <a:spcAft>
                <a:spcPts val="600"/>
              </a:spcAft>
              <a:buFont typeface="Arial" panose="020B0604020202020204" pitchFamily="34" charset="0"/>
              <a:buNone/>
            </a:pPr>
            <a:r>
              <a:rPr lang="fr-FR" sz="1300" b="1"/>
              <a:t>Journalisation pour diagnostic</a:t>
            </a:r>
          </a:p>
          <a:p>
            <a:pPr marL="0" lvl="1" indent="0">
              <a:lnSpc>
                <a:spcPct val="90000"/>
              </a:lnSpc>
              <a:spcBef>
                <a:spcPts val="1000"/>
              </a:spcBef>
              <a:spcAft>
                <a:spcPts val="600"/>
              </a:spcAft>
              <a:buFont typeface="Arial" panose="020B0604020202020204" pitchFamily="34" charset="0"/>
              <a:buNone/>
            </a:pPr>
            <a:r>
              <a:rPr lang="fr-FR" sz="1300"/>
              <a:t>Les outils de logging enregistrent les événements pour faciliter la détection des erreurs et le diagnostic précis.</a:t>
            </a:r>
          </a:p>
          <a:p>
            <a:pPr marL="0" indent="0">
              <a:lnSpc>
                <a:spcPct val="90000"/>
              </a:lnSpc>
              <a:spcBef>
                <a:spcPts val="2500"/>
              </a:spcBef>
              <a:spcAft>
                <a:spcPts val="600"/>
              </a:spcAft>
              <a:buFont typeface="Arial" panose="020B0604020202020204" pitchFamily="34" charset="0"/>
              <a:buNone/>
            </a:pPr>
            <a:r>
              <a:rPr lang="fr-FR" sz="1300" b="1"/>
              <a:t>Restauration via checkpoints</a:t>
            </a:r>
          </a:p>
          <a:p>
            <a:pPr marL="0" lvl="1" indent="0">
              <a:lnSpc>
                <a:spcPct val="90000"/>
              </a:lnSpc>
              <a:spcBef>
                <a:spcPts val="1000"/>
              </a:spcBef>
              <a:spcAft>
                <a:spcPts val="600"/>
              </a:spcAft>
              <a:buFont typeface="Arial" panose="020B0604020202020204" pitchFamily="34" charset="0"/>
              <a:buNone/>
            </a:pPr>
            <a:r>
              <a:rPr lang="fr-FR" sz="1300"/>
              <a:t>Les checkpoints réguliers permettent de restaurer l’état du système à un point cohérent après une défaillance.</a:t>
            </a:r>
          </a:p>
        </p:txBody>
      </p:sp>
      <p:sp>
        <p:nvSpPr>
          <p:cNvPr id="4" name="Espace réservé de la date 3">
            <a:extLst>
              <a:ext uri="{FF2B5EF4-FFF2-40B4-BE49-F238E27FC236}">
                <a16:creationId xmlns:a16="http://schemas.microsoft.com/office/drawing/2014/main" id="{3CBC5D5E-9D98-2E48-B010-19F5AA503ADA}"/>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47742AD1-BBAB-69B0-BDF3-8534D9E40221}"/>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Espace réservé du numéro de diapositive 5">
            <a:extLst>
              <a:ext uri="{FF2B5EF4-FFF2-40B4-BE49-F238E27FC236}">
                <a16:creationId xmlns:a16="http://schemas.microsoft.com/office/drawing/2014/main" id="{D54E71BC-4044-7EB3-0C40-9DD1CBEAFD70}"/>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14</a:t>
            </a:fld>
            <a:endParaRPr lang="en-US"/>
          </a:p>
        </p:txBody>
      </p:sp>
    </p:spTree>
    <p:extLst>
      <p:ext uri="{BB962C8B-B14F-4D97-AF65-F5344CB8AC3E}">
        <p14:creationId xmlns:p14="http://schemas.microsoft.com/office/powerpoint/2010/main" val="21064828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D7BFDC-FDDF-34F3-2D53-0A05DC115B61}"/>
              </a:ext>
            </a:extLst>
          </p:cNvPr>
          <p:cNvSpPr>
            <a:spLocks noGrp="1"/>
          </p:cNvSpPr>
          <p:nvPr>
            <p:ph type="title"/>
          </p:nvPr>
        </p:nvSpPr>
        <p:spPr>
          <a:xfrm>
            <a:off x="431172" y="553616"/>
            <a:ext cx="7914087" cy="4008859"/>
          </a:xfrm>
        </p:spPr>
        <p:txBody>
          <a:bodyPr anchor="t">
            <a:normAutofit/>
          </a:bodyPr>
          <a:lstStyle/>
          <a:p>
            <a:r>
              <a:rPr lang="fr-FR"/>
              <a:t>Principes et enjeux de la programmation distribuée</a:t>
            </a:r>
          </a:p>
        </p:txBody>
      </p:sp>
      <p:sp>
        <p:nvSpPr>
          <p:cNvPr id="11" name="Text Placeholder 2">
            <a:extLst>
              <a:ext uri="{FF2B5EF4-FFF2-40B4-BE49-F238E27FC236}">
                <a16:creationId xmlns:a16="http://schemas.microsoft.com/office/drawing/2014/main" id="{FDC0448E-DE42-A6FD-4B44-4A1A8732BD30}"/>
              </a:ext>
            </a:extLst>
          </p:cNvPr>
          <p:cNvSpPr>
            <a:spLocks noGrp="1"/>
          </p:cNvSpPr>
          <p:nvPr>
            <p:ph type="body" idx="1"/>
          </p:nvPr>
        </p:nvSpPr>
        <p:spPr>
          <a:xfrm>
            <a:off x="431172" y="5088156"/>
            <a:ext cx="7914087" cy="1166648"/>
          </a:xfrm>
        </p:spPr>
        <p:txBody>
          <a:bodyPr/>
          <a:lstStyle/>
          <a:p>
            <a:endParaRPr lang="en-US"/>
          </a:p>
        </p:txBody>
      </p:sp>
      <p:sp>
        <p:nvSpPr>
          <p:cNvPr id="4" name="Espace réservé de la date 3">
            <a:extLst>
              <a:ext uri="{FF2B5EF4-FFF2-40B4-BE49-F238E27FC236}">
                <a16:creationId xmlns:a16="http://schemas.microsoft.com/office/drawing/2014/main" id="{CC5E363A-A261-1140-EDDD-5D853FEA5111}"/>
              </a:ext>
            </a:extLst>
          </p:cNvPr>
          <p:cNvSpPr>
            <a:spLocks noGrp="1"/>
          </p:cNvSpPr>
          <p:nvPr>
            <p:ph type="dt" sz="half" idx="10"/>
          </p:nvPr>
        </p:nvSpPr>
        <p:spPr>
          <a:xfrm>
            <a:off x="431172" y="6490524"/>
            <a:ext cx="2841959" cy="336141"/>
          </a:xfrm>
        </p:spPr>
        <p:txBody>
          <a:bodyPr anchor="ctr">
            <a:normAutofit/>
          </a:bodyPr>
          <a:lstStyle/>
          <a:p>
            <a:pPr>
              <a:spcAft>
                <a:spcPts val="600"/>
              </a:spcAft>
            </a:pPr>
            <a:fld id="{B04EF954-66B1-4168-AF40-97F3DAF43FC4}"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6C92C67F-D0B0-D6FB-EAE0-367AD7D8FF18}"/>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Espace réservé du numéro de diapositive 5">
            <a:extLst>
              <a:ext uri="{FF2B5EF4-FFF2-40B4-BE49-F238E27FC236}">
                <a16:creationId xmlns:a16="http://schemas.microsoft.com/office/drawing/2014/main" id="{94FB49A9-67E1-F092-4CFC-17486236E762}"/>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15</a:t>
            </a:fld>
            <a:endParaRPr lang="en-US"/>
          </a:p>
        </p:txBody>
      </p:sp>
    </p:spTree>
    <p:extLst>
      <p:ext uri="{BB962C8B-B14F-4D97-AF65-F5344CB8AC3E}">
        <p14:creationId xmlns:p14="http://schemas.microsoft.com/office/powerpoint/2010/main" val="4059716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2D7B80-47FD-6A19-98E1-E2E0FD9DCAC1}"/>
              </a:ext>
            </a:extLst>
          </p:cNvPr>
          <p:cNvSpPr>
            <a:spLocks noGrp="1"/>
          </p:cNvSpPr>
          <p:nvPr>
            <p:ph type="title"/>
          </p:nvPr>
        </p:nvSpPr>
        <p:spPr>
          <a:xfrm>
            <a:off x="429768" y="548639"/>
            <a:ext cx="4855464" cy="1453896"/>
          </a:xfrm>
        </p:spPr>
        <p:txBody>
          <a:bodyPr vert="horz" lIns="91440" tIns="45720" rIns="91440" bIns="45720" rtlCol="0" anchor="t">
            <a:normAutofit/>
          </a:bodyPr>
          <a:lstStyle/>
          <a:p>
            <a:r>
              <a:rPr lang="en-US" sz="2500" b="0" kern="1200" cap="all" baseline="0">
                <a:latin typeface="+mj-lt"/>
                <a:ea typeface="+mj-ea"/>
                <a:cs typeface="+mj-cs"/>
              </a:rPr>
              <a:t>Principes fondamentaux de la programmation distribuée</a:t>
            </a:r>
          </a:p>
        </p:txBody>
      </p:sp>
      <p:pic>
        <p:nvPicPr>
          <p:cNvPr id="7" name="Espace réservé du contenu 6" descr="Femme d’affaires utilisant une tablette numérique et un ordinateur portable avec icône de sablier sur le tableau noir">
            <a:extLst>
              <a:ext uri="{FF2B5EF4-FFF2-40B4-BE49-F238E27FC236}">
                <a16:creationId xmlns:a16="http://schemas.microsoft.com/office/drawing/2014/main" id="{6CF81BBA-2385-412D-8132-AC69823272E8}"/>
              </a:ext>
            </a:extLst>
          </p:cNvPr>
          <p:cNvPicPr>
            <a:picLocks noGrp="1" noChangeAspect="1"/>
          </p:cNvPicPr>
          <p:nvPr>
            <p:ph type="pic" sz="quarter" idx="15"/>
          </p:nvPr>
        </p:nvPicPr>
        <p:blipFill>
          <a:blip r:embed="rId3"/>
          <a:srcRect l="8616" r="14097" b="3"/>
          <a:stretch>
            <a:fillRect/>
          </a:stretch>
        </p:blipFill>
        <p:spPr>
          <a:xfrm>
            <a:off x="20" y="2293496"/>
            <a:ext cx="5285212" cy="4564504"/>
          </a:xfrm>
          <a:prstGeom prst="rect">
            <a:avLst/>
          </a:prstGeom>
          <a:noFill/>
        </p:spPr>
      </p:pic>
      <p:sp>
        <p:nvSpPr>
          <p:cNvPr id="8" name="ZoneTexte 7">
            <a:extLst>
              <a:ext uri="{FF2B5EF4-FFF2-40B4-BE49-F238E27FC236}">
                <a16:creationId xmlns:a16="http://schemas.microsoft.com/office/drawing/2014/main" id="{F9D9414A-17C3-4784-BB26-3120C6FE1980}"/>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a:prstGeom prst="rect">
            <a:avLst/>
          </a:prstGeom>
        </p:spPr>
        <p:txBody>
          <a:bodyPr>
            <a:normAutofit/>
          </a:bodyPr>
          <a:lstStyle/>
          <a:p>
            <a:pPr marL="0" indent="0">
              <a:spcBef>
                <a:spcPts val="2500"/>
              </a:spcBef>
              <a:spcAft>
                <a:spcPts val="600"/>
              </a:spcAft>
              <a:buFont typeface="Arial" panose="020B0604020202020204" pitchFamily="34" charset="0"/>
              <a:buNone/>
            </a:pPr>
            <a:r>
              <a:rPr lang="fr-FR" sz="1400" b="1"/>
              <a:t>Principes clés de la programmation</a:t>
            </a:r>
          </a:p>
          <a:p>
            <a:pPr marL="0" lvl="1" indent="0">
              <a:spcBef>
                <a:spcPts val="1000"/>
              </a:spcBef>
              <a:spcAft>
                <a:spcPts val="600"/>
              </a:spcAft>
              <a:buFont typeface="Arial" panose="020B0604020202020204" pitchFamily="34" charset="0"/>
              <a:buNone/>
            </a:pPr>
            <a:r>
              <a:rPr lang="fr-FR" sz="1400"/>
              <a:t>La programmation distribuée repose sur la décomposition des tâches, la coordination des processus et la gestion des ressources partagées.</a:t>
            </a:r>
          </a:p>
          <a:p>
            <a:pPr marL="0" indent="0">
              <a:spcBef>
                <a:spcPts val="2500"/>
              </a:spcBef>
              <a:spcAft>
                <a:spcPts val="600"/>
              </a:spcAft>
              <a:buFont typeface="Arial" panose="020B0604020202020204" pitchFamily="34" charset="0"/>
              <a:buNone/>
            </a:pPr>
            <a:r>
              <a:rPr lang="fr-FR" sz="1400" b="1"/>
              <a:t>Gestion des défis techniques</a:t>
            </a:r>
          </a:p>
          <a:p>
            <a:pPr marL="0" lvl="1" indent="0">
              <a:spcBef>
                <a:spcPts val="1000"/>
              </a:spcBef>
              <a:spcAft>
                <a:spcPts val="600"/>
              </a:spcAft>
              <a:buFont typeface="Arial" panose="020B0604020202020204" pitchFamily="34" charset="0"/>
              <a:buNone/>
            </a:pPr>
            <a:r>
              <a:rPr lang="fr-FR" sz="1400"/>
              <a:t>Les défis incluent la latence réseau, la synchronisation des horloges et la gestion des états distribués pour assurer la cohérence.</a:t>
            </a:r>
          </a:p>
          <a:p>
            <a:pPr marL="0" indent="0">
              <a:spcBef>
                <a:spcPts val="2500"/>
              </a:spcBef>
              <a:spcAft>
                <a:spcPts val="600"/>
              </a:spcAft>
              <a:buFont typeface="Arial" panose="020B0604020202020204" pitchFamily="34" charset="0"/>
              <a:buNone/>
            </a:pPr>
            <a:r>
              <a:rPr lang="fr-FR" sz="1400" b="1"/>
              <a:t>Tolérance aux pannes et cohérence</a:t>
            </a:r>
          </a:p>
          <a:p>
            <a:pPr marL="0" lvl="1" indent="0">
              <a:spcBef>
                <a:spcPts val="1000"/>
              </a:spcBef>
              <a:spcAft>
                <a:spcPts val="600"/>
              </a:spcAft>
              <a:buFont typeface="Arial" panose="020B0604020202020204" pitchFamily="34" charset="0"/>
              <a:buNone/>
            </a:pPr>
            <a:r>
              <a:rPr lang="fr-FR" sz="1400"/>
              <a:t>Les systèmes doivent gérer les pannes partielles tout en maintenant la cohérence des données et une communication fiable.</a:t>
            </a:r>
          </a:p>
          <a:p>
            <a:pPr marL="0" indent="0">
              <a:spcBef>
                <a:spcPts val="2500"/>
              </a:spcBef>
              <a:spcAft>
                <a:spcPts val="600"/>
              </a:spcAft>
              <a:buFont typeface="Arial" panose="020B0604020202020204" pitchFamily="34" charset="0"/>
              <a:buNone/>
            </a:pPr>
            <a:r>
              <a:rPr lang="fr-FR" sz="1400" b="1"/>
              <a:t>Compromis du théorème CAP</a:t>
            </a:r>
          </a:p>
          <a:p>
            <a:pPr marL="0" lvl="1" indent="0">
              <a:spcBef>
                <a:spcPts val="1000"/>
              </a:spcBef>
              <a:spcAft>
                <a:spcPts val="600"/>
              </a:spcAft>
              <a:buFont typeface="Arial" panose="020B0604020202020204" pitchFamily="34" charset="0"/>
              <a:buNone/>
            </a:pPr>
            <a:r>
              <a:rPr lang="fr-FR" sz="1400"/>
              <a:t>La conception des systèmes distribués nécessite de comprendre les compromis entre consistance, disponibilité et tolérance au partitionnement.</a:t>
            </a:r>
          </a:p>
        </p:txBody>
      </p:sp>
      <p:sp>
        <p:nvSpPr>
          <p:cNvPr id="4" name="Espace réservé de la date 3">
            <a:extLst>
              <a:ext uri="{FF2B5EF4-FFF2-40B4-BE49-F238E27FC236}">
                <a16:creationId xmlns:a16="http://schemas.microsoft.com/office/drawing/2014/main" id="{1F69EDD3-4F21-BD9F-7565-A252BEAB3D3E}"/>
              </a:ext>
            </a:extLst>
          </p:cNvPr>
          <p:cNvSpPr>
            <a:spLocks noGrp="1"/>
          </p:cNvSpPr>
          <p:nvPr>
            <p:ph type="dt" sz="half" idx="10"/>
          </p:nvPr>
        </p:nvSpPr>
        <p:spPr>
          <a:xfrm>
            <a:off x="6096000" y="6492240"/>
            <a:ext cx="2651760" cy="338328"/>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85B4899F-F08C-8EBD-4539-9F6E71A5DAC0}"/>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Espace réservé du numéro de diapositive 5">
            <a:extLst>
              <a:ext uri="{FF2B5EF4-FFF2-40B4-BE49-F238E27FC236}">
                <a16:creationId xmlns:a16="http://schemas.microsoft.com/office/drawing/2014/main" id="{FBDF7B9A-407F-FFC0-9B9B-E6CD2C207EE5}"/>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16</a:t>
            </a:fld>
            <a:endParaRPr lang="en-US"/>
          </a:p>
        </p:txBody>
      </p:sp>
    </p:spTree>
    <p:extLst>
      <p:ext uri="{BB962C8B-B14F-4D97-AF65-F5344CB8AC3E}">
        <p14:creationId xmlns:p14="http://schemas.microsoft.com/office/powerpoint/2010/main" val="4968875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53309E-D09D-6C59-F3BA-76CB68519788}"/>
              </a:ext>
            </a:extLst>
          </p:cNvPr>
          <p:cNvSpPr>
            <a:spLocks noGrp="1"/>
          </p:cNvSpPr>
          <p:nvPr>
            <p:ph type="title"/>
          </p:nvPr>
        </p:nvSpPr>
        <p:spPr>
          <a:xfrm>
            <a:off x="8321040" y="603504"/>
            <a:ext cx="3401568" cy="1527048"/>
          </a:xfrm>
        </p:spPr>
        <p:txBody>
          <a:bodyPr vert="horz" lIns="91440" tIns="45720" rIns="91440" bIns="45720" rtlCol="0" anchor="b">
            <a:normAutofit/>
          </a:bodyPr>
          <a:lstStyle/>
          <a:p>
            <a:r>
              <a:rPr lang="en-US" sz="2500" b="0" kern="1200" cap="all" baseline="0">
                <a:latin typeface="+mj-lt"/>
                <a:ea typeface="+mj-ea"/>
                <a:cs typeface="+mj-cs"/>
              </a:rPr>
              <a:t>Communication, synchronisation et cohérence des données</a:t>
            </a:r>
          </a:p>
        </p:txBody>
      </p:sp>
      <p:pic>
        <p:nvPicPr>
          <p:cNvPr id="7" name="Espace réservé du contenu 6" descr="Concept de mise en réseau sur fond blanc mat.">
            <a:extLst>
              <a:ext uri="{FF2B5EF4-FFF2-40B4-BE49-F238E27FC236}">
                <a16:creationId xmlns:a16="http://schemas.microsoft.com/office/drawing/2014/main" id="{F932099C-0D1E-4EA4-9EA2-90BC0EBD5171}"/>
              </a:ext>
            </a:extLst>
          </p:cNvPr>
          <p:cNvPicPr>
            <a:picLocks noGrp="1" noChangeAspect="1"/>
          </p:cNvPicPr>
          <p:nvPr>
            <p:ph type="pic" sz="quarter" idx="15"/>
          </p:nvPr>
        </p:nvPicPr>
        <p:blipFill>
          <a:blip r:embed="rId3"/>
          <a:srcRect l="13968" r="15023" b="-1"/>
          <a:stretch>
            <a:fillRect/>
          </a:stretch>
        </p:blipFill>
        <p:spPr>
          <a:xfrm>
            <a:off x="20" y="10"/>
            <a:ext cx="7734280" cy="6399142"/>
          </a:xfrm>
          <a:prstGeom prst="rect">
            <a:avLst/>
          </a:prstGeom>
          <a:noFill/>
        </p:spPr>
      </p:pic>
      <p:sp>
        <p:nvSpPr>
          <p:cNvPr id="8" name="ZoneTexte 7">
            <a:extLst>
              <a:ext uri="{FF2B5EF4-FFF2-40B4-BE49-F238E27FC236}">
                <a16:creationId xmlns:a16="http://schemas.microsoft.com/office/drawing/2014/main" id="{EE559936-788D-458B-854E-2D9659A59714}"/>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21040" y="2276856"/>
            <a:ext cx="3401568" cy="4041648"/>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fr-FR" sz="1200" b="1"/>
              <a:t>Communication entre les nœuds</a:t>
            </a:r>
          </a:p>
          <a:p>
            <a:pPr marL="0" lvl="1" indent="0">
              <a:lnSpc>
                <a:spcPct val="90000"/>
              </a:lnSpc>
              <a:spcBef>
                <a:spcPts val="1000"/>
              </a:spcBef>
              <a:spcAft>
                <a:spcPts val="600"/>
              </a:spcAft>
              <a:buFont typeface="Arial" panose="020B0604020202020204" pitchFamily="34" charset="0"/>
              <a:buNone/>
            </a:pPr>
            <a:r>
              <a:rPr lang="fr-FR" sz="1200"/>
              <a:t>La communication efficace entre les différents nœuds est cruciale pour l’échange d’informations dans un système distribué.</a:t>
            </a:r>
          </a:p>
          <a:p>
            <a:pPr marL="0" indent="0">
              <a:lnSpc>
                <a:spcPct val="90000"/>
              </a:lnSpc>
              <a:spcBef>
                <a:spcPts val="2500"/>
              </a:spcBef>
              <a:spcAft>
                <a:spcPts val="600"/>
              </a:spcAft>
              <a:buFont typeface="Arial" panose="020B0604020202020204" pitchFamily="34" charset="0"/>
              <a:buNone/>
            </a:pPr>
            <a:r>
              <a:rPr lang="fr-FR" sz="1200" b="1"/>
              <a:t>Synchronisation des processus</a:t>
            </a:r>
          </a:p>
          <a:p>
            <a:pPr marL="0" lvl="1" indent="0">
              <a:lnSpc>
                <a:spcPct val="90000"/>
              </a:lnSpc>
              <a:spcBef>
                <a:spcPts val="1000"/>
              </a:spcBef>
              <a:spcAft>
                <a:spcPts val="600"/>
              </a:spcAft>
              <a:buFont typeface="Arial" panose="020B0604020202020204" pitchFamily="34" charset="0"/>
              <a:buNone/>
            </a:pPr>
            <a:r>
              <a:rPr lang="fr-FR" sz="1200"/>
              <a:t>La synchronisation garantit que les processus fonctionnent harmonieusement et évitent les conflits dans les systèmes concurrents.</a:t>
            </a:r>
          </a:p>
          <a:p>
            <a:pPr marL="0" indent="0">
              <a:lnSpc>
                <a:spcPct val="90000"/>
              </a:lnSpc>
              <a:spcBef>
                <a:spcPts val="2500"/>
              </a:spcBef>
              <a:spcAft>
                <a:spcPts val="600"/>
              </a:spcAft>
              <a:buFont typeface="Arial" panose="020B0604020202020204" pitchFamily="34" charset="0"/>
              <a:buNone/>
            </a:pPr>
            <a:r>
              <a:rPr lang="fr-FR" sz="1200" b="1"/>
              <a:t>Cohérence des données</a:t>
            </a:r>
          </a:p>
          <a:p>
            <a:pPr marL="0" lvl="1" indent="0">
              <a:lnSpc>
                <a:spcPct val="90000"/>
              </a:lnSpc>
              <a:spcBef>
                <a:spcPts val="1000"/>
              </a:spcBef>
              <a:spcAft>
                <a:spcPts val="600"/>
              </a:spcAft>
              <a:buFont typeface="Arial" panose="020B0604020202020204" pitchFamily="34" charset="0"/>
              <a:buNone/>
            </a:pPr>
            <a:r>
              <a:rPr lang="fr-FR" sz="1200"/>
              <a:t>La gestion de la cohérence des données assure que toutes les copies de données restent uniformes et fiables à travers le système.</a:t>
            </a:r>
          </a:p>
        </p:txBody>
      </p:sp>
      <p:sp>
        <p:nvSpPr>
          <p:cNvPr id="4" name="Espace réservé de la date 3">
            <a:extLst>
              <a:ext uri="{FF2B5EF4-FFF2-40B4-BE49-F238E27FC236}">
                <a16:creationId xmlns:a16="http://schemas.microsoft.com/office/drawing/2014/main" id="{FA9B85DC-5C6A-9483-0D90-F0E29D7D6890}"/>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899B0C61-D88E-BC91-DC7C-88306D1A7406}"/>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Espace réservé du numéro de diapositive 5">
            <a:extLst>
              <a:ext uri="{FF2B5EF4-FFF2-40B4-BE49-F238E27FC236}">
                <a16:creationId xmlns:a16="http://schemas.microsoft.com/office/drawing/2014/main" id="{E8326CF1-F053-752F-1F0F-167820F32156}"/>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17</a:t>
            </a:fld>
            <a:endParaRPr lang="en-US"/>
          </a:p>
        </p:txBody>
      </p:sp>
    </p:spTree>
    <p:extLst>
      <p:ext uri="{BB962C8B-B14F-4D97-AF65-F5344CB8AC3E}">
        <p14:creationId xmlns:p14="http://schemas.microsoft.com/office/powerpoint/2010/main" val="27430782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C48C15-E7EC-DD49-18BE-0FB0E7811347}"/>
              </a:ext>
            </a:extLst>
          </p:cNvPr>
          <p:cNvSpPr>
            <a:spLocks noGrp="1"/>
          </p:cNvSpPr>
          <p:nvPr>
            <p:ph type="title"/>
          </p:nvPr>
        </p:nvSpPr>
        <p:spPr>
          <a:xfrm>
            <a:off x="431172" y="553616"/>
            <a:ext cx="7914087" cy="4008859"/>
          </a:xfrm>
        </p:spPr>
        <p:txBody>
          <a:bodyPr anchor="t">
            <a:normAutofit/>
          </a:bodyPr>
          <a:lstStyle/>
          <a:p>
            <a:r>
              <a:rPr lang="fr-FR" sz="5600"/>
              <a:t>Traitement des données : batch vs streaming et frameworks associés</a:t>
            </a:r>
          </a:p>
        </p:txBody>
      </p:sp>
      <p:sp>
        <p:nvSpPr>
          <p:cNvPr id="11" name="Text Placeholder 2">
            <a:extLst>
              <a:ext uri="{FF2B5EF4-FFF2-40B4-BE49-F238E27FC236}">
                <a16:creationId xmlns:a16="http://schemas.microsoft.com/office/drawing/2014/main" id="{3D3EA5D8-686A-1B5B-D7AE-59D8545B9634}"/>
              </a:ext>
            </a:extLst>
          </p:cNvPr>
          <p:cNvSpPr>
            <a:spLocks noGrp="1"/>
          </p:cNvSpPr>
          <p:nvPr>
            <p:ph type="body" idx="1"/>
          </p:nvPr>
        </p:nvSpPr>
        <p:spPr>
          <a:xfrm>
            <a:off x="431172" y="5088156"/>
            <a:ext cx="7914087" cy="1166648"/>
          </a:xfrm>
        </p:spPr>
        <p:txBody>
          <a:bodyPr/>
          <a:lstStyle/>
          <a:p>
            <a:endParaRPr lang="en-US"/>
          </a:p>
        </p:txBody>
      </p:sp>
      <p:sp>
        <p:nvSpPr>
          <p:cNvPr id="4" name="Espace réservé de la date 3">
            <a:extLst>
              <a:ext uri="{FF2B5EF4-FFF2-40B4-BE49-F238E27FC236}">
                <a16:creationId xmlns:a16="http://schemas.microsoft.com/office/drawing/2014/main" id="{846684F6-943F-FEEE-1899-917703EB3ECD}"/>
              </a:ext>
            </a:extLst>
          </p:cNvPr>
          <p:cNvSpPr>
            <a:spLocks noGrp="1"/>
          </p:cNvSpPr>
          <p:nvPr>
            <p:ph type="dt" sz="half" idx="10"/>
          </p:nvPr>
        </p:nvSpPr>
        <p:spPr>
          <a:xfrm>
            <a:off x="431172" y="6490524"/>
            <a:ext cx="2841959" cy="336141"/>
          </a:xfrm>
        </p:spPr>
        <p:txBody>
          <a:bodyPr anchor="ctr">
            <a:normAutofit/>
          </a:bodyPr>
          <a:lstStyle/>
          <a:p>
            <a:pPr>
              <a:spcAft>
                <a:spcPts val="600"/>
              </a:spcAft>
            </a:pPr>
            <a:fld id="{B04EF954-66B1-4168-AF40-97F3DAF43FC4}"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45160452-BAAE-A3A9-1641-91EF89D431F1}"/>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Espace réservé du numéro de diapositive 5">
            <a:extLst>
              <a:ext uri="{FF2B5EF4-FFF2-40B4-BE49-F238E27FC236}">
                <a16:creationId xmlns:a16="http://schemas.microsoft.com/office/drawing/2014/main" id="{D43FC1A9-DBB8-B1D2-1B3F-E02370259C4C}"/>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18</a:t>
            </a:fld>
            <a:endParaRPr lang="en-US"/>
          </a:p>
        </p:txBody>
      </p:sp>
    </p:spTree>
    <p:extLst>
      <p:ext uri="{BB962C8B-B14F-4D97-AF65-F5344CB8AC3E}">
        <p14:creationId xmlns:p14="http://schemas.microsoft.com/office/powerpoint/2010/main" val="42935292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F18781-8002-82F9-B2B9-BFBBD0F49DF8}"/>
              </a:ext>
            </a:extLst>
          </p:cNvPr>
          <p:cNvSpPr>
            <a:spLocks noGrp="1"/>
          </p:cNvSpPr>
          <p:nvPr>
            <p:ph type="title"/>
          </p:nvPr>
        </p:nvSpPr>
        <p:spPr>
          <a:xfrm>
            <a:off x="429768" y="603504"/>
            <a:ext cx="3401568" cy="1527048"/>
          </a:xfrm>
        </p:spPr>
        <p:txBody>
          <a:bodyPr vert="horz" lIns="91440" tIns="45720" rIns="91440" bIns="45720" rtlCol="0" anchor="b">
            <a:normAutofit/>
          </a:bodyPr>
          <a:lstStyle/>
          <a:p>
            <a:r>
              <a:rPr lang="en-US" sz="2200" b="0" kern="1200" cap="all" baseline="0">
                <a:latin typeface="+mj-lt"/>
                <a:ea typeface="+mj-ea"/>
                <a:cs typeface="+mj-cs"/>
              </a:rPr>
              <a:t>Traitement par lots et en temps réel : définitions et fonctionnement</a:t>
            </a:r>
          </a:p>
        </p:txBody>
      </p:sp>
      <p:sp>
        <p:nvSpPr>
          <p:cNvPr id="8" name="ZoneTexte 7">
            <a:extLst>
              <a:ext uri="{FF2B5EF4-FFF2-40B4-BE49-F238E27FC236}">
                <a16:creationId xmlns:a16="http://schemas.microsoft.com/office/drawing/2014/main" id="{2D98A51A-AA1F-40FF-A2DC-45C75DAE94A1}"/>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9768" y="2276856"/>
            <a:ext cx="3401568" cy="4041648"/>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fr-FR" sz="1300" b="1"/>
              <a:t>Traitement par lots</a:t>
            </a:r>
          </a:p>
          <a:p>
            <a:pPr marL="0" lvl="1" indent="0">
              <a:lnSpc>
                <a:spcPct val="90000"/>
              </a:lnSpc>
              <a:spcBef>
                <a:spcPts val="1000"/>
              </a:spcBef>
              <a:spcAft>
                <a:spcPts val="600"/>
              </a:spcAft>
              <a:buFont typeface="Arial" panose="020B0604020202020204" pitchFamily="34" charset="0"/>
              <a:buNone/>
            </a:pPr>
            <a:r>
              <a:rPr lang="fr-FR" sz="1300"/>
              <a:t>Le traitement par lots consiste à traiter les données périodiquement en groupes ou lots pour analyser de grandes quantités à la fois.</a:t>
            </a:r>
          </a:p>
          <a:p>
            <a:pPr marL="0" indent="0">
              <a:lnSpc>
                <a:spcPct val="90000"/>
              </a:lnSpc>
              <a:spcBef>
                <a:spcPts val="2500"/>
              </a:spcBef>
              <a:spcAft>
                <a:spcPts val="600"/>
              </a:spcAft>
              <a:buFont typeface="Arial" panose="020B0604020202020204" pitchFamily="34" charset="0"/>
              <a:buNone/>
            </a:pPr>
            <a:r>
              <a:rPr lang="fr-FR" sz="1300" b="1"/>
              <a:t>Traitement en temps réel</a:t>
            </a:r>
          </a:p>
          <a:p>
            <a:pPr marL="0" lvl="1" indent="0">
              <a:lnSpc>
                <a:spcPct val="90000"/>
              </a:lnSpc>
              <a:spcBef>
                <a:spcPts val="1000"/>
              </a:spcBef>
              <a:spcAft>
                <a:spcPts val="600"/>
              </a:spcAft>
              <a:buFont typeface="Arial" panose="020B0604020202020204" pitchFamily="34" charset="0"/>
              <a:buNone/>
            </a:pPr>
            <a:r>
              <a:rPr lang="fr-FR" sz="1300"/>
              <a:t>Le traitement en temps réel traite les données instantanément, idéal pour les analyses en direct et les décisions rapides.</a:t>
            </a:r>
          </a:p>
          <a:p>
            <a:pPr marL="0" indent="0">
              <a:lnSpc>
                <a:spcPct val="90000"/>
              </a:lnSpc>
              <a:spcBef>
                <a:spcPts val="2500"/>
              </a:spcBef>
              <a:spcAft>
                <a:spcPts val="600"/>
              </a:spcAft>
              <a:buFont typeface="Arial" panose="020B0604020202020204" pitchFamily="34" charset="0"/>
              <a:buNone/>
            </a:pPr>
            <a:r>
              <a:rPr lang="fr-FR" sz="1300" b="1"/>
              <a:t>Fonctionnement Map</a:t>
            </a:r>
          </a:p>
          <a:p>
            <a:pPr marL="0" lvl="1" indent="0">
              <a:lnSpc>
                <a:spcPct val="90000"/>
              </a:lnSpc>
              <a:spcBef>
                <a:spcPts val="1000"/>
              </a:spcBef>
              <a:spcAft>
                <a:spcPts val="600"/>
              </a:spcAft>
              <a:buFont typeface="Arial" panose="020B0604020202020204" pitchFamily="34" charset="0"/>
              <a:buNone/>
            </a:pPr>
            <a:r>
              <a:rPr lang="fr-FR" sz="1300"/>
              <a:t>La fonction Map divise les données en segments pour un traitement initial efficace avant analyse ou réduction.</a:t>
            </a:r>
          </a:p>
        </p:txBody>
      </p:sp>
      <p:pic>
        <p:nvPicPr>
          <p:cNvPr id="7" name="Espace réservé du contenu 6" descr="Concept de l’Internet des objets">
            <a:extLst>
              <a:ext uri="{FF2B5EF4-FFF2-40B4-BE49-F238E27FC236}">
                <a16:creationId xmlns:a16="http://schemas.microsoft.com/office/drawing/2014/main" id="{2386FC20-6E81-4BE7-B986-EA5773C35507}"/>
              </a:ext>
            </a:extLst>
          </p:cNvPr>
          <p:cNvPicPr>
            <a:picLocks noGrp="1" noChangeAspect="1"/>
          </p:cNvPicPr>
          <p:nvPr>
            <p:ph type="pic" sz="quarter" idx="15"/>
          </p:nvPr>
        </p:nvPicPr>
        <p:blipFill>
          <a:blip r:embed="rId3"/>
          <a:srcRect l="5659" r="14136" b="1"/>
          <a:stretch>
            <a:fillRect/>
          </a:stretch>
        </p:blipFill>
        <p:spPr>
          <a:xfrm>
            <a:off x="4502843" y="2"/>
            <a:ext cx="7689157" cy="6399151"/>
          </a:xfrm>
          <a:prstGeom prst="rect">
            <a:avLst/>
          </a:prstGeom>
          <a:noFill/>
        </p:spPr>
      </p:pic>
      <p:sp>
        <p:nvSpPr>
          <p:cNvPr id="4" name="Espace réservé de la date 3">
            <a:extLst>
              <a:ext uri="{FF2B5EF4-FFF2-40B4-BE49-F238E27FC236}">
                <a16:creationId xmlns:a16="http://schemas.microsoft.com/office/drawing/2014/main" id="{4345565D-4B7A-33C9-D2C9-2FE6A6443FD4}"/>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73C86980-CA26-7C30-763A-55830B0B0B42}"/>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Espace réservé du numéro de diapositive 5">
            <a:extLst>
              <a:ext uri="{FF2B5EF4-FFF2-40B4-BE49-F238E27FC236}">
                <a16:creationId xmlns:a16="http://schemas.microsoft.com/office/drawing/2014/main" id="{EA31F65E-3B0D-CEAE-C346-264C4C782BE3}"/>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19</a:t>
            </a:fld>
            <a:endParaRPr lang="en-US"/>
          </a:p>
        </p:txBody>
      </p:sp>
    </p:spTree>
    <p:extLst>
      <p:ext uri="{BB962C8B-B14F-4D97-AF65-F5344CB8AC3E}">
        <p14:creationId xmlns:p14="http://schemas.microsoft.com/office/powerpoint/2010/main" val="5040979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1E063B-764C-7B47-23D3-C0B9B3BAADD9}"/>
              </a:ext>
            </a:extLst>
          </p:cNvPr>
          <p:cNvSpPr>
            <a:spLocks noGrp="1"/>
          </p:cNvSpPr>
          <p:nvPr>
            <p:ph type="title"/>
          </p:nvPr>
        </p:nvSpPr>
        <p:spPr>
          <a:xfrm>
            <a:off x="429768" y="548639"/>
            <a:ext cx="4855464" cy="1453896"/>
          </a:xfrm>
        </p:spPr>
        <p:txBody>
          <a:bodyPr vert="horz" lIns="91440" tIns="45720" rIns="91440" bIns="45720" rtlCol="0" anchor="t">
            <a:normAutofit/>
          </a:bodyPr>
          <a:lstStyle/>
          <a:p>
            <a:r>
              <a:rPr lang="en-US" sz="2200" b="0" kern="1200" cap="all" baseline="0">
                <a:latin typeface="+mj-lt"/>
                <a:ea typeface="+mj-ea"/>
                <a:cs typeface="+mj-cs"/>
              </a:rPr>
              <a:t>Avantages et évolutions des frameworks de traitement distribué</a:t>
            </a:r>
          </a:p>
        </p:txBody>
      </p:sp>
      <p:pic>
        <p:nvPicPr>
          <p:cNvPr id="7" name="Espace réservé du contenu 6" descr="Bulles de texte blanc isolées sur fond bleu">
            <a:extLst>
              <a:ext uri="{FF2B5EF4-FFF2-40B4-BE49-F238E27FC236}">
                <a16:creationId xmlns:a16="http://schemas.microsoft.com/office/drawing/2014/main" id="{C0DE2614-EA1B-4C9F-9AA2-2EC4D69D48EA}"/>
              </a:ext>
            </a:extLst>
          </p:cNvPr>
          <p:cNvPicPr>
            <a:picLocks noGrp="1" noChangeAspect="1"/>
          </p:cNvPicPr>
          <p:nvPr>
            <p:ph type="pic" sz="quarter" idx="15"/>
          </p:nvPr>
        </p:nvPicPr>
        <p:blipFill>
          <a:blip r:embed="rId3"/>
          <a:srcRect b="2137"/>
          <a:stretch>
            <a:fillRect/>
          </a:stretch>
        </p:blipFill>
        <p:spPr>
          <a:xfrm>
            <a:off x="20" y="2293496"/>
            <a:ext cx="5285212" cy="4564504"/>
          </a:xfrm>
          <a:prstGeom prst="rect">
            <a:avLst/>
          </a:prstGeom>
          <a:noFill/>
        </p:spPr>
      </p:pic>
      <p:sp>
        <p:nvSpPr>
          <p:cNvPr id="8" name="ZoneTexte 7">
            <a:extLst>
              <a:ext uri="{FF2B5EF4-FFF2-40B4-BE49-F238E27FC236}">
                <a16:creationId xmlns:a16="http://schemas.microsoft.com/office/drawing/2014/main" id="{7501D79F-FFA1-4BB6-A614-324C6F97DBFE}"/>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a:prstGeom prst="rect">
            <a:avLst/>
          </a:prstGeom>
        </p:spPr>
        <p:txBody>
          <a:bodyPr>
            <a:normAutofit/>
          </a:bodyPr>
          <a:lstStyle/>
          <a:p>
            <a:pPr marL="0" indent="0">
              <a:spcBef>
                <a:spcPts val="2500"/>
              </a:spcBef>
              <a:spcAft>
                <a:spcPts val="600"/>
              </a:spcAft>
              <a:buFont typeface="Arial" panose="020B0604020202020204" pitchFamily="34" charset="0"/>
              <a:buNone/>
            </a:pPr>
            <a:r>
              <a:rPr lang="fr-FR" sz="1400" b="1"/>
              <a:t>Gestion efficace des données</a:t>
            </a:r>
          </a:p>
          <a:p>
            <a:pPr marL="0" lvl="1" indent="0">
              <a:spcBef>
                <a:spcPts val="1000"/>
              </a:spcBef>
              <a:spcAft>
                <a:spcPts val="600"/>
              </a:spcAft>
              <a:buFont typeface="Arial" panose="020B0604020202020204" pitchFamily="34" charset="0"/>
              <a:buNone/>
            </a:pPr>
            <a:r>
              <a:rPr lang="fr-FR" sz="1400"/>
              <a:t>Les frameworks distribuent la charge de travail pour traiter de vastes volumes de données efficacement et rapidement.</a:t>
            </a:r>
          </a:p>
          <a:p>
            <a:pPr marL="0" indent="0">
              <a:spcBef>
                <a:spcPts val="2500"/>
              </a:spcBef>
              <a:spcAft>
                <a:spcPts val="600"/>
              </a:spcAft>
              <a:buFont typeface="Arial" panose="020B0604020202020204" pitchFamily="34" charset="0"/>
              <a:buNone/>
            </a:pPr>
            <a:r>
              <a:rPr lang="fr-FR" sz="1400" b="1"/>
              <a:t>Traitement par lots et en temps réel</a:t>
            </a:r>
          </a:p>
          <a:p>
            <a:pPr marL="0" lvl="1" indent="0">
              <a:spcBef>
                <a:spcPts val="1000"/>
              </a:spcBef>
              <a:spcAft>
                <a:spcPts val="600"/>
              </a:spcAft>
              <a:buFont typeface="Arial" panose="020B0604020202020204" pitchFamily="34" charset="0"/>
              <a:buNone/>
            </a:pPr>
            <a:r>
              <a:rPr lang="fr-FR" sz="1400"/>
              <a:t>Certains frameworks sont optimisés pour le traitement batch, d'autres pour le streaming en temps réel selon les besoins.</a:t>
            </a:r>
          </a:p>
          <a:p>
            <a:pPr marL="0" indent="0">
              <a:spcBef>
                <a:spcPts val="2500"/>
              </a:spcBef>
              <a:spcAft>
                <a:spcPts val="600"/>
              </a:spcAft>
              <a:buFont typeface="Arial" panose="020B0604020202020204" pitchFamily="34" charset="0"/>
              <a:buNone/>
            </a:pPr>
            <a:r>
              <a:rPr lang="fr-FR" sz="1400" b="1"/>
              <a:t>Évolution technologique continue</a:t>
            </a:r>
          </a:p>
          <a:p>
            <a:pPr marL="0" lvl="1" indent="0">
              <a:spcBef>
                <a:spcPts val="1000"/>
              </a:spcBef>
              <a:spcAft>
                <a:spcPts val="600"/>
              </a:spcAft>
              <a:buFont typeface="Arial" panose="020B0604020202020204" pitchFamily="34" charset="0"/>
              <a:buNone/>
            </a:pPr>
            <a:r>
              <a:rPr lang="fr-FR" sz="1400"/>
              <a:t>Les mises à jour améliorent la gestion mémoire, les performances et simplifient le développement logiciel.</a:t>
            </a:r>
          </a:p>
          <a:p>
            <a:pPr marL="0" indent="0">
              <a:spcBef>
                <a:spcPts val="2500"/>
              </a:spcBef>
              <a:spcAft>
                <a:spcPts val="600"/>
              </a:spcAft>
              <a:buFont typeface="Arial" panose="020B0604020202020204" pitchFamily="34" charset="0"/>
              <a:buNone/>
            </a:pPr>
            <a:r>
              <a:rPr lang="fr-FR" sz="1400" b="1"/>
              <a:t>Scalabilité et intégration flexible</a:t>
            </a:r>
          </a:p>
          <a:p>
            <a:pPr marL="0" lvl="1" indent="0">
              <a:spcBef>
                <a:spcPts val="1000"/>
              </a:spcBef>
              <a:spcAft>
                <a:spcPts val="600"/>
              </a:spcAft>
              <a:buFont typeface="Arial" panose="020B0604020202020204" pitchFamily="34" charset="0"/>
              <a:buNone/>
            </a:pPr>
            <a:r>
              <a:rPr lang="fr-FR" sz="1400"/>
              <a:t>Les frameworks s'adaptent aux besoins variables et offrent une intégration fluide avec divers systèmes et outils.</a:t>
            </a:r>
          </a:p>
        </p:txBody>
      </p:sp>
      <p:sp>
        <p:nvSpPr>
          <p:cNvPr id="4" name="Espace réservé de la date 3">
            <a:extLst>
              <a:ext uri="{FF2B5EF4-FFF2-40B4-BE49-F238E27FC236}">
                <a16:creationId xmlns:a16="http://schemas.microsoft.com/office/drawing/2014/main" id="{8C8A2096-49BB-BFB2-B373-6E798E916F38}"/>
              </a:ext>
            </a:extLst>
          </p:cNvPr>
          <p:cNvSpPr>
            <a:spLocks noGrp="1"/>
          </p:cNvSpPr>
          <p:nvPr>
            <p:ph type="dt" sz="half" idx="10"/>
          </p:nvPr>
        </p:nvSpPr>
        <p:spPr>
          <a:xfrm>
            <a:off x="6096000" y="6492240"/>
            <a:ext cx="2651760" cy="338328"/>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B9E722FF-B6DD-701B-EFA1-093B91FE3FD1}"/>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Espace réservé du numéro de diapositive 5">
            <a:extLst>
              <a:ext uri="{FF2B5EF4-FFF2-40B4-BE49-F238E27FC236}">
                <a16:creationId xmlns:a16="http://schemas.microsoft.com/office/drawing/2014/main" id="{1CC24419-3FF8-DB7D-4ACD-B8AE98D5484B}"/>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20</a:t>
            </a:fld>
            <a:endParaRPr lang="en-US"/>
          </a:p>
        </p:txBody>
      </p:sp>
    </p:spTree>
    <p:extLst>
      <p:ext uri="{BB962C8B-B14F-4D97-AF65-F5344CB8AC3E}">
        <p14:creationId xmlns:p14="http://schemas.microsoft.com/office/powerpoint/2010/main" val="40492994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2CD33F-7CE3-5A9C-B5CD-B4EF73B2A943}"/>
              </a:ext>
            </a:extLst>
          </p:cNvPr>
          <p:cNvSpPr>
            <a:spLocks noGrp="1"/>
          </p:cNvSpPr>
          <p:nvPr>
            <p:ph type="title"/>
          </p:nvPr>
        </p:nvSpPr>
        <p:spPr>
          <a:xfrm>
            <a:off x="431172" y="553616"/>
            <a:ext cx="7914087" cy="4008859"/>
          </a:xfrm>
        </p:spPr>
        <p:txBody>
          <a:bodyPr anchor="t">
            <a:normAutofit/>
          </a:bodyPr>
          <a:lstStyle/>
          <a:p>
            <a:r>
              <a:rPr lang="fr-FR" sz="5600"/>
              <a:t>Présentation des principaux frameworks de traitement distribué</a:t>
            </a:r>
          </a:p>
        </p:txBody>
      </p:sp>
      <p:sp>
        <p:nvSpPr>
          <p:cNvPr id="11" name="Text Placeholder 2">
            <a:extLst>
              <a:ext uri="{FF2B5EF4-FFF2-40B4-BE49-F238E27FC236}">
                <a16:creationId xmlns:a16="http://schemas.microsoft.com/office/drawing/2014/main" id="{07F2E1BA-5187-6B46-8CB0-C45028C96F75}"/>
              </a:ext>
            </a:extLst>
          </p:cNvPr>
          <p:cNvSpPr>
            <a:spLocks noGrp="1"/>
          </p:cNvSpPr>
          <p:nvPr>
            <p:ph type="body" idx="1"/>
          </p:nvPr>
        </p:nvSpPr>
        <p:spPr>
          <a:xfrm>
            <a:off x="431172" y="5088156"/>
            <a:ext cx="7914087" cy="1166648"/>
          </a:xfrm>
        </p:spPr>
        <p:txBody>
          <a:bodyPr/>
          <a:lstStyle/>
          <a:p>
            <a:endParaRPr lang="en-US"/>
          </a:p>
        </p:txBody>
      </p:sp>
      <p:sp>
        <p:nvSpPr>
          <p:cNvPr id="4" name="Espace réservé de la date 3">
            <a:extLst>
              <a:ext uri="{FF2B5EF4-FFF2-40B4-BE49-F238E27FC236}">
                <a16:creationId xmlns:a16="http://schemas.microsoft.com/office/drawing/2014/main" id="{8AAFC6E1-7B0A-4D66-A4AC-875D7633D5DE}"/>
              </a:ext>
            </a:extLst>
          </p:cNvPr>
          <p:cNvSpPr>
            <a:spLocks noGrp="1"/>
          </p:cNvSpPr>
          <p:nvPr>
            <p:ph type="dt" sz="half" idx="10"/>
          </p:nvPr>
        </p:nvSpPr>
        <p:spPr>
          <a:xfrm>
            <a:off x="431172" y="6490524"/>
            <a:ext cx="2841959" cy="336141"/>
          </a:xfrm>
        </p:spPr>
        <p:txBody>
          <a:bodyPr anchor="ctr">
            <a:normAutofit/>
          </a:bodyPr>
          <a:lstStyle/>
          <a:p>
            <a:pPr>
              <a:spcAft>
                <a:spcPts val="600"/>
              </a:spcAft>
            </a:pPr>
            <a:fld id="{B04EF954-66B1-4168-AF40-97F3DAF43FC4}"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C1B6F393-D6D1-2D3E-BAA8-EE0D33B9C9BA}"/>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Espace réservé du numéro de diapositive 5">
            <a:extLst>
              <a:ext uri="{FF2B5EF4-FFF2-40B4-BE49-F238E27FC236}">
                <a16:creationId xmlns:a16="http://schemas.microsoft.com/office/drawing/2014/main" id="{ED92389D-DEAE-0299-CE99-7CA11BA376A3}"/>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21</a:t>
            </a:fld>
            <a:endParaRPr lang="en-US"/>
          </a:p>
        </p:txBody>
      </p:sp>
    </p:spTree>
    <p:extLst>
      <p:ext uri="{BB962C8B-B14F-4D97-AF65-F5344CB8AC3E}">
        <p14:creationId xmlns:p14="http://schemas.microsoft.com/office/powerpoint/2010/main" val="2503418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274BFC-F432-0747-D80B-07399C1A9CB1}"/>
              </a:ext>
            </a:extLst>
          </p:cNvPr>
          <p:cNvSpPr>
            <a:spLocks noGrp="1"/>
          </p:cNvSpPr>
          <p:nvPr>
            <p:ph type="title"/>
          </p:nvPr>
        </p:nvSpPr>
        <p:spPr>
          <a:xfrm>
            <a:off x="429768" y="548639"/>
            <a:ext cx="4855464" cy="1453896"/>
          </a:xfrm>
        </p:spPr>
        <p:txBody>
          <a:bodyPr vert="horz" lIns="91440" tIns="45720" rIns="91440" bIns="45720" rtlCol="0" anchor="t">
            <a:normAutofit/>
          </a:bodyPr>
          <a:lstStyle/>
          <a:p>
            <a:r>
              <a:rPr lang="en-US" sz="2200" b="0" kern="1200" cap="all" baseline="0">
                <a:latin typeface="+mj-lt"/>
                <a:ea typeface="+mj-ea"/>
                <a:cs typeface="+mj-cs"/>
              </a:rPr>
              <a:t>Apache Spark : caractéristiques, architecture et intégration</a:t>
            </a:r>
          </a:p>
        </p:txBody>
      </p:sp>
      <p:pic>
        <p:nvPicPr>
          <p:cNvPr id="7" name="Espace réservé du contenu 6">
            <a:extLst>
              <a:ext uri="{FF2B5EF4-FFF2-40B4-BE49-F238E27FC236}">
                <a16:creationId xmlns:a16="http://schemas.microsoft.com/office/drawing/2014/main" id="{A2697202-3FFD-48D6-A1A7-996C6B851CC8}"/>
              </a:ext>
            </a:extLst>
          </p:cNvPr>
          <p:cNvPicPr>
            <a:picLocks noGrp="1" noChangeAspect="1"/>
          </p:cNvPicPr>
          <p:nvPr>
            <p:ph type="pic" sz="quarter" idx="15"/>
            <p:extLst>
              <p:ext uri="{E7BDC344-281C-4309-B0C6-D0EE65EED2A8}">
                <p202:designPr xmlns:p202="http://schemas.microsoft.com/office/powerpoint/2020/02/main">
                  <p202:designTagLst>
                    <p202:designTag name="ARCH:1:CLS" val="ConstrainedImage"/>
                    <p202:designTag name="ARCH:1:VSVAR" val="Large"/>
                  </p202:designTagLst>
                </p202:designPr>
              </p:ext>
            </p:extLst>
          </p:nvPr>
        </p:nvPicPr>
        <p:blipFill>
          <a:blip r:embed="rId3"/>
          <a:srcRect l="30838" r="32978"/>
          <a:stretch>
            <a:fillRect/>
          </a:stretch>
        </p:blipFill>
        <p:spPr>
          <a:xfrm>
            <a:off x="20" y="2293496"/>
            <a:ext cx="5285212" cy="4564504"/>
          </a:xfrm>
          <a:prstGeom prst="rect">
            <a:avLst/>
          </a:prstGeom>
          <a:noFill/>
        </p:spPr>
      </p:pic>
      <p:sp>
        <p:nvSpPr>
          <p:cNvPr id="8" name="ZoneTexte 7">
            <a:extLst>
              <a:ext uri="{FF2B5EF4-FFF2-40B4-BE49-F238E27FC236}">
                <a16:creationId xmlns:a16="http://schemas.microsoft.com/office/drawing/2014/main" id="{00C63CB2-B9AA-4A69-984B-EA1DFA4B7A5B}"/>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a:prstGeom prst="rect">
            <a:avLst/>
          </a:prstGeom>
        </p:spPr>
        <p:txBody>
          <a:bodyPr>
            <a:normAutofit/>
          </a:bodyPr>
          <a:lstStyle/>
          <a:p>
            <a:pPr marL="0" indent="0">
              <a:spcBef>
                <a:spcPts val="2500"/>
              </a:spcBef>
              <a:spcAft>
                <a:spcPts val="600"/>
              </a:spcAft>
              <a:buFont typeface="Arial" panose="020B0604020202020204" pitchFamily="34" charset="0"/>
              <a:buNone/>
            </a:pPr>
            <a:r>
              <a:rPr lang="fr-FR" sz="1400" b="1"/>
              <a:t>Maturité et adoption</a:t>
            </a:r>
          </a:p>
          <a:p>
            <a:pPr marL="0" lvl="1" indent="0">
              <a:spcBef>
                <a:spcPts val="1000"/>
              </a:spcBef>
              <a:spcAft>
                <a:spcPts val="600"/>
              </a:spcAft>
              <a:buFont typeface="Arial" panose="020B0604020202020204" pitchFamily="34" charset="0"/>
              <a:buNone/>
            </a:pPr>
            <a:r>
              <a:rPr lang="fr-FR" sz="1400"/>
              <a:t>Apache Spark est un framework mature et largement adopté dans le traitement de données modernes.</a:t>
            </a:r>
          </a:p>
          <a:p>
            <a:pPr marL="0" indent="0">
              <a:spcBef>
                <a:spcPts val="2500"/>
              </a:spcBef>
              <a:spcAft>
                <a:spcPts val="600"/>
              </a:spcAft>
              <a:buFont typeface="Arial" panose="020B0604020202020204" pitchFamily="34" charset="0"/>
              <a:buNone/>
            </a:pPr>
            <a:r>
              <a:rPr lang="fr-FR" sz="1400" b="1"/>
              <a:t>Capacités de traitement</a:t>
            </a:r>
          </a:p>
          <a:p>
            <a:pPr marL="0" lvl="1" indent="0">
              <a:spcBef>
                <a:spcPts val="1000"/>
              </a:spcBef>
              <a:spcAft>
                <a:spcPts val="600"/>
              </a:spcAft>
              <a:buFont typeface="Arial" panose="020B0604020202020204" pitchFamily="34" charset="0"/>
              <a:buNone/>
            </a:pPr>
            <a:r>
              <a:rPr lang="fr-FR" sz="1400"/>
              <a:t>Spark gère efficacement le batch et le streaming en temps réel via une API unifiée.</a:t>
            </a:r>
          </a:p>
          <a:p>
            <a:pPr marL="0" indent="0">
              <a:spcBef>
                <a:spcPts val="2500"/>
              </a:spcBef>
              <a:spcAft>
                <a:spcPts val="600"/>
              </a:spcAft>
              <a:buFont typeface="Arial" panose="020B0604020202020204" pitchFamily="34" charset="0"/>
              <a:buNone/>
            </a:pPr>
            <a:r>
              <a:rPr lang="fr-FR" sz="1400" b="1"/>
              <a:t>Performance en mémoire</a:t>
            </a:r>
          </a:p>
          <a:p>
            <a:pPr marL="0" lvl="1" indent="0">
              <a:spcBef>
                <a:spcPts val="1000"/>
              </a:spcBef>
              <a:spcAft>
                <a:spcPts val="600"/>
              </a:spcAft>
              <a:buFont typeface="Arial" panose="020B0604020202020204" pitchFamily="34" charset="0"/>
              <a:buNone/>
            </a:pPr>
            <a:r>
              <a:rPr lang="fr-FR" sz="1400"/>
              <a:t>Le traitement en mémoire avec RDD permet à Spark d’être jusqu’à 100 fois plus rapide que MapReduce.</a:t>
            </a:r>
          </a:p>
          <a:p>
            <a:pPr marL="0" indent="0">
              <a:spcBef>
                <a:spcPts val="2500"/>
              </a:spcBef>
              <a:spcAft>
                <a:spcPts val="600"/>
              </a:spcAft>
              <a:buFont typeface="Arial" panose="020B0604020202020204" pitchFamily="34" charset="0"/>
              <a:buNone/>
            </a:pPr>
            <a:r>
              <a:rPr lang="fr-FR" sz="1400" b="1"/>
              <a:t>Intégration Hadoop</a:t>
            </a:r>
          </a:p>
          <a:p>
            <a:pPr marL="0" lvl="1" indent="0">
              <a:spcBef>
                <a:spcPts val="1000"/>
              </a:spcBef>
              <a:spcAft>
                <a:spcPts val="600"/>
              </a:spcAft>
              <a:buFont typeface="Arial" panose="020B0604020202020204" pitchFamily="34" charset="0"/>
              <a:buNone/>
            </a:pPr>
            <a:r>
              <a:rPr lang="fr-FR" sz="1400"/>
              <a:t>Spark s’intègre parfaitement avec Hadoop, compatible avec HDFS, YARN, et peut remplacer MapReduce.</a:t>
            </a:r>
          </a:p>
        </p:txBody>
      </p:sp>
      <p:sp>
        <p:nvSpPr>
          <p:cNvPr id="4" name="Espace réservé de la date 3">
            <a:extLst>
              <a:ext uri="{FF2B5EF4-FFF2-40B4-BE49-F238E27FC236}">
                <a16:creationId xmlns:a16="http://schemas.microsoft.com/office/drawing/2014/main" id="{5B6E18A8-AEDF-2F95-A3D7-9A698B0A75B3}"/>
              </a:ext>
            </a:extLst>
          </p:cNvPr>
          <p:cNvSpPr>
            <a:spLocks noGrp="1"/>
          </p:cNvSpPr>
          <p:nvPr>
            <p:ph type="dt" sz="half" idx="10"/>
          </p:nvPr>
        </p:nvSpPr>
        <p:spPr>
          <a:xfrm>
            <a:off x="6096000" y="6492240"/>
            <a:ext cx="2651760" cy="338328"/>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91D04989-9B8B-7B07-5837-F8F0E8B12086}"/>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Espace réservé du numéro de diapositive 5">
            <a:extLst>
              <a:ext uri="{FF2B5EF4-FFF2-40B4-BE49-F238E27FC236}">
                <a16:creationId xmlns:a16="http://schemas.microsoft.com/office/drawing/2014/main" id="{273EB840-10E1-939D-146D-2BE2CF9847AE}"/>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22</a:t>
            </a:fld>
            <a:endParaRPr lang="en-US"/>
          </a:p>
        </p:txBody>
      </p:sp>
    </p:spTree>
    <p:extLst>
      <p:ext uri="{BB962C8B-B14F-4D97-AF65-F5344CB8AC3E}">
        <p14:creationId xmlns:p14="http://schemas.microsoft.com/office/powerpoint/2010/main" val="14490453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209105-2E31-CB23-63BF-8EE4095A6E47}"/>
              </a:ext>
            </a:extLst>
          </p:cNvPr>
          <p:cNvSpPr>
            <a:spLocks noGrp="1"/>
          </p:cNvSpPr>
          <p:nvPr>
            <p:ph type="title"/>
          </p:nvPr>
        </p:nvSpPr>
        <p:spPr>
          <a:xfrm>
            <a:off x="431173" y="285210"/>
            <a:ext cx="10653578" cy="965101"/>
          </a:xfrm>
        </p:spPr>
        <p:txBody>
          <a:bodyPr anchor="ctr">
            <a:normAutofit/>
          </a:bodyPr>
          <a:lstStyle/>
          <a:p>
            <a:r>
              <a:rPr lang="fr-FR" sz="3000"/>
              <a:t>Apache Storm : streaming natif, performance et intégration</a:t>
            </a:r>
          </a:p>
        </p:txBody>
      </p:sp>
      <p:sp>
        <p:nvSpPr>
          <p:cNvPr id="8" name="ZoneTexte 7">
            <a:extLst>
              <a:ext uri="{FF2B5EF4-FFF2-40B4-BE49-F238E27FC236}">
                <a16:creationId xmlns:a16="http://schemas.microsoft.com/office/drawing/2014/main" id="{020B3D10-4A96-44C8-9DA5-6F4BBCB6ED51}"/>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714287" y="1440811"/>
            <a:ext cx="8370463" cy="4849152"/>
          </a:xfrm>
          <a:prstGeom prst="rect">
            <a:avLst/>
          </a:prstGeom>
        </p:spPr>
        <p:txBody>
          <a:bodyPr>
            <a:normAutofit/>
          </a:bodyPr>
          <a:lstStyle/>
          <a:p>
            <a:pPr marL="0" indent="0">
              <a:spcBef>
                <a:spcPts val="2500"/>
              </a:spcBef>
              <a:spcAft>
                <a:spcPts val="600"/>
              </a:spcAft>
              <a:buFont typeface="Arial" panose="020B0604020202020204" pitchFamily="34" charset="0"/>
              <a:buNone/>
            </a:pPr>
            <a:r>
              <a:rPr lang="fr-FR" sz="1400" b="1"/>
              <a:t>Maturité et Capacités</a:t>
            </a:r>
          </a:p>
          <a:p>
            <a:pPr marL="0" lvl="1" indent="0">
              <a:spcBef>
                <a:spcPts val="1000"/>
              </a:spcBef>
              <a:spcAft>
                <a:spcPts val="600"/>
              </a:spcAft>
              <a:buFont typeface="Arial" panose="020B0604020202020204" pitchFamily="34" charset="0"/>
              <a:buNone/>
            </a:pPr>
            <a:r>
              <a:rPr lang="fr-FR" sz="1400"/>
              <a:t>Apache Storm est une solution éprouvée pour le streaming natif et le traitement événementiel à faible latence.</a:t>
            </a:r>
          </a:p>
          <a:p>
            <a:pPr marL="0" indent="0">
              <a:spcBef>
                <a:spcPts val="2500"/>
              </a:spcBef>
              <a:spcAft>
                <a:spcPts val="600"/>
              </a:spcAft>
              <a:buFont typeface="Arial" panose="020B0604020202020204" pitchFamily="34" charset="0"/>
              <a:buNone/>
            </a:pPr>
            <a:r>
              <a:rPr lang="fr-FR" sz="1400" b="1"/>
              <a:t>Performance élevée</a:t>
            </a:r>
          </a:p>
          <a:p>
            <a:pPr marL="0" lvl="1" indent="0">
              <a:spcBef>
                <a:spcPts val="1000"/>
              </a:spcBef>
              <a:spcAft>
                <a:spcPts val="600"/>
              </a:spcAft>
              <a:buFont typeface="Arial" panose="020B0604020202020204" pitchFamily="34" charset="0"/>
              <a:buNone/>
            </a:pPr>
            <a:r>
              <a:rPr lang="fr-FR" sz="1400"/>
              <a:t>Storm traite des millions de tuples par seconde avec une garantie de traitement fiable des données.</a:t>
            </a:r>
          </a:p>
          <a:p>
            <a:pPr marL="0" indent="0">
              <a:spcBef>
                <a:spcPts val="2500"/>
              </a:spcBef>
              <a:spcAft>
                <a:spcPts val="600"/>
              </a:spcAft>
              <a:buFont typeface="Arial" panose="020B0604020202020204" pitchFamily="34" charset="0"/>
              <a:buNone/>
            </a:pPr>
            <a:r>
              <a:rPr lang="fr-FR" sz="1400" b="1"/>
              <a:t>Intégration système</a:t>
            </a:r>
          </a:p>
          <a:p>
            <a:pPr marL="0" lvl="1" indent="0">
              <a:spcBef>
                <a:spcPts val="1000"/>
              </a:spcBef>
              <a:spcAft>
                <a:spcPts val="600"/>
              </a:spcAft>
              <a:buFont typeface="Arial" panose="020B0604020202020204" pitchFamily="34" charset="0"/>
              <a:buNone/>
            </a:pPr>
            <a:r>
              <a:rPr lang="fr-FR" sz="1400"/>
              <a:t>Compatible avec HDFS et fonctionne efficacement avec HBase pour une intégration fluide des données.</a:t>
            </a:r>
          </a:p>
          <a:p>
            <a:pPr marL="0" indent="0">
              <a:spcBef>
                <a:spcPts val="2500"/>
              </a:spcBef>
              <a:spcAft>
                <a:spcPts val="600"/>
              </a:spcAft>
              <a:buFont typeface="Arial" panose="020B0604020202020204" pitchFamily="34" charset="0"/>
              <a:buNone/>
            </a:pPr>
            <a:r>
              <a:rPr lang="fr-FR" sz="1400" b="1"/>
              <a:t>Architecture de Storm</a:t>
            </a:r>
          </a:p>
          <a:p>
            <a:pPr marL="0" lvl="1" indent="0">
              <a:spcBef>
                <a:spcPts val="1000"/>
              </a:spcBef>
              <a:spcAft>
                <a:spcPts val="600"/>
              </a:spcAft>
              <a:buFont typeface="Arial" panose="020B0604020202020204" pitchFamily="34" charset="0"/>
              <a:buNone/>
            </a:pPr>
            <a:r>
              <a:rPr lang="fr-FR" sz="1400"/>
              <a:t>Les Spouts ingèrent les données et les Bolts les traitent en topologies de streaming en temps réel.</a:t>
            </a:r>
          </a:p>
        </p:txBody>
      </p:sp>
      <p:sp>
        <p:nvSpPr>
          <p:cNvPr id="4" name="Espace réservé de la date 3">
            <a:extLst>
              <a:ext uri="{FF2B5EF4-FFF2-40B4-BE49-F238E27FC236}">
                <a16:creationId xmlns:a16="http://schemas.microsoft.com/office/drawing/2014/main" id="{FDA95CFC-036D-5FBB-3B65-D3B8559153C0}"/>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DE064D7A-A9C6-3533-69CE-7218F0F7FA11}"/>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Espace réservé du numéro de diapositive 5">
            <a:extLst>
              <a:ext uri="{FF2B5EF4-FFF2-40B4-BE49-F238E27FC236}">
                <a16:creationId xmlns:a16="http://schemas.microsoft.com/office/drawing/2014/main" id="{437FA95F-2602-430E-6113-AC01A42A4A68}"/>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23</a:t>
            </a:fld>
            <a:endParaRPr lang="en-US"/>
          </a:p>
        </p:txBody>
      </p:sp>
      <p:pic>
        <p:nvPicPr>
          <p:cNvPr id="7" name="Espace réservé du contenu 6">
            <a:extLst>
              <a:ext uri="{FF2B5EF4-FFF2-40B4-BE49-F238E27FC236}">
                <a16:creationId xmlns:a16="http://schemas.microsoft.com/office/drawing/2014/main" id="{951AEAD8-4A0F-405F-8459-3264F84B2476}"/>
              </a:ext>
            </a:extLst>
          </p:cNvPr>
          <p:cNvPicPr>
            <a:picLocks noGrp="1" noChangeAspect="1"/>
          </p:cNvPicPr>
          <p:nvPr>
            <p:ph idx="4294967295"/>
            <p:extLst>
              <p:ext uri="{E7BDC344-281C-4309-B0C6-D0EE65EED2A8}">
                <p202:designPr xmlns:p202="http://schemas.microsoft.com/office/powerpoint/2020/02/main">
                  <p202:designTagLst>
                    <p202:designTag name="ARCH:1:CLS" val="ConstrainedImage"/>
                    <p202:designTag name="ARCH:1:VSVAR" val="Large"/>
                  </p202:designTagLst>
                </p202:designPr>
              </p:ext>
            </p:extLst>
          </p:nvPr>
        </p:nvPicPr>
        <p:blipFill>
          <a:blip r:embed="rId3"/>
          <a:srcRect l="4342" r="5283" b="1"/>
          <a:stretch>
            <a:fillRect/>
          </a:stretch>
        </p:blipFill>
        <p:spPr>
          <a:xfrm>
            <a:off x="431172" y="1440811"/>
            <a:ext cx="2092615" cy="4849152"/>
          </a:xfrm>
          <a:prstGeom prst="rect">
            <a:avLst/>
          </a:prstGeom>
          <a:noFill/>
        </p:spPr>
      </p:pic>
    </p:spTree>
    <p:extLst>
      <p:ext uri="{BB962C8B-B14F-4D97-AF65-F5344CB8AC3E}">
        <p14:creationId xmlns:p14="http://schemas.microsoft.com/office/powerpoint/2010/main" val="37431549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E9CC31-DDB0-52E6-3E5C-3141325A6147}"/>
              </a:ext>
            </a:extLst>
          </p:cNvPr>
          <p:cNvSpPr>
            <a:spLocks noGrp="1"/>
          </p:cNvSpPr>
          <p:nvPr>
            <p:ph type="title"/>
          </p:nvPr>
        </p:nvSpPr>
        <p:spPr>
          <a:xfrm>
            <a:off x="429768" y="548639"/>
            <a:ext cx="4855464" cy="1453896"/>
          </a:xfrm>
        </p:spPr>
        <p:txBody>
          <a:bodyPr vert="horz" lIns="91440" tIns="45720" rIns="91440" bIns="45720" rtlCol="0" anchor="t">
            <a:normAutofit/>
          </a:bodyPr>
          <a:lstStyle/>
          <a:p>
            <a:r>
              <a:rPr lang="en-US" sz="2500" b="0" kern="1200" cap="all" baseline="0">
                <a:latin typeface="+mj-lt"/>
                <a:ea typeface="+mj-ea"/>
                <a:cs typeface="+mj-cs"/>
              </a:rPr>
              <a:t>Apache Flink : streaming, batch processing et connecteurs</a:t>
            </a:r>
          </a:p>
        </p:txBody>
      </p:sp>
      <p:pic>
        <p:nvPicPr>
          <p:cNvPr id="7" name="Espace réservé du contenu 6">
            <a:extLst>
              <a:ext uri="{FF2B5EF4-FFF2-40B4-BE49-F238E27FC236}">
                <a16:creationId xmlns:a16="http://schemas.microsoft.com/office/drawing/2014/main" id="{50BA8F14-5F6D-466B-82FE-11A044C18C6A}"/>
              </a:ext>
            </a:extLst>
          </p:cNvPr>
          <p:cNvPicPr>
            <a:picLocks noGrp="1" noChangeAspect="1"/>
          </p:cNvPicPr>
          <p:nvPr>
            <p:ph type="pic" sz="quarter" idx="15"/>
            <p:extLst>
              <p:ext uri="{E7BDC344-281C-4309-B0C6-D0EE65EED2A8}">
                <p202:designPr xmlns:p202="http://schemas.microsoft.com/office/powerpoint/2020/02/main">
                  <p202:designTagLst>
                    <p202:designTag name="ARCH:1:CLS" val="ConstrainedImage"/>
                    <p202:designTag name="ARCH:1:VSVAR" val="Large"/>
                  </p202:designTagLst>
                </p202:designPr>
              </p:ext>
            </p:extLst>
          </p:nvPr>
        </p:nvPicPr>
        <p:blipFill>
          <a:blip r:embed="rId3"/>
          <a:srcRect l="31296" r="33388"/>
          <a:stretch>
            <a:fillRect/>
          </a:stretch>
        </p:blipFill>
        <p:spPr>
          <a:xfrm>
            <a:off x="20" y="2293496"/>
            <a:ext cx="5285212" cy="4564504"/>
          </a:xfrm>
          <a:prstGeom prst="rect">
            <a:avLst/>
          </a:prstGeom>
          <a:noFill/>
        </p:spPr>
      </p:pic>
      <p:sp>
        <p:nvSpPr>
          <p:cNvPr id="8" name="ZoneTexte 7">
            <a:extLst>
              <a:ext uri="{FF2B5EF4-FFF2-40B4-BE49-F238E27FC236}">
                <a16:creationId xmlns:a16="http://schemas.microsoft.com/office/drawing/2014/main" id="{22DF395A-0AC6-4BA8-94CC-337455AFA79B}"/>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a:prstGeom prst="rect">
            <a:avLst/>
          </a:prstGeom>
        </p:spPr>
        <p:txBody>
          <a:bodyPr>
            <a:normAutofit/>
          </a:bodyPr>
          <a:lstStyle/>
          <a:p>
            <a:pPr marL="0" indent="0">
              <a:spcBef>
                <a:spcPts val="2500"/>
              </a:spcBef>
              <a:spcAft>
                <a:spcPts val="600"/>
              </a:spcAft>
              <a:buFont typeface="Arial" panose="020B0604020202020204" pitchFamily="34" charset="0"/>
              <a:buNone/>
            </a:pPr>
            <a:r>
              <a:rPr lang="fr-FR" sz="1400" b="1"/>
              <a:t>Capacités principales</a:t>
            </a:r>
          </a:p>
          <a:p>
            <a:pPr marL="0" lvl="1" indent="0">
              <a:spcBef>
                <a:spcPts val="1000"/>
              </a:spcBef>
              <a:spcAft>
                <a:spcPts val="600"/>
              </a:spcAft>
              <a:buFont typeface="Arial" panose="020B0604020202020204" pitchFamily="34" charset="0"/>
              <a:buNone/>
            </a:pPr>
            <a:r>
              <a:rPr lang="fr-FR" sz="1400"/>
              <a:t>Flink supporte le streaming natif, le traitement par lots via API streaming et le traitement complexe d'événements.</a:t>
            </a:r>
          </a:p>
          <a:p>
            <a:pPr marL="0" indent="0">
              <a:spcBef>
                <a:spcPts val="2500"/>
              </a:spcBef>
              <a:spcAft>
                <a:spcPts val="600"/>
              </a:spcAft>
              <a:buFont typeface="Arial" panose="020B0604020202020204" pitchFamily="34" charset="0"/>
              <a:buNone/>
            </a:pPr>
            <a:r>
              <a:rPr lang="fr-FR" sz="1400" b="1"/>
              <a:t>Performance optimisée</a:t>
            </a:r>
          </a:p>
          <a:p>
            <a:pPr marL="0" lvl="1" indent="0">
              <a:spcBef>
                <a:spcPts val="1000"/>
              </a:spcBef>
              <a:spcAft>
                <a:spcPts val="600"/>
              </a:spcAft>
              <a:buFont typeface="Arial" panose="020B0604020202020204" pitchFamily="34" charset="0"/>
              <a:buNone/>
            </a:pPr>
            <a:r>
              <a:rPr lang="fr-FR" sz="1400"/>
              <a:t>Optimisé pour le streaming avec faible latence et haute disponibilité pour un traitement efficace des données.</a:t>
            </a:r>
          </a:p>
          <a:p>
            <a:pPr marL="0" indent="0">
              <a:spcBef>
                <a:spcPts val="2500"/>
              </a:spcBef>
              <a:spcAft>
                <a:spcPts val="600"/>
              </a:spcAft>
              <a:buFont typeface="Arial" panose="020B0604020202020204" pitchFamily="34" charset="0"/>
              <a:buNone/>
            </a:pPr>
            <a:r>
              <a:rPr lang="fr-FR" sz="1400" b="1"/>
              <a:t>Intégration et connecteurs</a:t>
            </a:r>
          </a:p>
          <a:p>
            <a:pPr marL="0" lvl="1" indent="0">
              <a:spcBef>
                <a:spcPts val="1000"/>
              </a:spcBef>
              <a:spcAft>
                <a:spcPts val="600"/>
              </a:spcAft>
              <a:buFont typeface="Arial" panose="020B0604020202020204" pitchFamily="34" charset="0"/>
              <a:buNone/>
            </a:pPr>
            <a:r>
              <a:rPr lang="fr-FR" sz="1400"/>
              <a:t>Compatible avec l’écosystème Hadoop et supporte plusieurs connecteurs comme Kafka et Cassandra.</a:t>
            </a:r>
          </a:p>
          <a:p>
            <a:pPr marL="0" indent="0">
              <a:spcBef>
                <a:spcPts val="2500"/>
              </a:spcBef>
              <a:spcAft>
                <a:spcPts val="600"/>
              </a:spcAft>
              <a:buFont typeface="Arial" panose="020B0604020202020204" pitchFamily="34" charset="0"/>
              <a:buNone/>
            </a:pPr>
            <a:r>
              <a:rPr lang="fr-FR" sz="1400" b="1"/>
              <a:t>Architecture distribuée</a:t>
            </a:r>
          </a:p>
          <a:p>
            <a:pPr marL="0" lvl="1" indent="0">
              <a:spcBef>
                <a:spcPts val="1000"/>
              </a:spcBef>
              <a:spcAft>
                <a:spcPts val="600"/>
              </a:spcAft>
              <a:buFont typeface="Arial" panose="020B0604020202020204" pitchFamily="34" charset="0"/>
              <a:buNone/>
            </a:pPr>
            <a:r>
              <a:rPr lang="fr-FR" sz="1400"/>
              <a:t>L’architecture comprend un JobManager pour distribuer les tâches aux TaskManagers et un State Backend pour maintenir l’état.</a:t>
            </a:r>
          </a:p>
        </p:txBody>
      </p:sp>
      <p:sp>
        <p:nvSpPr>
          <p:cNvPr id="4" name="Espace réservé de la date 3">
            <a:extLst>
              <a:ext uri="{FF2B5EF4-FFF2-40B4-BE49-F238E27FC236}">
                <a16:creationId xmlns:a16="http://schemas.microsoft.com/office/drawing/2014/main" id="{690C0795-9058-929A-E06E-455D8DFE860A}"/>
              </a:ext>
            </a:extLst>
          </p:cNvPr>
          <p:cNvSpPr>
            <a:spLocks noGrp="1"/>
          </p:cNvSpPr>
          <p:nvPr>
            <p:ph type="dt" sz="half" idx="10"/>
          </p:nvPr>
        </p:nvSpPr>
        <p:spPr>
          <a:xfrm>
            <a:off x="6096000" y="6492240"/>
            <a:ext cx="2651760" cy="338328"/>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BD8B53E3-16B4-3CF0-568B-F5BB1A82E54C}"/>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Espace réservé du numéro de diapositive 5">
            <a:extLst>
              <a:ext uri="{FF2B5EF4-FFF2-40B4-BE49-F238E27FC236}">
                <a16:creationId xmlns:a16="http://schemas.microsoft.com/office/drawing/2014/main" id="{91225998-C074-B55F-C9AF-6C22D4BAA037}"/>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24</a:t>
            </a:fld>
            <a:endParaRPr lang="en-US"/>
          </a:p>
        </p:txBody>
      </p:sp>
    </p:spTree>
    <p:extLst>
      <p:ext uri="{BB962C8B-B14F-4D97-AF65-F5344CB8AC3E}">
        <p14:creationId xmlns:p14="http://schemas.microsoft.com/office/powerpoint/2010/main" val="33268614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5FFBC5-EAF4-A1C1-0084-B65BFDCBC051}"/>
              </a:ext>
            </a:extLst>
          </p:cNvPr>
          <p:cNvSpPr>
            <a:spLocks noGrp="1"/>
          </p:cNvSpPr>
          <p:nvPr>
            <p:ph type="title"/>
          </p:nvPr>
        </p:nvSpPr>
        <p:spPr>
          <a:xfrm>
            <a:off x="431172" y="553616"/>
            <a:ext cx="7914087" cy="4008859"/>
          </a:xfrm>
        </p:spPr>
        <p:txBody>
          <a:bodyPr anchor="t">
            <a:normAutofit/>
          </a:bodyPr>
          <a:lstStyle/>
          <a:p>
            <a:r>
              <a:rPr lang="fr-FR"/>
              <a:t>Architecture et fonctionnement de Spark</a:t>
            </a:r>
          </a:p>
        </p:txBody>
      </p:sp>
      <p:sp>
        <p:nvSpPr>
          <p:cNvPr id="11" name="Text Placeholder 2">
            <a:extLst>
              <a:ext uri="{FF2B5EF4-FFF2-40B4-BE49-F238E27FC236}">
                <a16:creationId xmlns:a16="http://schemas.microsoft.com/office/drawing/2014/main" id="{1795B564-2792-EADD-3F8E-97ABE80302C9}"/>
              </a:ext>
            </a:extLst>
          </p:cNvPr>
          <p:cNvSpPr>
            <a:spLocks noGrp="1"/>
          </p:cNvSpPr>
          <p:nvPr>
            <p:ph type="body" idx="1"/>
          </p:nvPr>
        </p:nvSpPr>
        <p:spPr>
          <a:xfrm>
            <a:off x="431172" y="5088156"/>
            <a:ext cx="7914087" cy="1166648"/>
          </a:xfrm>
        </p:spPr>
        <p:txBody>
          <a:bodyPr/>
          <a:lstStyle/>
          <a:p>
            <a:endParaRPr lang="en-US"/>
          </a:p>
        </p:txBody>
      </p:sp>
      <p:sp>
        <p:nvSpPr>
          <p:cNvPr id="4" name="Espace réservé de la date 3">
            <a:extLst>
              <a:ext uri="{FF2B5EF4-FFF2-40B4-BE49-F238E27FC236}">
                <a16:creationId xmlns:a16="http://schemas.microsoft.com/office/drawing/2014/main" id="{1A65DB1A-3112-4FE8-DA0C-CA5B8F2B49C4}"/>
              </a:ext>
            </a:extLst>
          </p:cNvPr>
          <p:cNvSpPr>
            <a:spLocks noGrp="1"/>
          </p:cNvSpPr>
          <p:nvPr>
            <p:ph type="dt" sz="half" idx="10"/>
          </p:nvPr>
        </p:nvSpPr>
        <p:spPr>
          <a:xfrm>
            <a:off x="431172" y="6490524"/>
            <a:ext cx="2841959" cy="336141"/>
          </a:xfrm>
        </p:spPr>
        <p:txBody>
          <a:bodyPr anchor="ctr">
            <a:normAutofit/>
          </a:bodyPr>
          <a:lstStyle/>
          <a:p>
            <a:pPr>
              <a:spcAft>
                <a:spcPts val="600"/>
              </a:spcAft>
            </a:pPr>
            <a:fld id="{B04EF954-66B1-4168-AF40-97F3DAF43FC4}"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E8F76004-0ED7-F820-D6EF-DDF9DF6C9349}"/>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Espace réservé du numéro de diapositive 5">
            <a:extLst>
              <a:ext uri="{FF2B5EF4-FFF2-40B4-BE49-F238E27FC236}">
                <a16:creationId xmlns:a16="http://schemas.microsoft.com/office/drawing/2014/main" id="{DC35F216-8236-F59C-155A-DF3DD71BE6CB}"/>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25</a:t>
            </a:fld>
            <a:endParaRPr lang="en-US"/>
          </a:p>
        </p:txBody>
      </p:sp>
    </p:spTree>
    <p:extLst>
      <p:ext uri="{BB962C8B-B14F-4D97-AF65-F5344CB8AC3E}">
        <p14:creationId xmlns:p14="http://schemas.microsoft.com/office/powerpoint/2010/main" val="8709202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39B42A-3D5E-4210-002A-840D7812465D}"/>
              </a:ext>
            </a:extLst>
          </p:cNvPr>
          <p:cNvSpPr>
            <a:spLocks noGrp="1"/>
          </p:cNvSpPr>
          <p:nvPr>
            <p:ph type="title"/>
          </p:nvPr>
        </p:nvSpPr>
        <p:spPr>
          <a:xfrm>
            <a:off x="429768" y="548639"/>
            <a:ext cx="4855464" cy="1453896"/>
          </a:xfrm>
        </p:spPr>
        <p:txBody>
          <a:bodyPr vert="horz" lIns="91440" tIns="45720" rIns="91440" bIns="45720" rtlCol="0" anchor="t">
            <a:normAutofit/>
          </a:bodyPr>
          <a:lstStyle/>
          <a:p>
            <a:r>
              <a:rPr lang="en-US" b="0" kern="1200" cap="all" baseline="0">
                <a:latin typeface="+mj-lt"/>
                <a:ea typeface="+mj-ea"/>
                <a:cs typeface="+mj-cs"/>
              </a:rPr>
              <a:t>Traitement et calcul distribué : principes et défis</a:t>
            </a:r>
          </a:p>
        </p:txBody>
      </p:sp>
      <p:pic>
        <p:nvPicPr>
          <p:cNvPr id="7" name="Espace réservé du contenu 6" descr="Réseau informatique, internet, infonuagique, technologie des mégadonnées">
            <a:extLst>
              <a:ext uri="{FF2B5EF4-FFF2-40B4-BE49-F238E27FC236}">
                <a16:creationId xmlns:a16="http://schemas.microsoft.com/office/drawing/2014/main" id="{EDD41C6B-8F79-41A5-BE98-35B64F462EC2}"/>
              </a:ext>
            </a:extLst>
          </p:cNvPr>
          <p:cNvPicPr>
            <a:picLocks noGrp="1" noChangeAspect="1"/>
          </p:cNvPicPr>
          <p:nvPr>
            <p:ph type="pic" sz="quarter" idx="15"/>
          </p:nvPr>
        </p:nvPicPr>
        <p:blipFill>
          <a:blip r:embed="rId3"/>
          <a:srcRect l="9655" r="3503"/>
          <a:stretch>
            <a:fillRect/>
          </a:stretch>
        </p:blipFill>
        <p:spPr>
          <a:xfrm>
            <a:off x="20" y="2293496"/>
            <a:ext cx="5285212" cy="4564504"/>
          </a:xfrm>
          <a:prstGeom prst="rect">
            <a:avLst/>
          </a:prstGeom>
          <a:noFill/>
        </p:spPr>
      </p:pic>
      <p:sp>
        <p:nvSpPr>
          <p:cNvPr id="8" name="ZoneTexte 7">
            <a:extLst>
              <a:ext uri="{FF2B5EF4-FFF2-40B4-BE49-F238E27FC236}">
                <a16:creationId xmlns:a16="http://schemas.microsoft.com/office/drawing/2014/main" id="{324EAF92-545A-4531-A2B7-4BCC8EFADA8C}"/>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a:prstGeom prst="rect">
            <a:avLst/>
          </a:prstGeom>
        </p:spPr>
        <p:txBody>
          <a:bodyPr>
            <a:normAutofit/>
          </a:bodyPr>
          <a:lstStyle/>
          <a:p>
            <a:pPr marL="0" indent="0">
              <a:spcBef>
                <a:spcPts val="2500"/>
              </a:spcBef>
              <a:spcAft>
                <a:spcPts val="600"/>
              </a:spcAft>
              <a:buFont typeface="Arial" panose="020B0604020202020204" pitchFamily="34" charset="0"/>
              <a:buNone/>
            </a:pPr>
            <a:r>
              <a:rPr lang="fr-FR" sz="1400" b="1"/>
              <a:t>Approche fondamentale du calcul distribué</a:t>
            </a:r>
          </a:p>
          <a:p>
            <a:pPr marL="0" lvl="1" indent="0">
              <a:spcBef>
                <a:spcPts val="1000"/>
              </a:spcBef>
              <a:spcAft>
                <a:spcPts val="600"/>
              </a:spcAft>
              <a:buFont typeface="Arial" panose="020B0604020202020204" pitchFamily="34" charset="0"/>
              <a:buNone/>
            </a:pPr>
            <a:r>
              <a:rPr lang="fr-FR" sz="1400"/>
              <a:t>Le calcul distribué répartit la charge de travail sur plusieurs machines pour résoudre des problèmes complexes rapidement.</a:t>
            </a:r>
          </a:p>
          <a:p>
            <a:pPr marL="0" indent="0">
              <a:spcBef>
                <a:spcPts val="2500"/>
              </a:spcBef>
              <a:spcAft>
                <a:spcPts val="600"/>
              </a:spcAft>
              <a:buFont typeface="Arial" panose="020B0604020202020204" pitchFamily="34" charset="0"/>
              <a:buNone/>
            </a:pPr>
            <a:r>
              <a:rPr lang="fr-FR" sz="1400" b="1"/>
              <a:t>Architecture du système distribué</a:t>
            </a:r>
          </a:p>
          <a:p>
            <a:pPr marL="0" lvl="1" indent="0">
              <a:spcBef>
                <a:spcPts val="1000"/>
              </a:spcBef>
              <a:spcAft>
                <a:spcPts val="600"/>
              </a:spcAft>
              <a:buFont typeface="Arial" panose="020B0604020202020204" pitchFamily="34" charset="0"/>
              <a:buNone/>
            </a:pPr>
            <a:r>
              <a:rPr lang="fr-FR" sz="1400"/>
              <a:t>Le système comprend des nœuds de calcul, un système de coordination et un réseau performant.</a:t>
            </a:r>
          </a:p>
          <a:p>
            <a:pPr marL="0" indent="0">
              <a:spcBef>
                <a:spcPts val="2500"/>
              </a:spcBef>
              <a:spcAft>
                <a:spcPts val="600"/>
              </a:spcAft>
              <a:buFont typeface="Arial" panose="020B0604020202020204" pitchFamily="34" charset="0"/>
              <a:buNone/>
            </a:pPr>
            <a:r>
              <a:rPr lang="fr-FR" sz="1400" b="1"/>
              <a:t>Gestion des ressources et planification</a:t>
            </a:r>
          </a:p>
          <a:p>
            <a:pPr marL="0" lvl="1" indent="0">
              <a:spcBef>
                <a:spcPts val="1000"/>
              </a:spcBef>
              <a:spcAft>
                <a:spcPts val="600"/>
              </a:spcAft>
              <a:buFont typeface="Arial" panose="020B0604020202020204" pitchFamily="34" charset="0"/>
              <a:buNone/>
            </a:pPr>
            <a:r>
              <a:rPr lang="fr-FR" sz="1400"/>
              <a:t>Des algorithmes sophistiqués assurent une répartition optimale et équilibrée des tâches entre les nœuds.</a:t>
            </a:r>
          </a:p>
          <a:p>
            <a:pPr marL="0" indent="0">
              <a:spcBef>
                <a:spcPts val="2500"/>
              </a:spcBef>
              <a:spcAft>
                <a:spcPts val="600"/>
              </a:spcAft>
              <a:buFont typeface="Arial" panose="020B0604020202020204" pitchFamily="34" charset="0"/>
              <a:buNone/>
            </a:pPr>
            <a:r>
              <a:rPr lang="fr-FR" sz="1400" b="1"/>
              <a:t>Défis du calcul distribué</a:t>
            </a:r>
          </a:p>
          <a:p>
            <a:pPr marL="0" lvl="1" indent="0">
              <a:spcBef>
                <a:spcPts val="1000"/>
              </a:spcBef>
              <a:spcAft>
                <a:spcPts val="600"/>
              </a:spcAft>
              <a:buFont typeface="Arial" panose="020B0604020202020204" pitchFamily="34" charset="0"/>
              <a:buNone/>
            </a:pPr>
            <a:r>
              <a:rPr lang="fr-FR" sz="1400"/>
              <a:t>Synchronisation des données, gestion des pannes et optimisation des communications sont des défis majeurs.</a:t>
            </a:r>
          </a:p>
        </p:txBody>
      </p:sp>
      <p:sp>
        <p:nvSpPr>
          <p:cNvPr id="4" name="Espace réservé de la date 3">
            <a:extLst>
              <a:ext uri="{FF2B5EF4-FFF2-40B4-BE49-F238E27FC236}">
                <a16:creationId xmlns:a16="http://schemas.microsoft.com/office/drawing/2014/main" id="{8184B13B-A963-9601-49D9-356DA8064CBA}"/>
              </a:ext>
            </a:extLst>
          </p:cNvPr>
          <p:cNvSpPr>
            <a:spLocks noGrp="1"/>
          </p:cNvSpPr>
          <p:nvPr>
            <p:ph type="dt" sz="half" idx="10"/>
          </p:nvPr>
        </p:nvSpPr>
        <p:spPr>
          <a:xfrm>
            <a:off x="6096000" y="6492240"/>
            <a:ext cx="2651760" cy="338328"/>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F12417C6-1BED-E475-32AC-D2F40BC31595}"/>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Espace réservé du numéro de diapositive 5">
            <a:extLst>
              <a:ext uri="{FF2B5EF4-FFF2-40B4-BE49-F238E27FC236}">
                <a16:creationId xmlns:a16="http://schemas.microsoft.com/office/drawing/2014/main" id="{BB56A14A-B63D-7816-8036-1B8239A64C97}"/>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26</a:t>
            </a:fld>
            <a:endParaRPr lang="en-US"/>
          </a:p>
        </p:txBody>
      </p:sp>
    </p:spTree>
    <p:extLst>
      <p:ext uri="{BB962C8B-B14F-4D97-AF65-F5344CB8AC3E}">
        <p14:creationId xmlns:p14="http://schemas.microsoft.com/office/powerpoint/2010/main" val="27967889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2F28304-AD33-2BE0-5C54-BFA51BFB50EF}"/>
              </a:ext>
            </a:extLst>
          </p:cNvPr>
          <p:cNvSpPr>
            <a:spLocks noGrp="1"/>
          </p:cNvSpPr>
          <p:nvPr>
            <p:ph type="title"/>
          </p:nvPr>
        </p:nvSpPr>
        <p:spPr>
          <a:xfrm>
            <a:off x="321733" y="4162318"/>
            <a:ext cx="2953618" cy="1892808"/>
          </a:xfrm>
        </p:spPr>
        <p:txBody>
          <a:bodyPr vert="horz" lIns="91440" tIns="45720" rIns="91440" bIns="45720" rtlCol="0" anchor="t">
            <a:normAutofit/>
          </a:bodyPr>
          <a:lstStyle/>
          <a:p>
            <a:r>
              <a:rPr lang="en-US" sz="2500" b="0" kern="1200" cap="all" baseline="0">
                <a:latin typeface="+mj-lt"/>
                <a:ea typeface="+mj-ea"/>
                <a:cs typeface="+mj-cs"/>
              </a:rPr>
              <a:t>Écosystème Spark : bibliothèques et APIs</a:t>
            </a:r>
          </a:p>
        </p:txBody>
      </p:sp>
      <p:sp>
        <p:nvSpPr>
          <p:cNvPr id="8" name="ZoneTexte 7">
            <a:extLst>
              <a:ext uri="{FF2B5EF4-FFF2-40B4-BE49-F238E27FC236}">
                <a16:creationId xmlns:a16="http://schemas.microsoft.com/office/drawing/2014/main" id="{8DDE4A27-ABE1-4483-B3D4-6EAF52C1EE93}"/>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977640" y="4162318"/>
            <a:ext cx="7772400" cy="2240280"/>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fr-FR" sz="900" b="1"/>
              <a:t>Bibliothèques intégrées de Spark</a:t>
            </a:r>
          </a:p>
          <a:p>
            <a:pPr marL="0" lvl="1" indent="0">
              <a:lnSpc>
                <a:spcPct val="90000"/>
              </a:lnSpc>
              <a:spcBef>
                <a:spcPts val="1000"/>
              </a:spcBef>
              <a:spcAft>
                <a:spcPts val="600"/>
              </a:spcAft>
              <a:buFont typeface="Arial" panose="020B0604020202020204" pitchFamily="34" charset="0"/>
              <a:buNone/>
            </a:pPr>
            <a:r>
              <a:rPr lang="fr-FR" sz="900"/>
              <a:t>Spark SQL, MLlib, GraphX et Spark Streaming offrent des fonctionnalités variées pour différents types de traitement de données.</a:t>
            </a:r>
          </a:p>
          <a:p>
            <a:pPr marL="0" indent="0">
              <a:lnSpc>
                <a:spcPct val="90000"/>
              </a:lnSpc>
              <a:spcBef>
                <a:spcPts val="2500"/>
              </a:spcBef>
              <a:spcAft>
                <a:spcPts val="600"/>
              </a:spcAft>
              <a:buFont typeface="Arial" panose="020B0604020202020204" pitchFamily="34" charset="0"/>
              <a:buNone/>
            </a:pPr>
            <a:r>
              <a:rPr lang="fr-FR" sz="900" b="1"/>
              <a:t>Modularité et extensibilité</a:t>
            </a:r>
          </a:p>
          <a:p>
            <a:pPr marL="0" lvl="1" indent="0">
              <a:lnSpc>
                <a:spcPct val="90000"/>
              </a:lnSpc>
              <a:spcBef>
                <a:spcPts val="1000"/>
              </a:spcBef>
              <a:spcAft>
                <a:spcPts val="600"/>
              </a:spcAft>
              <a:buFont typeface="Arial" panose="020B0604020202020204" pitchFamily="34" charset="0"/>
              <a:buNone/>
            </a:pPr>
            <a:r>
              <a:rPr lang="fr-FR" sz="900"/>
              <a:t>L'écosystème Spark est modulaire et extensible, permettant l'ajout facile de nouvelles fonctionnalités via des packages externes.</a:t>
            </a:r>
          </a:p>
          <a:p>
            <a:pPr marL="0" indent="0">
              <a:lnSpc>
                <a:spcPct val="90000"/>
              </a:lnSpc>
              <a:spcBef>
                <a:spcPts val="2500"/>
              </a:spcBef>
              <a:spcAft>
                <a:spcPts val="600"/>
              </a:spcAft>
              <a:buFont typeface="Arial" panose="020B0604020202020204" pitchFamily="34" charset="0"/>
              <a:buNone/>
            </a:pPr>
            <a:r>
              <a:rPr lang="fr-FR" sz="900" b="1"/>
              <a:t>APIs de haut niveau</a:t>
            </a:r>
          </a:p>
          <a:p>
            <a:pPr marL="0" lvl="1" indent="0">
              <a:lnSpc>
                <a:spcPct val="90000"/>
              </a:lnSpc>
              <a:spcBef>
                <a:spcPts val="1000"/>
              </a:spcBef>
              <a:spcAft>
                <a:spcPts val="600"/>
              </a:spcAft>
              <a:buFont typeface="Arial" panose="020B0604020202020204" pitchFamily="34" charset="0"/>
              <a:buNone/>
            </a:pPr>
            <a:r>
              <a:rPr lang="fr-FR" sz="900"/>
              <a:t>Les APIs DataFrame et Dataset simplifient le développement tout en optimisant les performances automatiquement.</a:t>
            </a:r>
          </a:p>
        </p:txBody>
      </p:sp>
      <p:pic>
        <p:nvPicPr>
          <p:cNvPr id="7" name="Espace réservé du contenu 6">
            <a:extLst>
              <a:ext uri="{FF2B5EF4-FFF2-40B4-BE49-F238E27FC236}">
                <a16:creationId xmlns:a16="http://schemas.microsoft.com/office/drawing/2014/main" id="{B676A226-9BEB-4B63-8EE9-868ACB55E017}"/>
              </a:ext>
            </a:extLst>
          </p:cNvPr>
          <p:cNvPicPr>
            <a:picLocks noGrp="1" noChangeAspect="1"/>
          </p:cNvPicPr>
          <p:nvPr>
            <p:ph type="pic" sz="quarter" idx="15"/>
            <p:extLst>
              <p:ext uri="{E7BDC344-281C-4309-B0C6-D0EE65EED2A8}">
                <p202:designPr xmlns:p202="http://schemas.microsoft.com/office/powerpoint/2020/02/main">
                  <p202:designTagLst>
                    <p202:designTag name="ARCH:1:CLS" val="ConstrainedImage"/>
                    <p202:designTag name="ARCH:1:VSVAR" val="Large"/>
                  </p202:designTagLst>
                </p202:designPr>
              </p:ext>
            </p:extLst>
          </p:nvPr>
        </p:nvPicPr>
        <p:blipFill>
          <a:blip r:embed="rId3"/>
          <a:srcRect t="1838"/>
          <a:stretch>
            <a:fillRect/>
          </a:stretch>
        </p:blipFill>
        <p:spPr>
          <a:xfrm>
            <a:off x="20" y="10"/>
            <a:ext cx="11750020" cy="3806236"/>
          </a:xfrm>
          <a:prstGeom prst="rect">
            <a:avLst/>
          </a:prstGeom>
          <a:noFill/>
        </p:spPr>
      </p:pic>
      <p:sp>
        <p:nvSpPr>
          <p:cNvPr id="4" name="Espace réservé de la date 3">
            <a:extLst>
              <a:ext uri="{FF2B5EF4-FFF2-40B4-BE49-F238E27FC236}">
                <a16:creationId xmlns:a16="http://schemas.microsoft.com/office/drawing/2014/main" id="{69F066AC-6E36-C307-D793-F236B9D0293E}"/>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4BF07FEA-AD06-DC39-0433-96B42EA1F006}"/>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Espace réservé du numéro de diapositive 5">
            <a:extLst>
              <a:ext uri="{FF2B5EF4-FFF2-40B4-BE49-F238E27FC236}">
                <a16:creationId xmlns:a16="http://schemas.microsoft.com/office/drawing/2014/main" id="{0F4CCB61-312B-71DB-846B-E0978225C40C}"/>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27</a:t>
            </a:fld>
            <a:endParaRPr lang="en-US"/>
          </a:p>
        </p:txBody>
      </p:sp>
    </p:spTree>
    <p:extLst>
      <p:ext uri="{BB962C8B-B14F-4D97-AF65-F5344CB8AC3E}">
        <p14:creationId xmlns:p14="http://schemas.microsoft.com/office/powerpoint/2010/main" val="16717173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7235FA-353F-22EB-DDAF-892CA07196D1}"/>
              </a:ext>
            </a:extLst>
          </p:cNvPr>
          <p:cNvSpPr>
            <a:spLocks noGrp="1"/>
          </p:cNvSpPr>
          <p:nvPr>
            <p:ph type="title"/>
          </p:nvPr>
        </p:nvSpPr>
        <p:spPr>
          <a:xfrm>
            <a:off x="8311896" y="1078992"/>
            <a:ext cx="3273552" cy="1947672"/>
          </a:xfrm>
        </p:spPr>
        <p:txBody>
          <a:bodyPr vert="horz" lIns="91440" tIns="45720" rIns="91440" bIns="45720" rtlCol="0" anchor="b">
            <a:normAutofit/>
          </a:bodyPr>
          <a:lstStyle/>
          <a:p>
            <a:r>
              <a:rPr lang="en-US" sz="2700" b="0" kern="1200" cap="all" baseline="0">
                <a:latin typeface="+mj-lt"/>
                <a:ea typeface="+mj-ea"/>
                <a:cs typeface="+mj-cs"/>
              </a:rPr>
              <a:t>Structure du cluster et communication</a:t>
            </a:r>
          </a:p>
        </p:txBody>
      </p:sp>
      <p:pic>
        <p:nvPicPr>
          <p:cNvPr id="7" name="Espace réservé du contenu 6">
            <a:extLst>
              <a:ext uri="{FF2B5EF4-FFF2-40B4-BE49-F238E27FC236}">
                <a16:creationId xmlns:a16="http://schemas.microsoft.com/office/drawing/2014/main" id="{17795FBF-2F1B-42EF-9233-83550FC7ED7B}"/>
              </a:ext>
            </a:extLst>
          </p:cNvPr>
          <p:cNvPicPr>
            <a:picLocks noGrp="1" noChangeAspect="1"/>
          </p:cNvPicPr>
          <p:nvPr>
            <p:ph type="pic" sz="quarter" idx="15"/>
            <p:extLst>
              <p:ext uri="{E7BDC344-281C-4309-B0C6-D0EE65EED2A8}">
                <p202:designPr xmlns:p202="http://schemas.microsoft.com/office/powerpoint/2020/02/main">
                  <p202:designTagLst>
                    <p202:designTag name="ARCH:1:CLS" val="ConstrainedImage"/>
                    <p202:designTag name="ARCH:1:VSVAR" val="Large"/>
                  </p202:designTagLst>
                </p202:designPr>
              </p:ext>
            </p:extLst>
          </p:nvPr>
        </p:nvPicPr>
        <p:blipFill>
          <a:blip r:embed="rId3"/>
          <a:srcRect l="1470" r="1837" b="-2"/>
          <a:stretch>
            <a:fillRect/>
          </a:stretch>
        </p:blipFill>
        <p:spPr>
          <a:xfrm>
            <a:off x="20" y="10"/>
            <a:ext cx="7734280" cy="6399142"/>
          </a:xfrm>
          <a:prstGeom prst="rect">
            <a:avLst/>
          </a:prstGeom>
          <a:noFill/>
        </p:spPr>
      </p:pic>
      <p:sp>
        <p:nvSpPr>
          <p:cNvPr id="8" name="ZoneTexte 7">
            <a:extLst>
              <a:ext uri="{FF2B5EF4-FFF2-40B4-BE49-F238E27FC236}">
                <a16:creationId xmlns:a16="http://schemas.microsoft.com/office/drawing/2014/main" id="{18F079A5-5B0A-4A55-80C9-831DD93AE281}"/>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3099816"/>
            <a:ext cx="3273552" cy="2953512"/>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fr-FR" sz="900" b="1"/>
              <a:t>Architecture maître-esclave</a:t>
            </a:r>
          </a:p>
          <a:p>
            <a:pPr marL="0" lvl="1" indent="0">
              <a:lnSpc>
                <a:spcPct val="90000"/>
              </a:lnSpc>
              <a:spcBef>
                <a:spcPts val="1000"/>
              </a:spcBef>
              <a:spcAft>
                <a:spcPts val="600"/>
              </a:spcAft>
              <a:buFont typeface="Arial" panose="020B0604020202020204" pitchFamily="34" charset="0"/>
              <a:buNone/>
            </a:pPr>
            <a:r>
              <a:rPr lang="fr-FR" sz="900"/>
              <a:t>Le Driver Program coordonne les exécuteurs dans un modèle maître-esclave pour gérer les tâches distribuées efficacement.</a:t>
            </a:r>
          </a:p>
          <a:p>
            <a:pPr marL="0" indent="0">
              <a:lnSpc>
                <a:spcPct val="90000"/>
              </a:lnSpc>
              <a:spcBef>
                <a:spcPts val="2500"/>
              </a:spcBef>
              <a:spcAft>
                <a:spcPts val="600"/>
              </a:spcAft>
              <a:buFont typeface="Arial" panose="020B0604020202020204" pitchFamily="34" charset="0"/>
              <a:buNone/>
            </a:pPr>
            <a:r>
              <a:rPr lang="fr-FR" sz="900" b="1"/>
              <a:t>Gestion des ressources</a:t>
            </a:r>
          </a:p>
          <a:p>
            <a:pPr marL="0" lvl="1" indent="0">
              <a:lnSpc>
                <a:spcPct val="90000"/>
              </a:lnSpc>
              <a:spcBef>
                <a:spcPts val="1000"/>
              </a:spcBef>
              <a:spcAft>
                <a:spcPts val="600"/>
              </a:spcAft>
              <a:buFont typeface="Arial" panose="020B0604020202020204" pitchFamily="34" charset="0"/>
              <a:buNone/>
            </a:pPr>
            <a:r>
              <a:rPr lang="fr-FR" sz="900"/>
              <a:t>Le Cluster Manager attribue les ressources et planifie les tâches via YARN, Kubernetes, ou autres gestionnaires.</a:t>
            </a:r>
          </a:p>
          <a:p>
            <a:pPr marL="0" indent="0">
              <a:lnSpc>
                <a:spcPct val="90000"/>
              </a:lnSpc>
              <a:spcBef>
                <a:spcPts val="2500"/>
              </a:spcBef>
              <a:spcAft>
                <a:spcPts val="600"/>
              </a:spcAft>
              <a:buFont typeface="Arial" panose="020B0604020202020204" pitchFamily="34" charset="0"/>
              <a:buNone/>
            </a:pPr>
            <a:r>
              <a:rPr lang="fr-FR" sz="900" b="1"/>
              <a:t>Communication optimisée</a:t>
            </a:r>
          </a:p>
          <a:p>
            <a:pPr marL="0" lvl="1" indent="0">
              <a:lnSpc>
                <a:spcPct val="90000"/>
              </a:lnSpc>
              <a:spcBef>
                <a:spcPts val="1000"/>
              </a:spcBef>
              <a:spcAft>
                <a:spcPts val="600"/>
              </a:spcAft>
              <a:buFont typeface="Arial" panose="020B0604020202020204" pitchFamily="34" charset="0"/>
              <a:buNone/>
            </a:pPr>
            <a:r>
              <a:rPr lang="fr-FR" sz="900"/>
              <a:t>Les composants communiquent via un protocole à faible latence, assurant un débit élevé et efficace redistribution des données.</a:t>
            </a:r>
          </a:p>
        </p:txBody>
      </p:sp>
      <p:sp>
        <p:nvSpPr>
          <p:cNvPr id="4" name="Espace réservé de la date 3">
            <a:extLst>
              <a:ext uri="{FF2B5EF4-FFF2-40B4-BE49-F238E27FC236}">
                <a16:creationId xmlns:a16="http://schemas.microsoft.com/office/drawing/2014/main" id="{F99AD112-0AD9-38D4-0346-D5766C8F4494}"/>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5061FAD9-675D-17F4-6FC6-2606A41BE0EF}"/>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Espace réservé du numéro de diapositive 5">
            <a:extLst>
              <a:ext uri="{FF2B5EF4-FFF2-40B4-BE49-F238E27FC236}">
                <a16:creationId xmlns:a16="http://schemas.microsoft.com/office/drawing/2014/main" id="{1E6EA756-F695-2B7F-309E-8FFC28F29898}"/>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28</a:t>
            </a:fld>
            <a:endParaRPr lang="en-US"/>
          </a:p>
        </p:txBody>
      </p:sp>
    </p:spTree>
    <p:extLst>
      <p:ext uri="{BB962C8B-B14F-4D97-AF65-F5344CB8AC3E}">
        <p14:creationId xmlns:p14="http://schemas.microsoft.com/office/powerpoint/2010/main" val="31841046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036AF3-12AA-E5BD-506F-2408C0B4A192}"/>
              </a:ext>
            </a:extLst>
          </p:cNvPr>
          <p:cNvSpPr>
            <a:spLocks noGrp="1"/>
          </p:cNvSpPr>
          <p:nvPr>
            <p:ph type="title"/>
          </p:nvPr>
        </p:nvSpPr>
        <p:spPr>
          <a:xfrm>
            <a:off x="429768" y="548639"/>
            <a:ext cx="4855464" cy="1453896"/>
          </a:xfrm>
        </p:spPr>
        <p:txBody>
          <a:bodyPr vert="horz" lIns="91440" tIns="45720" rIns="91440" bIns="45720" rtlCol="0" anchor="t">
            <a:normAutofit/>
          </a:bodyPr>
          <a:lstStyle/>
          <a:p>
            <a:r>
              <a:rPr lang="en-US" sz="2500" b="0" kern="1200" cap="all" baseline="0">
                <a:latin typeface="+mj-lt"/>
                <a:ea typeface="+mj-ea"/>
                <a:cs typeface="+mj-cs"/>
              </a:rPr>
              <a:t>Transformations, actions et optimisation dans Spark</a:t>
            </a:r>
          </a:p>
        </p:txBody>
      </p:sp>
      <p:pic>
        <p:nvPicPr>
          <p:cNvPr id="7" name="Espace réservé du contenu 6" descr="Les bulles de communication rouges avec espace de copie sont reliées entre elles par des flèches noires. Cette image montre les médias sociaux et la communication en ligne entre les gens.">
            <a:extLst>
              <a:ext uri="{FF2B5EF4-FFF2-40B4-BE49-F238E27FC236}">
                <a16:creationId xmlns:a16="http://schemas.microsoft.com/office/drawing/2014/main" id="{353681F6-C4FD-436E-9B38-566787081060}"/>
              </a:ext>
            </a:extLst>
          </p:cNvPr>
          <p:cNvPicPr>
            <a:picLocks noGrp="1" noChangeAspect="1"/>
          </p:cNvPicPr>
          <p:nvPr>
            <p:ph type="pic" sz="quarter" idx="15"/>
          </p:nvPr>
        </p:nvPicPr>
        <p:blipFill>
          <a:blip r:embed="rId3"/>
          <a:srcRect l="4405" r="18307" b="3"/>
          <a:stretch>
            <a:fillRect/>
          </a:stretch>
        </p:blipFill>
        <p:spPr>
          <a:xfrm>
            <a:off x="20" y="2293496"/>
            <a:ext cx="5285212" cy="4564504"/>
          </a:xfrm>
          <a:prstGeom prst="rect">
            <a:avLst/>
          </a:prstGeom>
          <a:noFill/>
        </p:spPr>
      </p:pic>
      <p:sp>
        <p:nvSpPr>
          <p:cNvPr id="8" name="ZoneTexte 7">
            <a:extLst>
              <a:ext uri="{FF2B5EF4-FFF2-40B4-BE49-F238E27FC236}">
                <a16:creationId xmlns:a16="http://schemas.microsoft.com/office/drawing/2014/main" id="{A4A02D22-ABA2-4027-B5AD-86F122E167E1}"/>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a:prstGeom prst="rect">
            <a:avLst/>
          </a:prstGeom>
        </p:spPr>
        <p:txBody>
          <a:bodyPr>
            <a:normAutofit/>
          </a:bodyPr>
          <a:lstStyle/>
          <a:p>
            <a:pPr marL="0" indent="0">
              <a:spcBef>
                <a:spcPts val="2500"/>
              </a:spcBef>
              <a:spcAft>
                <a:spcPts val="600"/>
              </a:spcAft>
              <a:buFont typeface="Arial" panose="020B0604020202020204" pitchFamily="34" charset="0"/>
              <a:buNone/>
            </a:pPr>
            <a:r>
              <a:rPr lang="fr-FR" sz="1400" b="1"/>
              <a:t>Transformations et actions Spark</a:t>
            </a:r>
          </a:p>
          <a:p>
            <a:pPr marL="0" lvl="1" indent="0">
              <a:spcBef>
                <a:spcPts val="1000"/>
              </a:spcBef>
              <a:spcAft>
                <a:spcPts val="600"/>
              </a:spcAft>
              <a:buFont typeface="Arial" panose="020B0604020202020204" pitchFamily="34" charset="0"/>
              <a:buNone/>
            </a:pPr>
            <a:r>
              <a:rPr lang="fr-FR" sz="1400"/>
              <a:t>Les transformations définissent des opérations lazy sur les RDDs, construisant un DAG d'opérations. Les actions déclenchent l'exécution du pipeline.</a:t>
            </a:r>
          </a:p>
          <a:p>
            <a:pPr marL="0" indent="0">
              <a:spcBef>
                <a:spcPts val="2500"/>
              </a:spcBef>
              <a:spcAft>
                <a:spcPts val="600"/>
              </a:spcAft>
              <a:buFont typeface="Arial" panose="020B0604020202020204" pitchFamily="34" charset="0"/>
              <a:buNone/>
            </a:pPr>
            <a:r>
              <a:rPr lang="fr-FR" sz="1400" b="1"/>
              <a:t>Optimisation avec Catalyst</a:t>
            </a:r>
          </a:p>
          <a:p>
            <a:pPr marL="0" lvl="1" indent="0">
              <a:spcBef>
                <a:spcPts val="1000"/>
              </a:spcBef>
              <a:spcAft>
                <a:spcPts val="600"/>
              </a:spcAft>
              <a:buFont typeface="Arial" panose="020B0604020202020204" pitchFamily="34" charset="0"/>
              <a:buNone/>
            </a:pPr>
            <a:r>
              <a:rPr lang="fr-FR" sz="1400"/>
              <a:t>Le moteur Catalyst analyse et optimise les requêtes, sélectionnant les meilleures stratégies d'exécution pour améliorer les performances.</a:t>
            </a:r>
          </a:p>
          <a:p>
            <a:pPr marL="0" indent="0">
              <a:spcBef>
                <a:spcPts val="2500"/>
              </a:spcBef>
              <a:spcAft>
                <a:spcPts val="600"/>
              </a:spcAft>
              <a:buFont typeface="Arial" panose="020B0604020202020204" pitchFamily="34" charset="0"/>
              <a:buNone/>
            </a:pPr>
            <a:r>
              <a:rPr lang="fr-FR" sz="1400" b="1"/>
              <a:t>Gestion mémoire Tungsten</a:t>
            </a:r>
          </a:p>
          <a:p>
            <a:pPr marL="0" lvl="1" indent="0">
              <a:spcBef>
                <a:spcPts val="1000"/>
              </a:spcBef>
              <a:spcAft>
                <a:spcPts val="600"/>
              </a:spcAft>
              <a:buFont typeface="Arial" panose="020B0604020202020204" pitchFamily="34" charset="0"/>
              <a:buNone/>
            </a:pPr>
            <a:r>
              <a:rPr lang="fr-FR" sz="1400"/>
              <a:t>Project Tungsten optimise la gestion de la mémoire pour améliorer les performances et l'utilisation efficace des ressources.</a:t>
            </a:r>
          </a:p>
          <a:p>
            <a:pPr marL="0" indent="0">
              <a:spcBef>
                <a:spcPts val="2500"/>
              </a:spcBef>
              <a:spcAft>
                <a:spcPts val="600"/>
              </a:spcAft>
              <a:buFont typeface="Arial" panose="020B0604020202020204" pitchFamily="34" charset="0"/>
              <a:buNone/>
            </a:pPr>
            <a:r>
              <a:rPr lang="fr-FR" sz="1400" b="1"/>
              <a:t>Parallélisme et shuffle</a:t>
            </a:r>
          </a:p>
          <a:p>
            <a:pPr marL="0" lvl="1" indent="0">
              <a:spcBef>
                <a:spcPts val="1000"/>
              </a:spcBef>
              <a:spcAft>
                <a:spcPts val="600"/>
              </a:spcAft>
              <a:buFont typeface="Arial" panose="020B0604020202020204" pitchFamily="34" charset="0"/>
              <a:buNone/>
            </a:pPr>
            <a:r>
              <a:rPr lang="fr-FR" sz="1400"/>
              <a:t>Les transformations supportent le parallélisme et les opérations shuffle sont optimisées pour réduire les transferts réseau.</a:t>
            </a:r>
          </a:p>
        </p:txBody>
      </p:sp>
      <p:sp>
        <p:nvSpPr>
          <p:cNvPr id="4" name="Espace réservé de la date 3">
            <a:extLst>
              <a:ext uri="{FF2B5EF4-FFF2-40B4-BE49-F238E27FC236}">
                <a16:creationId xmlns:a16="http://schemas.microsoft.com/office/drawing/2014/main" id="{A4B37EB3-0AB3-4619-D700-DD6E0AE81357}"/>
              </a:ext>
            </a:extLst>
          </p:cNvPr>
          <p:cNvSpPr>
            <a:spLocks noGrp="1"/>
          </p:cNvSpPr>
          <p:nvPr>
            <p:ph type="dt" sz="half" idx="10"/>
          </p:nvPr>
        </p:nvSpPr>
        <p:spPr>
          <a:xfrm>
            <a:off x="6096000" y="6492240"/>
            <a:ext cx="2651760" cy="338328"/>
          </a:xfrm>
        </p:spPr>
        <p:txBody>
          <a:bodyPr vert="horz" lIns="91440" tIns="45720" rIns="91440" bIns="45720" rtlCol="0" anchor="ctr">
            <a:normAutofit/>
          </a:bodyPr>
          <a:lstStyle/>
          <a:p>
            <a:pPr>
              <a:spcAft>
                <a:spcPts val="600"/>
              </a:spcAft>
            </a:pPr>
            <a:fld id="{FE21D4C7-8630-4B98-978C-30388BBD4EE8}"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DE09EE0C-B181-5DB5-4D5C-F1CD22422D49}"/>
              </a:ext>
            </a:extLst>
          </p:cNvPr>
          <p:cNvSpPr>
            <a:spLocks noGrp="1"/>
          </p:cNvSpPr>
          <p:nvPr>
            <p:ph type="ftr" sz="quarter" idx="11"/>
          </p:nvPr>
        </p:nvSpPr>
        <p:spPr>
          <a:xfrm>
            <a:off x="8893370" y="6490524"/>
            <a:ext cx="2662834" cy="336141"/>
          </a:xfrm>
        </p:spPr>
        <p:txBody>
          <a:bodyPr vert="horz" lIns="91440" tIns="45720" rIns="91440" bIns="45720" rtlCol="0" anchor="ctr">
            <a:normAutofit/>
          </a:bodyPr>
          <a:lstStyle/>
          <a:p>
            <a:pPr>
              <a:spcAft>
                <a:spcPts val="600"/>
              </a:spcAft>
            </a:pPr>
            <a:r>
              <a:rPr lang="en-US" kern="1200">
                <a:latin typeface="+mn-lt"/>
                <a:ea typeface="+mn-ea"/>
                <a:cs typeface="+mn-cs"/>
              </a:rPr>
              <a:t>Sample Footer Text</a:t>
            </a:r>
          </a:p>
        </p:txBody>
      </p:sp>
      <p:sp>
        <p:nvSpPr>
          <p:cNvPr id="6" name="Espace réservé du numéro de diapositive 5">
            <a:extLst>
              <a:ext uri="{FF2B5EF4-FFF2-40B4-BE49-F238E27FC236}">
                <a16:creationId xmlns:a16="http://schemas.microsoft.com/office/drawing/2014/main" id="{6673359D-56FC-35DE-0A1F-B76D2BA1D12E}"/>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29</a:t>
            </a:fld>
            <a:endParaRPr lang="en-US"/>
          </a:p>
        </p:txBody>
      </p:sp>
    </p:spTree>
    <p:extLst>
      <p:ext uri="{BB962C8B-B14F-4D97-AF65-F5344CB8AC3E}">
        <p14:creationId xmlns:p14="http://schemas.microsoft.com/office/powerpoint/2010/main" val="19772798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B1FA84-7D13-8876-E923-9A158D502D3E}"/>
              </a:ext>
            </a:extLst>
          </p:cNvPr>
          <p:cNvSpPr>
            <a:spLocks noGrp="1"/>
          </p:cNvSpPr>
          <p:nvPr>
            <p:ph type="title"/>
          </p:nvPr>
        </p:nvSpPr>
        <p:spPr>
          <a:xfrm>
            <a:off x="429768" y="429768"/>
            <a:ext cx="10890374" cy="1627632"/>
          </a:xfrm>
        </p:spPr>
        <p:txBody>
          <a:bodyPr anchor="t">
            <a:normAutofit/>
          </a:bodyPr>
          <a:lstStyle/>
          <a:p>
            <a:r>
              <a:rPr lang="fr-FR"/>
              <a:t>Conclusion</a:t>
            </a:r>
          </a:p>
        </p:txBody>
      </p:sp>
      <p:graphicFrame>
        <p:nvGraphicFramePr>
          <p:cNvPr id="10" name="Espace réservé du contenu 2">
            <a:extLst>
              <a:ext uri="{FF2B5EF4-FFF2-40B4-BE49-F238E27FC236}">
                <a16:creationId xmlns:a16="http://schemas.microsoft.com/office/drawing/2014/main" id="{7C3D610D-4D9E-329C-2AC1-F215D3729F5C}"/>
              </a:ext>
            </a:extLst>
          </p:cNvPr>
          <p:cNvGraphicFramePr>
            <a:graphicFrameLocks noGrp="1"/>
          </p:cNvGraphicFramePr>
          <p:nvPr>
            <p:ph sz="quarter" idx="13"/>
            <p:extLst>
              <p:ext uri="{D42A27DB-BD31-4B8C-83A1-F6EECF244321}">
                <p14:modId xmlns:p14="http://schemas.microsoft.com/office/powerpoint/2010/main" val="2328071712"/>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29768" y="3264408"/>
          <a:ext cx="10890374" cy="2834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Espace réservé de la date 3">
            <a:extLst>
              <a:ext uri="{FF2B5EF4-FFF2-40B4-BE49-F238E27FC236}">
                <a16:creationId xmlns:a16="http://schemas.microsoft.com/office/drawing/2014/main" id="{A25194F7-D679-8DAB-4011-BA8921EB07D0}"/>
              </a:ext>
            </a:extLst>
          </p:cNvPr>
          <p:cNvSpPr>
            <a:spLocks noGrp="1"/>
          </p:cNvSpPr>
          <p:nvPr>
            <p:ph type="dt" sz="half" idx="10"/>
          </p:nvPr>
        </p:nvSpPr>
        <p:spPr>
          <a:xfrm>
            <a:off x="431172" y="6490524"/>
            <a:ext cx="2841959" cy="336141"/>
          </a:xfrm>
        </p:spPr>
        <p:txBody>
          <a:bodyPr anchor="ctr">
            <a:normAutofit/>
          </a:bodyPr>
          <a:lstStyle/>
          <a:p>
            <a:pPr>
              <a:spcAft>
                <a:spcPts val="600"/>
              </a:spcAft>
            </a:pPr>
            <a:fld id="{FE21D4C7-8630-4B98-978C-30388BBD4EE8}" type="datetime1">
              <a:rPr lang="en-US" smtClean="0"/>
              <a:pPr>
                <a:spcAft>
                  <a:spcPts val="600"/>
                </a:spcAft>
              </a:pPr>
              <a:t>10/6/2025</a:t>
            </a:fld>
            <a:endParaRPr lang="en-US"/>
          </a:p>
        </p:txBody>
      </p:sp>
      <p:sp>
        <p:nvSpPr>
          <p:cNvPr id="5" name="Espace réservé du pied de page 4">
            <a:extLst>
              <a:ext uri="{FF2B5EF4-FFF2-40B4-BE49-F238E27FC236}">
                <a16:creationId xmlns:a16="http://schemas.microsoft.com/office/drawing/2014/main" id="{6BCE922B-96DC-43BF-BFC2-1E87D91EF2C5}"/>
              </a:ext>
            </a:extLst>
          </p:cNvPr>
          <p:cNvSpPr>
            <a:spLocks noGrp="1"/>
          </p:cNvSpPr>
          <p:nvPr>
            <p:ph type="ftr" sz="quarter" idx="11"/>
          </p:nvPr>
        </p:nvSpPr>
        <p:spPr>
          <a:xfrm>
            <a:off x="8893370" y="6490524"/>
            <a:ext cx="2662834" cy="336141"/>
          </a:xfrm>
        </p:spPr>
        <p:txBody>
          <a:bodyPr anchor="ctr">
            <a:normAutofit/>
          </a:bodyPr>
          <a:lstStyle/>
          <a:p>
            <a:pPr>
              <a:spcAft>
                <a:spcPts val="600"/>
              </a:spcAft>
            </a:pPr>
            <a:r>
              <a:rPr lang="en-US"/>
              <a:t>Sample Footer Text</a:t>
            </a:r>
          </a:p>
        </p:txBody>
      </p:sp>
      <p:sp>
        <p:nvSpPr>
          <p:cNvPr id="6" name="Espace réservé du numéro de diapositive 5">
            <a:extLst>
              <a:ext uri="{FF2B5EF4-FFF2-40B4-BE49-F238E27FC236}">
                <a16:creationId xmlns:a16="http://schemas.microsoft.com/office/drawing/2014/main" id="{A7849814-7DB0-75AB-D126-E45838CE79EA}"/>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30</a:t>
            </a:fld>
            <a:endParaRPr lang="en-US"/>
          </a:p>
        </p:txBody>
      </p:sp>
    </p:spTree>
    <p:extLst>
      <p:ext uri="{BB962C8B-B14F-4D97-AF65-F5344CB8AC3E}">
        <p14:creationId xmlns:p14="http://schemas.microsoft.com/office/powerpoint/2010/main" val="1011421672"/>
      </p:ext>
    </p:extLst>
  </p:cSld>
  <p:clrMapOvr>
    <a:masterClrMapping/>
  </p:clrMapOvr>
  <p:transition>
    <p:fade/>
  </p:transition>
</p:sld>
</file>

<file path=ppt/theme/theme1.xml><?xml version="1.0" encoding="utf-8"?>
<a:theme xmlns:a="http://schemas.openxmlformats.org/drawingml/2006/main" name="OasisVTI">
  <a:themeElements>
    <a:clrScheme name="Oasis">
      <a:dk1>
        <a:srgbClr val="131313"/>
      </a:dk1>
      <a:lt1>
        <a:sysClr val="window" lastClr="FFFFFF"/>
      </a:lt1>
      <a:dk2>
        <a:srgbClr val="3D3C33"/>
      </a:dk2>
      <a:lt2>
        <a:srgbClr val="F0EDE6"/>
      </a:lt2>
      <a:accent1>
        <a:srgbClr val="A57361"/>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_win32_DN_V3" id="{65F5DFDA-B6D8-4F37-85B8-E95C858FA146}" vid="{998F2FB7-179B-41D4-99FF-60A4C828B89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4356</Words>
  <Application>Microsoft Office PowerPoint</Application>
  <PresentationFormat>Grand écran</PresentationFormat>
  <Paragraphs>317</Paragraphs>
  <Slides>30</Slides>
  <Notes>30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30</vt:i4>
      </vt:variant>
    </vt:vector>
  </HeadingPairs>
  <TitlesOfParts>
    <vt:vector size="34" baseType="lpstr">
      <vt:lpstr>Aptos</vt:lpstr>
      <vt:lpstr>Arial</vt:lpstr>
      <vt:lpstr>Neue Haas Grotesk Text Pro</vt:lpstr>
      <vt:lpstr>OasisVTI</vt:lpstr>
      <vt:lpstr>Présentation sur le Traitement Distribué : Concepts, Principes et Frameworks</vt:lpstr>
      <vt:lpstr>Plan de la Présentation</vt:lpstr>
      <vt:lpstr>Concepts fondamentaux du traitement distribué</vt:lpstr>
      <vt:lpstr>Définition et principes de base du traitement distribué</vt:lpstr>
      <vt:lpstr>Distribution des ressources : répartition, résilience et mise à l'échelle</vt:lpstr>
      <vt:lpstr>Parallélisme et synchronisation dans les systèmes distribués</vt:lpstr>
      <vt:lpstr>Mécanismes de synchronisation et coordination, outils et frameworks</vt:lpstr>
      <vt:lpstr>Scalabilité dans les systèmes distribués</vt:lpstr>
      <vt:lpstr>Définition, types et importance de la scalabilité</vt:lpstr>
      <vt:lpstr>Architecture modulaire, auto-scaling et optimisation des ressources</vt:lpstr>
      <vt:lpstr>Tolérance aux pannes et gestion des défaillances</vt:lpstr>
      <vt:lpstr>Principes de la tolérance aux pannes et continuité de service</vt:lpstr>
      <vt:lpstr>Stratégies de redondance et failover automatique</vt:lpstr>
      <vt:lpstr>Monitoring, logging et restauration de l’état</vt:lpstr>
      <vt:lpstr>Principes et enjeux de la programmation distribuée</vt:lpstr>
      <vt:lpstr>Principes fondamentaux de la programmation distribuée</vt:lpstr>
      <vt:lpstr>Communication, synchronisation et cohérence des données</vt:lpstr>
      <vt:lpstr>Traitement des données : batch vs streaming et frameworks associés</vt:lpstr>
      <vt:lpstr>Traitement par lots et en temps réel : définitions et fonctionnement</vt:lpstr>
      <vt:lpstr>Avantages et évolutions des frameworks de traitement distribué</vt:lpstr>
      <vt:lpstr>Présentation des principaux frameworks de traitement distribué</vt:lpstr>
      <vt:lpstr>Apache Spark : caractéristiques, architecture et intégration</vt:lpstr>
      <vt:lpstr>Apache Storm : streaming natif, performance et intégration</vt:lpstr>
      <vt:lpstr>Apache Flink : streaming, batch processing et connecteurs</vt:lpstr>
      <vt:lpstr>Architecture et fonctionnement de Spark</vt:lpstr>
      <vt:lpstr>Traitement et calcul distribué : principes et défis</vt:lpstr>
      <vt:lpstr>Écosystème Spark : bibliothèques et APIs</vt:lpstr>
      <vt:lpstr>Structure du cluster et communication</vt:lpstr>
      <vt:lpstr>Transformations, actions et optimisation dans Spark</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BOULANGER, Thierry</dc:creator>
  <cp:lastModifiedBy>BOULANGER, Thierry</cp:lastModifiedBy>
  <cp:revision>1</cp:revision>
  <dcterms:created xsi:type="dcterms:W3CDTF">2025-10-06T08:06:33Z</dcterms:created>
  <dcterms:modified xsi:type="dcterms:W3CDTF">2025-10-06T08:17:50Z</dcterms:modified>
</cp:coreProperties>
</file>